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1" r:id="rId1"/>
    <p:sldMasterId id="2147483910" r:id="rId2"/>
  </p:sldMasterIdLst>
  <p:notesMasterIdLst>
    <p:notesMasterId r:id="rId9"/>
  </p:notesMasterIdLst>
  <p:sldIdLst>
    <p:sldId id="256" r:id="rId3"/>
    <p:sldId id="3181" r:id="rId4"/>
    <p:sldId id="257" r:id="rId5"/>
    <p:sldId id="258" r:id="rId6"/>
    <p:sldId id="3179" r:id="rId7"/>
    <p:sldId id="3182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Merriweather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3" roundtripDataSignature="AMtx7mjELHQv8r+JXFb046ZyOKJKcUo2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 Croteau" initials="MC" lastIdx="1" clrIdx="0">
    <p:extLst>
      <p:ext uri="{19B8F6BF-5375-455C-9EA6-DF929625EA0E}">
        <p15:presenceInfo xmlns:p15="http://schemas.microsoft.com/office/powerpoint/2012/main" userId="Martin Crote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E8ECDD"/>
    <a:srgbClr val="C3B38A"/>
    <a:srgbClr val="C2B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B78B07-7E3E-4867-8256-D9A8D3D706B1}">
  <a:tblStyle styleId="{D9B78B07-7E3E-4867-8256-D9A8D3D706B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05" autoAdjust="0"/>
    <p:restoredTop sz="96247" autoAdjust="0"/>
  </p:normalViewPr>
  <p:slideViewPr>
    <p:cSldViewPr snapToGrid="0">
      <p:cViewPr varScale="1">
        <p:scale>
          <a:sx n="75" d="100"/>
          <a:sy n="75" d="100"/>
        </p:scale>
        <p:origin x="2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" Type="http://schemas.openxmlformats.org/officeDocument/2006/relationships/slide" Target="slides/slide1.xml"/><Relationship Id="rId10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03" Type="http://customschemas.google.com/relationships/presentationmetadata" Target="metadata"/><Relationship Id="rId10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10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106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10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8" name="Google Shape;6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16fc68396f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16fc68396f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3451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93f0f2ad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1f93f0f2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rgbClr val="F5F8F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238f739052a_0_1581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38f739052a_0_1581"/>
          <p:cNvSpPr txBox="1">
            <a:spLocks noGrp="1"/>
          </p:cNvSpPr>
          <p:nvPr>
            <p:ph type="body" idx="1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g238f739052a_0_1581"/>
          <p:cNvSpPr txBox="1">
            <a:spLocks noGrp="1"/>
          </p:cNvSpPr>
          <p:nvPr>
            <p:ph type="subTitle" idx="2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9" name="Google Shape;209;g238f739052a_0_1581"/>
          <p:cNvSpPr txBox="1">
            <a:spLocks noGrp="1"/>
          </p:cNvSpPr>
          <p:nvPr>
            <p:ph type="body" idx="3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g238f739052a_0_1581"/>
          <p:cNvSpPr txBox="1">
            <a:spLocks noGrp="1"/>
          </p:cNvSpPr>
          <p:nvPr>
            <p:ph type="body" idx="4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g238f739052a_0_1581"/>
          <p:cNvSpPr txBox="1">
            <a:spLocks noGrp="1"/>
          </p:cNvSpPr>
          <p:nvPr>
            <p:ph type="body" idx="5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2" name="Google Shape;212;g238f739052a_0_158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4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Slide">
  <p:cSld name="Impact Statement Slide">
    <p:bg>
      <p:bgPr>
        <a:solidFill>
          <a:srgbClr val="3E3E3E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38f739052a_0_1593"/>
          <p:cNvSpPr txBox="1">
            <a:spLocks noGrp="1"/>
          </p:cNvSpPr>
          <p:nvPr>
            <p:ph type="subTitle" idx="1"/>
          </p:nvPr>
        </p:nvSpPr>
        <p:spPr>
          <a:xfrm>
            <a:off x="6339236" y="2369395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19" name="Google Shape;219;g238f739052a_0_1593" descr="Logo, 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056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238f739052a_0_15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31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Slide_3">
  <p:cSld name="Impact Statement Slide_3">
    <p:bg>
      <p:bgPr>
        <a:solidFill>
          <a:srgbClr val="F5F8F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38f739052a_0_1597"/>
          <p:cNvSpPr txBox="1">
            <a:spLocks noGrp="1"/>
          </p:cNvSpPr>
          <p:nvPr>
            <p:ph type="subTitle" idx="1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sz="3600" b="1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3" name="Google Shape;223;g238f739052a_0_15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566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5F8FA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38f739052a_0_1600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g238f739052a_0_1600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27" name="Google Shape;227;g238f739052a_0_1600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8" name="Google Shape;228;g238f739052a_0_1600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070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>
  <p:cSld name="Image and content">
    <p:bg>
      <p:bgPr>
        <a:solidFill>
          <a:srgbClr val="F5F8F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38f739052a_0_1605"/>
          <p:cNvSpPr txBox="1">
            <a:spLocks noGrp="1"/>
          </p:cNvSpPr>
          <p:nvPr>
            <p:ph type="body" idx="1"/>
          </p:nvPr>
        </p:nvSpPr>
        <p:spPr>
          <a:xfrm>
            <a:off x="1007391" y="2076773"/>
            <a:ext cx="44481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g238f739052a_0_1605"/>
          <p:cNvSpPr txBox="1">
            <a:spLocks noGrp="1"/>
          </p:cNvSpPr>
          <p:nvPr>
            <p:ph type="subTitle" idx="2"/>
          </p:nvPr>
        </p:nvSpPr>
        <p:spPr>
          <a:xfrm>
            <a:off x="1007391" y="1083370"/>
            <a:ext cx="44481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2" name="Google Shape;232;g238f739052a_0_1605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3" name="Google Shape;233;g238f739052a_0_1605"/>
          <p:cNvSpPr>
            <a:spLocks noGrp="1"/>
          </p:cNvSpPr>
          <p:nvPr>
            <p:ph type="clipArt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4" name="Google Shape;234;g238f739052a_0_1605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176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">
  <p:cSld name="Columns">
    <p:bg>
      <p:bgPr>
        <a:solidFill>
          <a:srgbClr val="F5F8F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38f739052a_0_1611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g238f739052a_0_1611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8" name="Google Shape;238;g238f739052a_0_1611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9" name="Google Shape;239;g238f739052a_0_1611"/>
          <p:cNvSpPr txBox="1">
            <a:spLocks noGrp="1"/>
          </p:cNvSpPr>
          <p:nvPr>
            <p:ph type="body" idx="3"/>
          </p:nvPr>
        </p:nvSpPr>
        <p:spPr>
          <a:xfrm>
            <a:off x="5811865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0" name="Google Shape;240;g238f739052a_0_1611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57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 Slide 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38f739052a_0_16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g238f739052a_0_16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0" name="Google Shape;250;g238f739052a_0_16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g238f739052a_0_16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g238f739052a_0_16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604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38f739052a_0_16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g238f739052a_0_16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g238f739052a_0_16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593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3E3E3E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5"/>
          <p:cNvCxnSpPr/>
          <p:nvPr/>
        </p:nvCxnSpPr>
        <p:spPr>
          <a:xfrm rot="10800000">
            <a:off x="530816" y="5904855"/>
            <a:ext cx="4196167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546314" y="3721641"/>
            <a:ext cx="6197599" cy="7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2"/>
          </p:nvPr>
        </p:nvSpPr>
        <p:spPr>
          <a:xfrm>
            <a:off x="10380125" y="5455402"/>
            <a:ext cx="1571625" cy="3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p15" descr="Logo, 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5" descr="Logo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154" y="2102102"/>
            <a:ext cx="1954476" cy="11710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353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38f739052a_0_15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1" name="Google Shape;201;g238f739052a_0_157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2" name="Google Shape;202;g238f739052a_0_15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3" name="Google Shape;203;g238f739052a_0_15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4" name="Google Shape;204;g238f739052a_0_15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81085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2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800" r:id="rId7"/>
    <p:sldLayoutId id="2147483801" r:id="rId8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71303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11" r:id="rId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"/>
          <p:cNvSpPr txBox="1">
            <a:spLocks noGrp="1"/>
          </p:cNvSpPr>
          <p:nvPr>
            <p:ph type="subTitle" idx="1"/>
          </p:nvPr>
        </p:nvSpPr>
        <p:spPr>
          <a:xfrm>
            <a:off x="546314" y="3721641"/>
            <a:ext cx="6197599" cy="78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CA" b="1" dirty="0"/>
              <a:t>Mid Program Report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1600" i="1" dirty="0"/>
              <a:t>[ADD EL NAME]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7"/>
          <p:cNvCxnSpPr/>
          <p:nvPr/>
        </p:nvCxnSpPr>
        <p:spPr>
          <a:xfrm>
            <a:off x="6096000" y="858400"/>
            <a:ext cx="0" cy="45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62845D-5B38-5F74-3430-331C800E402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528391" y="2076773"/>
            <a:ext cx="5029403" cy="3425100"/>
          </a:xfrm>
        </p:spPr>
        <p:txBody>
          <a:bodyPr>
            <a:noAutofit/>
          </a:bodyPr>
          <a:lstStyle/>
          <a:p>
            <a:pPr marL="88900" indent="0">
              <a:lnSpc>
                <a:spcPct val="100000"/>
              </a:lnSpc>
              <a:buNone/>
            </a:pPr>
            <a:r>
              <a:rPr lang="en-US" sz="1800" dirty="0"/>
              <a:t>After (X) # of interviews, I have refined my value proposition as follows: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[Insert current value proposition statement]</a:t>
            </a:r>
            <a:endParaRPr lang="en-CA" sz="1600"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ctrTitle" idx="4294967295"/>
          </p:nvPr>
        </p:nvSpPr>
        <p:spPr>
          <a:xfrm>
            <a:off x="340243" y="582871"/>
            <a:ext cx="5422604" cy="132556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ctr"/>
            <a:r>
              <a:rPr lang="en-CA" sz="2800" b="1" dirty="0">
                <a:solidFill>
                  <a:srgbClr val="C2B38A"/>
                </a:solidFill>
                <a:latin typeface="+mj-lt"/>
              </a:rPr>
              <a:t>Original Idea</a:t>
            </a:r>
            <a:endParaRPr sz="2800" b="1" dirty="0">
              <a:solidFill>
                <a:srgbClr val="C2B38A"/>
              </a:solidFill>
              <a:latin typeface="+mj-lt"/>
            </a:endParaRPr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4294967295"/>
          </p:nvPr>
        </p:nvSpPr>
        <p:spPr>
          <a:xfrm>
            <a:off x="6429154" y="577445"/>
            <a:ext cx="5422599" cy="1325562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CA" sz="2800" b="1" dirty="0">
                <a:solidFill>
                  <a:srgbClr val="C2B38A"/>
                </a:solidFill>
                <a:latin typeface="+mj-lt"/>
              </a:rPr>
              <a:t>Current Value Proposition</a:t>
            </a:r>
            <a:endParaRPr sz="2800" b="1" dirty="0">
              <a:solidFill>
                <a:srgbClr val="C2B38A"/>
              </a:solidFill>
              <a:latin typeface="+mj-lt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04C3A30D-7AFD-BCF9-7F38-D2578C662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76450"/>
            <a:ext cx="4432300" cy="3425825"/>
          </a:xfrm>
        </p:spPr>
        <p:txBody>
          <a:bodyPr>
            <a:noAutofit/>
          </a:bodyPr>
          <a:lstStyle/>
          <a:p>
            <a:pPr marL="88900" indent="0">
              <a:lnSpc>
                <a:spcPct val="100000"/>
              </a:lnSpc>
              <a:buNone/>
            </a:pPr>
            <a:r>
              <a:rPr lang="en-US" sz="1800" dirty="0"/>
              <a:t>When I look back at the beginning of the program my business thesis looked like…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provide [type of person/organization]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with a [what solution]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to [help them do what]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so that [what benefit]</a:t>
            </a:r>
          </a:p>
        </p:txBody>
      </p:sp>
    </p:spTree>
    <p:extLst>
      <p:ext uri="{BB962C8B-B14F-4D97-AF65-F5344CB8AC3E}">
        <p14:creationId xmlns:p14="http://schemas.microsoft.com/office/powerpoint/2010/main" val="85992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93f0f2ad1_0_0"/>
          <p:cNvSpPr txBox="1"/>
          <p:nvPr/>
        </p:nvSpPr>
        <p:spPr>
          <a:xfrm>
            <a:off x="855300" y="1493325"/>
            <a:ext cx="10481400" cy="497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CA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Based on interviews thus far, my top 1-3 customer segments appear to be: </a:t>
            </a:r>
            <a:r>
              <a:rPr kumimoji="0" lang="en-CA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*you do not need to fill all 3.</a:t>
            </a:r>
            <a:endParaRPr kumimoji="0" sz="1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CA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My early adopter(s) appear to be these organizations/people: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CA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*you do not need to fill all 3. Provide the early adopter for each of your indicated customer segments.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CA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My customers’ main problem(s) and severity are: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erriweather"/>
              <a:buAutoNum type="arabicPeriod"/>
              <a:tabLst/>
              <a:defRPr/>
            </a:pPr>
            <a:r>
              <a:rPr kumimoji="0" lang="en-CA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Insert Problem A (</a:t>
            </a:r>
            <a:r>
              <a:rPr kumimoji="0" lang="en-CA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None | Low | Medium | High)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erriweather"/>
              <a:buAutoNum type="arabicPeriod"/>
              <a:tabLst/>
              <a:defRPr/>
            </a:pPr>
            <a:r>
              <a:rPr kumimoji="0" lang="en-CA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Insert Problem B (</a:t>
            </a:r>
            <a:r>
              <a:rPr kumimoji="0" lang="en-CA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None | Low | Medium | High)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457200" marR="0" lvl="0" indent="-387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erriweather"/>
              <a:buAutoNum type="arabicPeriod"/>
              <a:tabLst/>
              <a:defRPr/>
            </a:pPr>
            <a:r>
              <a:rPr kumimoji="0" lang="en-CA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Insert Problem C (</a:t>
            </a:r>
            <a:r>
              <a:rPr kumimoji="0" lang="en-CA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None | Low | Medium | High)</a:t>
            </a:r>
            <a:endParaRPr kumimoji="0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  <a:p>
            <a:pPr marL="1828800" marR="0" lvl="0" indent="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en-CA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Please bold or highlight the level of pain severity in the </a:t>
            </a:r>
            <a:r>
              <a:rPr kumimoji="0" lang="en-CA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likert</a:t>
            </a:r>
            <a:r>
              <a:rPr kumimoji="0" lang="en-CA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 scale.</a:t>
            </a:r>
            <a:endParaRPr kumimoji="0" sz="1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05" name="Google Shape;105;g1f93f0f2ad1_0_0"/>
          <p:cNvGraphicFramePr/>
          <p:nvPr/>
        </p:nvGraphicFramePr>
        <p:xfrm>
          <a:off x="974650" y="2453900"/>
          <a:ext cx="10287000" cy="3962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CA" sz="1400" u="none" strike="noStrike" cap="none"/>
                        <a:t>Insert Customer Segment 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CA" sz="1400" u="none" strike="noStrike" cap="none">
                          <a:solidFill>
                            <a:schemeClr val="dk1"/>
                          </a:solidFill>
                        </a:rPr>
                        <a:t>Insert Customer Segment 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CA" sz="1400" u="none" strike="noStrike" cap="none">
                          <a:solidFill>
                            <a:schemeClr val="dk1"/>
                          </a:solidFill>
                        </a:rPr>
                        <a:t>Insert Customer Segment 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" name="Google Shape;106;g1f93f0f2ad1_0_0"/>
          <p:cNvGraphicFramePr/>
          <p:nvPr/>
        </p:nvGraphicFramePr>
        <p:xfrm>
          <a:off x="974650" y="3719525"/>
          <a:ext cx="10287000" cy="3962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CA" sz="1400" u="none" strike="noStrike" cap="none"/>
                        <a:t>Insert Early Adopter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CA" sz="1400" u="none" strike="noStrike" cap="none">
                          <a:solidFill>
                            <a:schemeClr val="dk1"/>
                          </a:solidFill>
                        </a:rPr>
                        <a:t>Insert Early Adopter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CA" sz="1400" u="none" strike="noStrike" cap="none">
                          <a:solidFill>
                            <a:schemeClr val="dk1"/>
                          </a:solidFill>
                        </a:rPr>
                        <a:t>Insert Early Adopter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A306C04B-6E91-DA94-2B7E-CD7C1A941CC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64784" y="598172"/>
            <a:ext cx="9237000" cy="528600"/>
          </a:xfrm>
        </p:spPr>
        <p:txBody>
          <a:bodyPr/>
          <a:lstStyle/>
          <a:p>
            <a:r>
              <a:rPr lang="en-CA" dirty="0"/>
              <a:t>CUSTOMER 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/>
        </p:nvSpPr>
        <p:spPr>
          <a:xfrm>
            <a:off x="1424188" y="6174590"/>
            <a:ext cx="936198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400"/>
            </a:pPr>
            <a:r>
              <a:rPr lang="en-CA" dirty="0">
                <a:latin typeface="+mj-lt"/>
                <a:ea typeface="Merriweather"/>
                <a:cs typeface="Merriweather"/>
                <a:sym typeface="Merriweather"/>
              </a:rPr>
              <a:t>Using the box above, illustrate your customer’s buying process and the s</a:t>
            </a:r>
            <a:r>
              <a:rPr kumimoji="0" lang="en-CA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takeholders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erriweather"/>
                <a:cs typeface="Merriweather"/>
                <a:sym typeface="Merriweather"/>
              </a:rPr>
              <a:t> involved in the decision-making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Merriweather"/>
              <a:cs typeface="Merriweather"/>
              <a:sym typeface="Merriweather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2BB41-DCEC-B018-F5E8-741BC1A1004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07390" y="504868"/>
            <a:ext cx="9237000" cy="528600"/>
          </a:xfrm>
        </p:spPr>
        <p:txBody>
          <a:bodyPr/>
          <a:lstStyle/>
          <a:p>
            <a:r>
              <a:rPr lang="en-CA" dirty="0"/>
              <a:t>PURCHASING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FAF72-526F-0A3A-F5EB-FDCACDE0BDD8}"/>
              </a:ext>
            </a:extLst>
          </p:cNvPr>
          <p:cNvSpPr/>
          <p:nvPr/>
        </p:nvSpPr>
        <p:spPr>
          <a:xfrm>
            <a:off x="737118" y="1240970"/>
            <a:ext cx="10730204" cy="4851919"/>
          </a:xfrm>
          <a:prstGeom prst="rect">
            <a:avLst/>
          </a:prstGeom>
          <a:solidFill>
            <a:schemeClr val="tx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9"/>
          <p:cNvGraphicFramePr/>
          <p:nvPr>
            <p:extLst>
              <p:ext uri="{D42A27DB-BD31-4B8C-83A1-F6EECF244321}">
                <p14:modId xmlns:p14="http://schemas.microsoft.com/office/powerpoint/2010/main" val="4252264901"/>
              </p:ext>
            </p:extLst>
          </p:nvPr>
        </p:nvGraphicFramePr>
        <p:xfrm>
          <a:off x="705625" y="1874208"/>
          <a:ext cx="10512775" cy="37470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63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CA" sz="2800" b="1" u="none" strike="noStrike" cap="none" dirty="0">
                          <a:solidFill>
                            <a:srgbClr val="F6F6F6"/>
                          </a:solidFill>
                          <a:latin typeface="+mj-lt"/>
                          <a:ea typeface="Merriweather"/>
                          <a:cs typeface="Merriweather"/>
                          <a:sym typeface="Merriweather"/>
                        </a:rPr>
                        <a:t>Validate Hypotheses</a:t>
                      </a:r>
                    </a:p>
                  </a:txBody>
                  <a:tcPr marL="91425" marR="91425" marT="91425" marB="91425" anchor="ctr"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500"/>
                        <a:buFont typeface="Arial"/>
                        <a:buNone/>
                      </a:pPr>
                      <a:r>
                        <a:rPr lang="en-CA" sz="2800" b="1" u="none" strike="noStrike" cap="none" dirty="0">
                          <a:solidFill>
                            <a:srgbClr val="F6F6F6"/>
                          </a:solidFill>
                          <a:latin typeface="+mj-lt"/>
                          <a:ea typeface="Montserrat Black"/>
                          <a:cs typeface="Montserrat Black"/>
                          <a:sym typeface="Montserrat Black"/>
                        </a:rPr>
                        <a:t>Invalidated Hypotheses</a:t>
                      </a:r>
                      <a:endParaRPr lang="en-CA" sz="2800" b="1" u="none" strike="noStrike" cap="none" dirty="0">
                        <a:solidFill>
                          <a:srgbClr val="F6F6F6"/>
                        </a:solidFill>
                        <a:latin typeface="+mj-lt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 anchor="ctr"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500"/>
                        <a:buFont typeface="Arial"/>
                        <a:buNone/>
                      </a:pPr>
                      <a:r>
                        <a:rPr lang="en-CA" sz="2800" b="1" u="none" strike="noStrike" cap="none" dirty="0">
                          <a:solidFill>
                            <a:srgbClr val="F6F6F6"/>
                          </a:solidFill>
                          <a:latin typeface="+mj-lt"/>
                          <a:ea typeface="Montserrat Black"/>
                          <a:cs typeface="Montserrat Black"/>
                          <a:sym typeface="Montserrat Black"/>
                        </a:rPr>
                        <a:t>Hypotheses To      Be Tested</a:t>
                      </a:r>
                    </a:p>
                  </a:txBody>
                  <a:tcPr marL="91425" marR="91425" marT="91425" marB="91425" anchor="ctr">
                    <a:solidFill>
                      <a:srgbClr val="C3B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0800"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erriweather"/>
                        <a:buChar char="●"/>
                      </a:pPr>
                      <a:r>
                        <a:rPr lang="en-CA" sz="1400" u="none" strike="noStrike" cap="none" dirty="0">
                          <a:latin typeface="+mj-lt"/>
                          <a:ea typeface="Merriweather"/>
                          <a:cs typeface="Merriweather"/>
                          <a:sym typeface="Merriweather"/>
                        </a:rPr>
                        <a:t>Type here</a:t>
                      </a:r>
                      <a:endParaRPr sz="1400" u="none" strike="noStrike" cap="none" dirty="0">
                        <a:latin typeface="+mj-lt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erriweather"/>
                        <a:buChar char="●"/>
                      </a:pPr>
                      <a:r>
                        <a:rPr lang="en-CA" sz="140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Merriweather"/>
                          <a:cs typeface="Merriweather"/>
                          <a:sym typeface="Merriweather"/>
                        </a:rPr>
                        <a:t>Type here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+mj-lt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latin typeface="+mj-lt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erriweather"/>
                        <a:buChar char="●"/>
                      </a:pPr>
                      <a:r>
                        <a:rPr lang="en-CA" sz="140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Merriweather"/>
                          <a:cs typeface="Merriweather"/>
                          <a:sym typeface="Merriweather"/>
                        </a:rPr>
                        <a:t>Discuss your blind spots</a:t>
                      </a:r>
                      <a:endParaRPr sz="1400" u="none" strike="noStrike" cap="none" dirty="0">
                        <a:latin typeface="+mj-lt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2A49662B-ECB4-626C-CF31-CBAEE7DD599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07390" y="971398"/>
            <a:ext cx="9237000" cy="528600"/>
          </a:xfrm>
        </p:spPr>
        <p:txBody>
          <a:bodyPr/>
          <a:lstStyle/>
          <a:p>
            <a:r>
              <a:rPr lang="en-CA" dirty="0"/>
              <a:t>HYPOTHESIS TESTING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1F53D-673A-CD4C-2157-EAFEDB3C3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390" y="1595536"/>
            <a:ext cx="9237000" cy="4083620"/>
          </a:xfrm>
        </p:spPr>
        <p:txBody>
          <a:bodyPr>
            <a:noAutofit/>
          </a:bodyPr>
          <a:lstStyle/>
          <a:p>
            <a:pPr marL="889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Challenges I’ve overcome: 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C3B38A"/>
              </a:buClr>
              <a:buSzPct val="100000"/>
            </a:pPr>
            <a:r>
              <a:rPr lang="en-US" sz="1600" dirty="0"/>
              <a:t>type here</a:t>
            </a:r>
          </a:p>
          <a:p>
            <a:pPr marL="8890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/>
              <a:t>Biggest ‘AHA’ moment: 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C2B38A"/>
              </a:buClr>
              <a:buSzPct val="100000"/>
            </a:pPr>
            <a:r>
              <a:rPr lang="en-US" sz="1600" dirty="0"/>
              <a:t>type here </a:t>
            </a:r>
          </a:p>
          <a:p>
            <a:pPr marL="8890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/>
              <a:t>My biggest achievement: 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C2B38A"/>
              </a:buClr>
              <a:buSzPct val="100000"/>
            </a:pPr>
            <a:r>
              <a:rPr lang="en-US" sz="1600" dirty="0"/>
              <a:t>type here </a:t>
            </a:r>
          </a:p>
          <a:p>
            <a:pPr marL="8890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/>
              <a:t>What I still need to overcome: 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C2B38A"/>
              </a:buClr>
              <a:buSzPct val="100000"/>
            </a:pPr>
            <a:r>
              <a:rPr lang="en-US" sz="1600" dirty="0"/>
              <a:t>type here</a:t>
            </a:r>
          </a:p>
          <a:p>
            <a:pPr marL="8890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/>
              <a:t>What I still need to improve on: 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C2B38A"/>
              </a:buClr>
              <a:buSzPct val="100000"/>
            </a:pPr>
            <a:r>
              <a:rPr lang="en-US" sz="1600" dirty="0"/>
              <a:t>type here</a:t>
            </a:r>
            <a:endParaRPr lang="en-CA" sz="1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42D2A61-8A5E-DED5-1D76-AC5A65B64DD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07390" y="682152"/>
            <a:ext cx="9237000" cy="528600"/>
          </a:xfrm>
        </p:spPr>
        <p:txBody>
          <a:bodyPr/>
          <a:lstStyle/>
          <a:p>
            <a:r>
              <a:rPr lang="en-CA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3194911411"/>
      </p:ext>
    </p:extLst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5455</TotalTime>
  <Words>304</Words>
  <Application>Microsoft Office PowerPoint</Application>
  <PresentationFormat>Widescreen</PresentationFormat>
  <Paragraphs>48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Merriweather</vt:lpstr>
      <vt:lpstr>11_Office Theme</vt:lpstr>
      <vt:lpstr>3_Office Theme</vt:lpstr>
      <vt:lpstr>PowerPoint Presentation</vt:lpstr>
      <vt:lpstr>Original Idea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 Sol (Grace) Lee</dc:creator>
  <cp:lastModifiedBy>Martin Croteau</cp:lastModifiedBy>
  <cp:revision>257</cp:revision>
  <dcterms:created xsi:type="dcterms:W3CDTF">2021-01-11T22:00:44Z</dcterms:created>
  <dcterms:modified xsi:type="dcterms:W3CDTF">2023-08-14T17:12:27Z</dcterms:modified>
</cp:coreProperties>
</file>