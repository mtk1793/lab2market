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91" r:id="rId1"/>
    <p:sldMasterId id="2147483826" r:id="rId2"/>
    <p:sldMasterId id="2147483855" r:id="rId3"/>
    <p:sldMasterId id="2147483870" r:id="rId4"/>
  </p:sldMasterIdLst>
  <p:notesMasterIdLst>
    <p:notesMasterId r:id="rId17"/>
  </p:notesMasterIdLst>
  <p:sldIdLst>
    <p:sldId id="3131" r:id="rId5"/>
    <p:sldId id="3132" r:id="rId6"/>
    <p:sldId id="261" r:id="rId7"/>
    <p:sldId id="3180" r:id="rId8"/>
    <p:sldId id="259" r:id="rId9"/>
    <p:sldId id="260" r:id="rId10"/>
    <p:sldId id="263" r:id="rId11"/>
    <p:sldId id="264" r:id="rId12"/>
    <p:sldId id="3133" r:id="rId13"/>
    <p:sldId id="3134" r:id="rId14"/>
    <p:sldId id="262" r:id="rId15"/>
    <p:sldId id="3135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veat" panose="020B0604020202020204" charset="0"/>
      <p:regular r:id="rId22"/>
      <p:bold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Light" panose="02000000000000000000" pitchFamily="2" charset="0"/>
      <p:regular r:id="rId28"/>
      <p:italic r:id="rId29"/>
    </p:embeddedFont>
    <p:embeddedFont>
      <p:font typeface="Roboto Medium" panose="02000000000000000000" pitchFamily="2" charset="0"/>
      <p:regular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3" roundtripDataSignature="AMtx7mjELHQv8r+JXFb046ZyOKJKcUo2G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in Croteau" initials="MC" lastIdx="1" clrIdx="0">
    <p:extLst>
      <p:ext uri="{19B8F6BF-5375-455C-9EA6-DF929625EA0E}">
        <p15:presenceInfo xmlns:p15="http://schemas.microsoft.com/office/powerpoint/2012/main" userId="Martin Crote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B38A"/>
    <a:srgbClr val="F6F6F6"/>
    <a:srgbClr val="C2B38A"/>
    <a:srgbClr val="E8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B78B07-7E3E-4867-8256-D9A8D3D706B1}">
  <a:tblStyle styleId="{D9B78B07-7E3E-4867-8256-D9A8D3D706B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05" autoAdjust="0"/>
    <p:restoredTop sz="96247" autoAdjust="0"/>
  </p:normalViewPr>
  <p:slideViewPr>
    <p:cSldViewPr snapToGrid="0">
      <p:cViewPr varScale="1">
        <p:scale>
          <a:sx n="75" d="100"/>
          <a:sy n="75" d="100"/>
        </p:scale>
        <p:origin x="40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10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103" Type="http://customschemas.google.com/relationships/presentationmetadata" Target="metadata"/><Relationship Id="rId10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0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10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-8v_RgwGe0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0e4d49498c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0e4d49498c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16fc68396f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16fc68396f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0541dd4c41_0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0541dd4c41_0_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dddba0ddf6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g1dddba0ddf6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dddba0ddf6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dddba0ddf6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="1" dirty="0"/>
              <a:t>Watch the video that inspired this example: </a:t>
            </a:r>
            <a:r>
              <a:rPr lang="en-CA" b="1" u="sng" dirty="0">
                <a:solidFill>
                  <a:schemeClr val="hlink"/>
                </a:solidFill>
                <a:hlinkClick r:id="rId3"/>
              </a:rPr>
              <a:t>https://www.youtube.com/watch?v=f-8v_RgwGe0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dde728ed5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dde728ed5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dddba0ddf6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g1dddba0ddf6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8430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1630afe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211630afef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g211630afef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CA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0541dd4c41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20541dd4c4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rgbClr val="F5F8F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238f739052a_0_1581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7428" y="1735734"/>
            <a:ext cx="11722136" cy="391519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238f739052a_0_1581"/>
          <p:cNvSpPr txBox="1">
            <a:spLocks noGrp="1"/>
          </p:cNvSpPr>
          <p:nvPr>
            <p:ph type="body" idx="1"/>
          </p:nvPr>
        </p:nvSpPr>
        <p:spPr>
          <a:xfrm>
            <a:off x="3505199" y="2294503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g238f739052a_0_1581"/>
          <p:cNvSpPr txBox="1">
            <a:spLocks noGrp="1"/>
          </p:cNvSpPr>
          <p:nvPr>
            <p:ph type="subTitle" idx="2"/>
          </p:nvPr>
        </p:nvSpPr>
        <p:spPr>
          <a:xfrm>
            <a:off x="3505199" y="1404129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9" name="Google Shape;209;g238f739052a_0_1581"/>
          <p:cNvSpPr txBox="1">
            <a:spLocks noGrp="1"/>
          </p:cNvSpPr>
          <p:nvPr>
            <p:ph type="body" idx="3"/>
          </p:nvPr>
        </p:nvSpPr>
        <p:spPr>
          <a:xfrm>
            <a:off x="3505199" y="316466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g238f739052a_0_1581"/>
          <p:cNvSpPr txBox="1">
            <a:spLocks noGrp="1"/>
          </p:cNvSpPr>
          <p:nvPr>
            <p:ph type="body" idx="4"/>
          </p:nvPr>
        </p:nvSpPr>
        <p:spPr>
          <a:xfrm>
            <a:off x="3505199" y="4028596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g238f739052a_0_1581"/>
          <p:cNvSpPr txBox="1">
            <a:spLocks noGrp="1"/>
          </p:cNvSpPr>
          <p:nvPr>
            <p:ph type="body" idx="5"/>
          </p:nvPr>
        </p:nvSpPr>
        <p:spPr>
          <a:xfrm>
            <a:off x="3505199" y="4892524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2" name="Google Shape;212;g238f739052a_0_158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949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Statement Slide">
  <p:cSld name="Impact Statement Slide">
    <p:bg>
      <p:bgPr>
        <a:solidFill>
          <a:srgbClr val="3E3E3E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38f739052a_0_1593"/>
          <p:cNvSpPr txBox="1">
            <a:spLocks noGrp="1"/>
          </p:cNvSpPr>
          <p:nvPr>
            <p:ph type="subTitle" idx="1"/>
          </p:nvPr>
        </p:nvSpPr>
        <p:spPr>
          <a:xfrm>
            <a:off x="6339236" y="2369395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19" name="Google Shape;219;g238f739052a_0_1593" descr="Logo, 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3056" y="6291264"/>
            <a:ext cx="899319" cy="366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238f739052a_0_15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31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Statement Slide_3">
  <p:cSld name="Impact Statement Slide_3">
    <p:bg>
      <p:bgPr>
        <a:solidFill>
          <a:srgbClr val="F5F8FA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38f739052a_0_1597"/>
          <p:cNvSpPr txBox="1">
            <a:spLocks noGrp="1"/>
          </p:cNvSpPr>
          <p:nvPr>
            <p:ph type="subTitle" idx="1"/>
          </p:nvPr>
        </p:nvSpPr>
        <p:spPr>
          <a:xfrm>
            <a:off x="6405967" y="2383048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3E3E"/>
              </a:buClr>
              <a:buSzPts val="3600"/>
              <a:buNone/>
              <a:defRPr sz="3600" b="1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3" name="Google Shape;223;g238f739052a_0_15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5661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rgbClr val="F5F8FA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38f739052a_0_1600"/>
          <p:cNvSpPr txBox="1">
            <a:spLocks noGrp="1"/>
          </p:cNvSpPr>
          <p:nvPr>
            <p:ph type="body" idx="1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g238f739052a_0_1600"/>
          <p:cNvSpPr txBox="1">
            <a:spLocks noGrp="1"/>
          </p:cNvSpPr>
          <p:nvPr>
            <p:ph type="subTitle" idx="2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36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227" name="Google Shape;227;g238f739052a_0_1600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8" name="Google Shape;228;g238f739052a_0_1600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070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>
  <p:cSld name="Image and content">
    <p:bg>
      <p:bgPr>
        <a:solidFill>
          <a:srgbClr val="F5F8F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38f739052a_0_1605"/>
          <p:cNvSpPr txBox="1">
            <a:spLocks noGrp="1"/>
          </p:cNvSpPr>
          <p:nvPr>
            <p:ph type="body" idx="1"/>
          </p:nvPr>
        </p:nvSpPr>
        <p:spPr>
          <a:xfrm>
            <a:off x="1007391" y="2076773"/>
            <a:ext cx="44481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g238f739052a_0_1605"/>
          <p:cNvSpPr txBox="1">
            <a:spLocks noGrp="1"/>
          </p:cNvSpPr>
          <p:nvPr>
            <p:ph type="subTitle" idx="2"/>
          </p:nvPr>
        </p:nvSpPr>
        <p:spPr>
          <a:xfrm>
            <a:off x="1007391" y="1083370"/>
            <a:ext cx="44481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36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232" name="Google Shape;232;g238f739052a_0_1605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3" name="Google Shape;233;g238f739052a_0_1605"/>
          <p:cNvSpPr>
            <a:spLocks noGrp="1"/>
          </p:cNvSpPr>
          <p:nvPr>
            <p:ph type="clipArt" idx="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34" name="Google Shape;234;g238f739052a_0_1605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1766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">
  <p:cSld name="Columns">
    <p:bg>
      <p:bgPr>
        <a:solidFill>
          <a:srgbClr val="F5F8F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38f739052a_0_1611"/>
          <p:cNvSpPr txBox="1">
            <a:spLocks noGrp="1"/>
          </p:cNvSpPr>
          <p:nvPr>
            <p:ph type="body" idx="1"/>
          </p:nvPr>
        </p:nvSpPr>
        <p:spPr>
          <a:xfrm>
            <a:off x="1007390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g238f739052a_0_1611"/>
          <p:cNvSpPr txBox="1">
            <a:spLocks noGrp="1"/>
          </p:cNvSpPr>
          <p:nvPr>
            <p:ph type="subTitle" idx="2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36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238" name="Google Shape;238;g238f739052a_0_1611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9" name="Google Shape;239;g238f739052a_0_1611"/>
          <p:cNvSpPr txBox="1">
            <a:spLocks noGrp="1"/>
          </p:cNvSpPr>
          <p:nvPr>
            <p:ph type="body" idx="3"/>
          </p:nvPr>
        </p:nvSpPr>
        <p:spPr>
          <a:xfrm>
            <a:off x="5811865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0" name="Google Shape;240;g238f739052a_0_1611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571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3E3E3E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g238f739052a_0_1617"/>
          <p:cNvCxnSpPr/>
          <p:nvPr/>
        </p:nvCxnSpPr>
        <p:spPr>
          <a:xfrm rot="10800000">
            <a:off x="530883" y="5904855"/>
            <a:ext cx="41961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3" name="Google Shape;243;g238f739052a_0_1617"/>
          <p:cNvSpPr txBox="1">
            <a:spLocks noGrp="1"/>
          </p:cNvSpPr>
          <p:nvPr>
            <p:ph type="subTitle" idx="1"/>
          </p:nvPr>
        </p:nvSpPr>
        <p:spPr>
          <a:xfrm>
            <a:off x="546314" y="3721641"/>
            <a:ext cx="61977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4" name="Google Shape;244;g238f739052a_0_1617"/>
          <p:cNvSpPr txBox="1">
            <a:spLocks noGrp="1"/>
          </p:cNvSpPr>
          <p:nvPr>
            <p:ph type="body" idx="2"/>
          </p:nvPr>
        </p:nvSpPr>
        <p:spPr>
          <a:xfrm>
            <a:off x="10380125" y="5455402"/>
            <a:ext cx="15717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5" name="Google Shape;245;g238f739052a_0_1617" descr="A picture containing text,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314" y="2093184"/>
            <a:ext cx="2649775" cy="1043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238f739052a_0_1617" descr="Logo, 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5210" y="-2075233"/>
            <a:ext cx="9961288" cy="99612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8783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 Slide 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38f739052a_0_16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g238f739052a_0_16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0" name="Google Shape;250;g238f739052a_0_16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g238f739052a_0_16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g238f739052a_0_16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604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38f739052a_0_16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g238f739052a_0_16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g238f739052a_0_16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593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rgbClr val="F5F8FA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238f739052a_0_80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7428" y="1735734"/>
            <a:ext cx="11722136" cy="391519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38f739052a_0_80"/>
          <p:cNvSpPr txBox="1">
            <a:spLocks noGrp="1"/>
          </p:cNvSpPr>
          <p:nvPr>
            <p:ph type="body" idx="1"/>
          </p:nvPr>
        </p:nvSpPr>
        <p:spPr>
          <a:xfrm>
            <a:off x="3505199" y="2294503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g238f739052a_0_80"/>
          <p:cNvSpPr txBox="1">
            <a:spLocks noGrp="1"/>
          </p:cNvSpPr>
          <p:nvPr>
            <p:ph type="subTitle" idx="2"/>
          </p:nvPr>
        </p:nvSpPr>
        <p:spPr>
          <a:xfrm>
            <a:off x="3505199" y="1404129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7" name="Google Shape;147;g238f739052a_0_80"/>
          <p:cNvSpPr txBox="1">
            <a:spLocks noGrp="1"/>
          </p:cNvSpPr>
          <p:nvPr>
            <p:ph type="body" idx="3"/>
          </p:nvPr>
        </p:nvSpPr>
        <p:spPr>
          <a:xfrm>
            <a:off x="3505199" y="316466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g238f739052a_0_80"/>
          <p:cNvSpPr txBox="1">
            <a:spLocks noGrp="1"/>
          </p:cNvSpPr>
          <p:nvPr>
            <p:ph type="body" idx="4"/>
          </p:nvPr>
        </p:nvSpPr>
        <p:spPr>
          <a:xfrm>
            <a:off x="3505199" y="4028596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g238f739052a_0_80"/>
          <p:cNvSpPr txBox="1">
            <a:spLocks noGrp="1"/>
          </p:cNvSpPr>
          <p:nvPr>
            <p:ph type="body" idx="5"/>
          </p:nvPr>
        </p:nvSpPr>
        <p:spPr>
          <a:xfrm>
            <a:off x="3505199" y="4892524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0" name="Google Shape;150;g238f739052a_0_80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7699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solidFill>
          <a:srgbClr val="3E3E3E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238f739052a_0_88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75837" y="1334357"/>
            <a:ext cx="12567836" cy="418927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38f739052a_0_88"/>
          <p:cNvSpPr txBox="1">
            <a:spLocks noGrp="1"/>
          </p:cNvSpPr>
          <p:nvPr>
            <p:ph type="subTitle" idx="1"/>
          </p:nvPr>
        </p:nvSpPr>
        <p:spPr>
          <a:xfrm>
            <a:off x="2790124" y="3162020"/>
            <a:ext cx="66117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54" name="Google Shape;154;g238f739052a_0_88" descr="A black and white logo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057" y="6291264"/>
            <a:ext cx="899319" cy="3669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693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Statement Slide_3">
  <p:cSld name="Impact Statement Slide_3">
    <p:bg>
      <p:bgPr>
        <a:solidFill>
          <a:srgbClr val="F5F8F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38f739052a_0_96"/>
          <p:cNvSpPr txBox="1">
            <a:spLocks noGrp="1"/>
          </p:cNvSpPr>
          <p:nvPr>
            <p:ph type="subTitle" idx="1"/>
          </p:nvPr>
        </p:nvSpPr>
        <p:spPr>
          <a:xfrm>
            <a:off x="6405967" y="2383048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3E3E"/>
              </a:buClr>
              <a:buSzPts val="3600"/>
              <a:buNone/>
              <a:defRPr sz="3600" b="1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61" name="Google Shape;161;g238f739052a_0_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5493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rgbClr val="F5F8F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38f739052a_0_99"/>
          <p:cNvSpPr txBox="1">
            <a:spLocks noGrp="1"/>
          </p:cNvSpPr>
          <p:nvPr>
            <p:ph type="body" idx="1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g238f739052a_0_99"/>
          <p:cNvSpPr txBox="1">
            <a:spLocks noGrp="1"/>
          </p:cNvSpPr>
          <p:nvPr>
            <p:ph type="subTitle" idx="2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36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65" name="Google Shape;165;g238f739052a_0_99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6" name="Google Shape;166;g238f739052a_0_99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0473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">
  <p:cSld name="Columns">
    <p:bg>
      <p:bgPr>
        <a:solidFill>
          <a:srgbClr val="F5F8F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38f739052a_0_110"/>
          <p:cNvSpPr txBox="1">
            <a:spLocks noGrp="1"/>
          </p:cNvSpPr>
          <p:nvPr>
            <p:ph type="body" idx="1"/>
          </p:nvPr>
        </p:nvSpPr>
        <p:spPr>
          <a:xfrm>
            <a:off x="1007390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g238f739052a_0_110"/>
          <p:cNvSpPr txBox="1">
            <a:spLocks noGrp="1"/>
          </p:cNvSpPr>
          <p:nvPr>
            <p:ph type="subTitle" idx="2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36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76" name="Google Shape;176;g238f739052a_0_110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7" name="Google Shape;177;g238f739052a_0_110"/>
          <p:cNvSpPr txBox="1">
            <a:spLocks noGrp="1"/>
          </p:cNvSpPr>
          <p:nvPr>
            <p:ph type="body" idx="3"/>
          </p:nvPr>
        </p:nvSpPr>
        <p:spPr>
          <a:xfrm>
            <a:off x="5811865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8" name="Google Shape;178;g238f739052a_0_110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8362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3E3E3E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g238f739052a_0_116"/>
          <p:cNvCxnSpPr/>
          <p:nvPr/>
        </p:nvCxnSpPr>
        <p:spPr>
          <a:xfrm rot="10800000">
            <a:off x="530883" y="5904855"/>
            <a:ext cx="41961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1" name="Google Shape;181;g238f739052a_0_116"/>
          <p:cNvSpPr txBox="1">
            <a:spLocks noGrp="1"/>
          </p:cNvSpPr>
          <p:nvPr>
            <p:ph type="subTitle" idx="1"/>
          </p:nvPr>
        </p:nvSpPr>
        <p:spPr>
          <a:xfrm>
            <a:off x="546314" y="3721641"/>
            <a:ext cx="61977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2" name="Google Shape;182;g238f739052a_0_116"/>
          <p:cNvSpPr txBox="1">
            <a:spLocks noGrp="1"/>
          </p:cNvSpPr>
          <p:nvPr>
            <p:ph type="body" idx="2"/>
          </p:nvPr>
        </p:nvSpPr>
        <p:spPr>
          <a:xfrm>
            <a:off x="10380125" y="5455402"/>
            <a:ext cx="15717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3" name="Google Shape;183;g238f739052a_0_116" descr="A picture containing text,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314" y="2093184"/>
            <a:ext cx="2649775" cy="1043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238f739052a_0_116" descr="Logo, 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5210" y="-2075233"/>
            <a:ext cx="9961288" cy="99612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5688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genda">
  <p:cSld name="2_Agenda">
    <p:bg>
      <p:bgPr>
        <a:solidFill>
          <a:srgbClr val="F5F8FA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238f739052a_0_1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4334480" y="-5119351"/>
            <a:ext cx="11171655" cy="1117165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238f739052a_0_122"/>
          <p:cNvSpPr txBox="1">
            <a:spLocks noGrp="1"/>
          </p:cNvSpPr>
          <p:nvPr>
            <p:ph type="body" idx="1"/>
          </p:nvPr>
        </p:nvSpPr>
        <p:spPr>
          <a:xfrm>
            <a:off x="6096000" y="195923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g238f739052a_0_122"/>
          <p:cNvSpPr txBox="1">
            <a:spLocks noGrp="1"/>
          </p:cNvSpPr>
          <p:nvPr>
            <p:ph type="subTitle" idx="2"/>
          </p:nvPr>
        </p:nvSpPr>
        <p:spPr>
          <a:xfrm>
            <a:off x="242736" y="316466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" name="Google Shape;189;g238f739052a_0_122"/>
          <p:cNvSpPr txBox="1">
            <a:spLocks noGrp="1"/>
          </p:cNvSpPr>
          <p:nvPr>
            <p:ph type="body" idx="3"/>
          </p:nvPr>
        </p:nvSpPr>
        <p:spPr>
          <a:xfrm>
            <a:off x="6096000" y="2829403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g238f739052a_0_122"/>
          <p:cNvSpPr txBox="1">
            <a:spLocks noGrp="1"/>
          </p:cNvSpPr>
          <p:nvPr>
            <p:ph type="body" idx="4"/>
          </p:nvPr>
        </p:nvSpPr>
        <p:spPr>
          <a:xfrm>
            <a:off x="6096000" y="3693331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g238f739052a_0_122"/>
          <p:cNvSpPr txBox="1">
            <a:spLocks noGrp="1"/>
          </p:cNvSpPr>
          <p:nvPr>
            <p:ph type="body" idx="5"/>
          </p:nvPr>
        </p:nvSpPr>
        <p:spPr>
          <a:xfrm>
            <a:off x="6096000" y="4557259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2" name="Google Shape;192;g238f739052a_0_12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9793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 Slide 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38f739052a_0_1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g238f739052a_0_1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6" name="Google Shape;196;g238f739052a_0_1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238f739052a_0_1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g238f739052a_0_1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4620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43219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5153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4425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129" name="Google Shape;129;p23"/>
          <p:cNvCxnSpPr/>
          <p:nvPr/>
        </p:nvCxnSpPr>
        <p:spPr>
          <a:xfrm>
            <a:off x="6233200" y="1352500"/>
            <a:ext cx="0" cy="466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23"/>
          <p:cNvSpPr txBox="1"/>
          <p:nvPr/>
        </p:nvSpPr>
        <p:spPr>
          <a:xfrm>
            <a:off x="3519000" y="333267"/>
            <a:ext cx="5428400" cy="6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b="1">
                <a:latin typeface="Roboto"/>
                <a:ea typeface="Roboto"/>
                <a:cs typeface="Roboto"/>
                <a:sym typeface="Roboto"/>
              </a:rPr>
              <a:t>In one sentence tell us …</a:t>
            </a:r>
            <a:endParaRPr sz="1867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7030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b="1" i="1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product/service ? </a:t>
            </a:r>
            <a:endParaRPr sz="1867" b="1" i="1">
              <a:highlight>
                <a:srgbClr val="F8D231"/>
              </a:highlight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77634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b="1" i="1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secret sauce? </a:t>
            </a:r>
            <a:endParaRPr sz="1867" b="1" i="1">
              <a:highlight>
                <a:srgbClr val="F8D231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407313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428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93798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52904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50040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76637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2184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79278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0017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">
  <p:cSld name="Blank 1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/>
        </p:nvSpPr>
        <p:spPr>
          <a:xfrm>
            <a:off x="7297833" y="2291733"/>
            <a:ext cx="4894000" cy="45064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u="sng" dirty="0">
                <a:latin typeface="Roboto Medium"/>
                <a:ea typeface="Roboto Medium"/>
                <a:cs typeface="Roboto Medium"/>
                <a:sym typeface="Roboto Medium"/>
              </a:rPr>
              <a:t>Next Steps</a:t>
            </a: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>
            <a:off x="0" y="586017"/>
            <a:ext cx="7298000" cy="1650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u="sng" dirty="0">
                <a:latin typeface="Roboto Medium"/>
                <a:ea typeface="Roboto Medium"/>
                <a:cs typeface="Roboto Medium"/>
                <a:sym typeface="Roboto Medium"/>
              </a:rPr>
              <a:t>Hypothesis</a:t>
            </a: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6" name="Google Shape;166;p32"/>
          <p:cNvSpPr txBox="1"/>
          <p:nvPr/>
        </p:nvSpPr>
        <p:spPr>
          <a:xfrm>
            <a:off x="5850833" y="-8467"/>
            <a:ext cx="3266800" cy="53350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# of Interviews = 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7" name="Google Shape;167;p32"/>
          <p:cNvSpPr txBox="1"/>
          <p:nvPr/>
        </p:nvSpPr>
        <p:spPr>
          <a:xfrm>
            <a:off x="0" y="-2800"/>
            <a:ext cx="58508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Customer Segment:  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8" name="Google Shape;168;p32"/>
          <p:cNvSpPr txBox="1"/>
          <p:nvPr/>
        </p:nvSpPr>
        <p:spPr>
          <a:xfrm>
            <a:off x="0" y="2291677"/>
            <a:ext cx="7298000" cy="45064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50799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u="sng" dirty="0">
                <a:latin typeface="Roboto Medium"/>
                <a:ea typeface="Roboto Medium"/>
                <a:cs typeface="Roboto Medium"/>
                <a:sym typeface="Roboto Medium"/>
              </a:rPr>
              <a:t>Learnings or Insights</a:t>
            </a: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 :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9" name="Google Shape;169;p32"/>
          <p:cNvSpPr txBox="1"/>
          <p:nvPr/>
        </p:nvSpPr>
        <p:spPr>
          <a:xfrm>
            <a:off x="7297833" y="583200"/>
            <a:ext cx="11108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33" dirty="0">
                <a:latin typeface="Roboto Medium"/>
                <a:ea typeface="Roboto Medium"/>
                <a:cs typeface="Roboto Medium"/>
                <a:sym typeface="Roboto Medium"/>
              </a:rPr>
              <a:t>Validated</a:t>
            </a: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0" name="Google Shape;170;p32"/>
          <p:cNvSpPr txBox="1"/>
          <p:nvPr/>
        </p:nvSpPr>
        <p:spPr>
          <a:xfrm>
            <a:off x="8408633" y="583200"/>
            <a:ext cx="11108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33" dirty="0">
                <a:latin typeface="Roboto Medium"/>
                <a:ea typeface="Roboto Medium"/>
                <a:cs typeface="Roboto Medium"/>
                <a:sym typeface="Roboto Medium"/>
              </a:rPr>
              <a:t>Invalidated</a:t>
            </a:r>
            <a:endParaRPr sz="2800" dirty="0">
              <a:solidFill>
                <a:srgbClr val="202124"/>
              </a:solidFill>
              <a:highlight>
                <a:srgbClr val="F8F9FA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9519433" y="583200"/>
            <a:ext cx="26736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33" dirty="0">
                <a:latin typeface="Roboto Medium"/>
                <a:ea typeface="Roboto Medium"/>
                <a:cs typeface="Roboto Medium"/>
                <a:sym typeface="Roboto Medium"/>
              </a:rPr>
              <a:t>Comments:</a:t>
            </a: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8408633" y="-8533"/>
            <a:ext cx="3783200" cy="533504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Industry: 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 rot="-1372322">
            <a:off x="197653" y="3498875"/>
            <a:ext cx="7648567" cy="170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466" dirty="0">
                <a:solidFill>
                  <a:srgbClr val="9E9E9E"/>
                </a:solidFill>
              </a:rPr>
              <a:t>EXAMPLE</a:t>
            </a:r>
            <a:endParaRPr sz="9466" dirty="0">
              <a:solidFill>
                <a:srgbClr val="9E9E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8320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/>
        </p:nvSpPr>
        <p:spPr>
          <a:xfrm>
            <a:off x="7297833" y="2291733"/>
            <a:ext cx="4894000" cy="45064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u="sng" dirty="0">
                <a:latin typeface="Roboto Medium"/>
                <a:ea typeface="Roboto Medium"/>
                <a:cs typeface="Roboto Medium"/>
                <a:sym typeface="Roboto Medium"/>
              </a:rPr>
              <a:t>Next Steps</a:t>
            </a: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6" name="Google Shape;176;p33"/>
          <p:cNvSpPr txBox="1"/>
          <p:nvPr/>
        </p:nvSpPr>
        <p:spPr>
          <a:xfrm>
            <a:off x="0" y="586017"/>
            <a:ext cx="7298000" cy="1650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u="sng" dirty="0">
                <a:latin typeface="Roboto Medium"/>
                <a:ea typeface="Roboto Medium"/>
                <a:cs typeface="Roboto Medium"/>
                <a:sym typeface="Roboto Medium"/>
              </a:rPr>
              <a:t>Hypothesis</a:t>
            </a: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7" name="Google Shape;177;p33"/>
          <p:cNvSpPr txBox="1"/>
          <p:nvPr/>
        </p:nvSpPr>
        <p:spPr>
          <a:xfrm>
            <a:off x="5850833" y="-8467"/>
            <a:ext cx="3266800" cy="53350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# of Interviews= 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8" name="Google Shape;178;p33"/>
          <p:cNvSpPr txBox="1"/>
          <p:nvPr/>
        </p:nvSpPr>
        <p:spPr>
          <a:xfrm>
            <a:off x="0" y="-2800"/>
            <a:ext cx="58508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Customer Segment:  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9" name="Google Shape;179;p33"/>
          <p:cNvSpPr txBox="1"/>
          <p:nvPr/>
        </p:nvSpPr>
        <p:spPr>
          <a:xfrm>
            <a:off x="0" y="2291677"/>
            <a:ext cx="7298000" cy="45064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50799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u="sng" dirty="0">
                <a:latin typeface="Roboto Medium"/>
                <a:ea typeface="Roboto Medium"/>
                <a:cs typeface="Roboto Medium"/>
                <a:sym typeface="Roboto Medium"/>
              </a:rPr>
              <a:t>Learning or insights</a:t>
            </a: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0" name="Google Shape;180;p33"/>
          <p:cNvSpPr txBox="1"/>
          <p:nvPr/>
        </p:nvSpPr>
        <p:spPr>
          <a:xfrm>
            <a:off x="7297833" y="583200"/>
            <a:ext cx="11108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33" dirty="0">
                <a:latin typeface="Roboto Medium"/>
                <a:ea typeface="Roboto Medium"/>
                <a:cs typeface="Roboto Medium"/>
                <a:sym typeface="Roboto Medium"/>
              </a:rPr>
              <a:t>Validated</a:t>
            </a: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1" name="Google Shape;181;p33"/>
          <p:cNvSpPr txBox="1"/>
          <p:nvPr/>
        </p:nvSpPr>
        <p:spPr>
          <a:xfrm>
            <a:off x="8408633" y="583200"/>
            <a:ext cx="11108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33" dirty="0">
                <a:latin typeface="Roboto Medium"/>
                <a:ea typeface="Roboto Medium"/>
                <a:cs typeface="Roboto Medium"/>
                <a:sym typeface="Roboto Medium"/>
              </a:rPr>
              <a:t>Invalidated</a:t>
            </a:r>
            <a:endParaRPr sz="2800" dirty="0">
              <a:solidFill>
                <a:srgbClr val="202124"/>
              </a:solidFill>
              <a:highlight>
                <a:srgbClr val="F8F9FA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9519433" y="583200"/>
            <a:ext cx="26736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33" dirty="0">
                <a:latin typeface="Roboto Medium"/>
                <a:ea typeface="Roboto Medium"/>
                <a:cs typeface="Roboto Medium"/>
                <a:sym typeface="Roboto Medium"/>
              </a:rPr>
              <a:t>Comments:</a:t>
            </a:r>
            <a:endParaRPr sz="1333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8408633" y="-8533"/>
            <a:ext cx="3783200" cy="533504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dirty="0">
                <a:latin typeface="Roboto Medium"/>
                <a:ea typeface="Roboto Medium"/>
                <a:cs typeface="Roboto Medium"/>
                <a:sym typeface="Roboto Medium"/>
              </a:rPr>
              <a:t>Industry: </a:t>
            </a:r>
            <a:endParaRPr sz="18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767449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60570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31708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23" name="Google Shape;23;p5"/>
          <p:cNvCxnSpPr/>
          <p:nvPr/>
        </p:nvCxnSpPr>
        <p:spPr>
          <a:xfrm>
            <a:off x="6233200" y="1352500"/>
            <a:ext cx="0" cy="466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24;p5"/>
          <p:cNvSpPr txBox="1"/>
          <p:nvPr/>
        </p:nvSpPr>
        <p:spPr>
          <a:xfrm>
            <a:off x="3519000" y="333267"/>
            <a:ext cx="5428400" cy="6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b="1">
                <a:latin typeface="Roboto"/>
                <a:ea typeface="Roboto"/>
                <a:cs typeface="Roboto"/>
                <a:sym typeface="Roboto"/>
              </a:rPr>
              <a:t>In one sentence tell us …</a:t>
            </a:r>
            <a:endParaRPr sz="1867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25;p5"/>
          <p:cNvSpPr txBox="1"/>
          <p:nvPr/>
        </p:nvSpPr>
        <p:spPr>
          <a:xfrm>
            <a:off x="7030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b="1" i="1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product/service ? </a:t>
            </a:r>
            <a:endParaRPr sz="1867" b="1" i="1">
              <a:highlight>
                <a:srgbClr val="F8D231"/>
              </a:highlight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77634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b="1" i="1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secret sauce? </a:t>
            </a:r>
            <a:endParaRPr sz="1867" b="1" i="1">
              <a:highlight>
                <a:srgbClr val="F8D231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453397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67116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Google Shape;34;p7"/>
          <p:cNvSpPr/>
          <p:nvPr/>
        </p:nvSpPr>
        <p:spPr>
          <a:xfrm>
            <a:off x="5061133" y="429233"/>
            <a:ext cx="6698400" cy="5412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5" name="Google Shape;35;p7"/>
          <p:cNvSpPr txBox="1"/>
          <p:nvPr/>
        </p:nvSpPr>
        <p:spPr>
          <a:xfrm>
            <a:off x="5197600" y="546900"/>
            <a:ext cx="17968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 b="1" i="1"/>
              <a:t>Voici quelques post-its et formes que vous pouvez copier-coller pour commencer.</a:t>
            </a:r>
            <a:endParaRPr sz="800" b="1" i="1"/>
          </a:p>
        </p:txBody>
      </p:sp>
    </p:spTree>
    <p:extLst>
      <p:ext uri="{BB962C8B-B14F-4D97-AF65-F5344CB8AC3E}">
        <p14:creationId xmlns:p14="http://schemas.microsoft.com/office/powerpoint/2010/main" val="6847317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39169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96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08790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96292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65637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8" name="Google Shape;58;p13"/>
          <p:cNvSpPr/>
          <p:nvPr/>
        </p:nvSpPr>
        <p:spPr>
          <a:xfrm>
            <a:off x="2055305" y="899033"/>
            <a:ext cx="2589200" cy="46012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4644528" y="899033"/>
            <a:ext cx="2589200" cy="23008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4644533" y="3169000"/>
            <a:ext cx="2589200" cy="23312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7233751" y="899033"/>
            <a:ext cx="2589200" cy="46012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016468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>
                <a:solidFill>
                  <a:srgbClr val="1F1F1F"/>
                </a:solidFill>
              </a:rPr>
              <a:t>Proposition de valeur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4605689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>
                <a:solidFill>
                  <a:srgbClr val="1F1F1F"/>
                </a:solidFill>
              </a:rPr>
              <a:t>Relations de clientèle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4605689" y="3128099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>
                <a:solidFill>
                  <a:srgbClr val="1F1F1F"/>
                </a:solidFill>
              </a:rPr>
              <a:t>Canaux de distribution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7194912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>
                <a:solidFill>
                  <a:srgbClr val="1F1F1F"/>
                </a:solidFill>
              </a:rPr>
              <a:t>Segments de clientèle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25550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 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05055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7297833" y="2291733"/>
            <a:ext cx="4894000" cy="39728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u="sng">
                <a:latin typeface="Roboto Medium"/>
                <a:ea typeface="Roboto Medium"/>
                <a:cs typeface="Roboto Medium"/>
                <a:sym typeface="Roboto Medium"/>
              </a:rPr>
              <a:t>Next steps</a:t>
            </a:r>
            <a:r>
              <a:rPr lang="en-CA" sz="1867"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867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0" y="0"/>
            <a:ext cx="1426400" cy="533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>
                <a:latin typeface="Roboto Medium"/>
                <a:ea typeface="Roboto Medium"/>
                <a:cs typeface="Roboto Medium"/>
                <a:sym typeface="Roboto Medium"/>
              </a:rPr>
              <a:t>WEEK #</a:t>
            </a:r>
            <a:endParaRPr sz="1867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0" y="586017"/>
            <a:ext cx="7298000" cy="1650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u="sng">
                <a:latin typeface="Roboto Medium"/>
                <a:ea typeface="Roboto Medium"/>
                <a:cs typeface="Roboto Medium"/>
                <a:sym typeface="Roboto Medium"/>
              </a:rPr>
              <a:t>Hypothesis</a:t>
            </a:r>
            <a:r>
              <a:rPr lang="en-CA" sz="1867"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867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297833" y="6264534"/>
            <a:ext cx="26320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>
                <a:latin typeface="Roboto Medium"/>
                <a:ea typeface="Roboto Medium"/>
                <a:cs typeface="Roboto Medium"/>
                <a:sym typeface="Roboto Medium"/>
              </a:rPr>
              <a:t># of Interviews = </a:t>
            </a:r>
            <a:endParaRPr sz="1867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426400" y="-8467"/>
            <a:ext cx="69824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>
                <a:latin typeface="Roboto Medium"/>
                <a:ea typeface="Roboto Medium"/>
                <a:cs typeface="Roboto Medium"/>
                <a:sym typeface="Roboto Medium"/>
              </a:rPr>
              <a:t>Customer Segment Name: </a:t>
            </a:r>
            <a:endParaRPr sz="1867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9929667" y="6264534"/>
            <a:ext cx="22632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>
                <a:latin typeface="Roboto Medium"/>
                <a:ea typeface="Roboto Medium"/>
                <a:cs typeface="Roboto Medium"/>
                <a:sym typeface="Roboto Medium"/>
              </a:rPr>
              <a:t># of referrals =</a:t>
            </a:r>
            <a:endParaRPr sz="1867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2291677"/>
            <a:ext cx="7298000" cy="45064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 u="sng">
                <a:latin typeface="Roboto Medium"/>
                <a:ea typeface="Roboto Medium"/>
                <a:cs typeface="Roboto Medium"/>
                <a:sym typeface="Roboto Medium"/>
              </a:rPr>
              <a:t>Learnings</a:t>
            </a:r>
            <a:r>
              <a:rPr lang="en-CA" sz="1867"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867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97833" y="583200"/>
            <a:ext cx="11108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33">
                <a:latin typeface="Roboto Medium"/>
                <a:ea typeface="Roboto Medium"/>
                <a:cs typeface="Roboto Medium"/>
                <a:sym typeface="Roboto Medium"/>
              </a:rPr>
              <a:t>Hypothesis Validated</a:t>
            </a:r>
            <a:endParaRPr sz="1333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8408633" y="583200"/>
            <a:ext cx="11108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33">
                <a:latin typeface="Roboto Medium"/>
                <a:ea typeface="Roboto Medium"/>
                <a:cs typeface="Roboto Medium"/>
                <a:sym typeface="Roboto Medium"/>
              </a:rPr>
              <a:t>Hypothesis Invalidated</a:t>
            </a:r>
            <a:endParaRPr sz="1333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9519433" y="583200"/>
            <a:ext cx="26736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33">
                <a:latin typeface="Roboto Medium"/>
                <a:ea typeface="Roboto Medium"/>
                <a:cs typeface="Roboto Medium"/>
                <a:sym typeface="Roboto Medium"/>
              </a:rPr>
              <a:t>Notes:</a:t>
            </a:r>
            <a:endParaRPr sz="1333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8408633" y="-8533"/>
            <a:ext cx="3783200" cy="533504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67">
                <a:latin typeface="Roboto Medium"/>
                <a:ea typeface="Roboto Medium"/>
                <a:cs typeface="Roboto Medium"/>
                <a:sym typeface="Roboto Medium"/>
              </a:rPr>
              <a:t>Industry : </a:t>
            </a:r>
            <a:endParaRPr sz="1867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3573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_SLIDE">
  <p:cSld name="MASTER_SLIDE">
    <p:bg>
      <p:bgPr>
        <a:solidFill>
          <a:srgbClr val="1F445A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0" y="585216"/>
            <a:ext cx="2438400" cy="41148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2438400" y="585216"/>
            <a:ext cx="2438400" cy="2057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2438400" y="2615184"/>
            <a:ext cx="2438400" cy="2057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876800" y="585216"/>
            <a:ext cx="2438400" cy="41148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7315200" y="585216"/>
            <a:ext cx="2438400" cy="2057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7315200" y="2615184"/>
            <a:ext cx="2438400" cy="2057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9753600" y="585216"/>
            <a:ext cx="2438400" cy="41148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-36576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dirty="0">
                <a:solidFill>
                  <a:srgbClr val="1F1F1F"/>
                </a:solidFill>
              </a:rPr>
              <a:t>Key Partners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24018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dirty="0">
                <a:solidFill>
                  <a:srgbClr val="1F1F1F"/>
                </a:solidFill>
              </a:rPr>
              <a:t>Key Activities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401824" y="2578608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dirty="0">
                <a:solidFill>
                  <a:srgbClr val="1F1F1F"/>
                </a:solidFill>
              </a:rPr>
              <a:t>Key Resources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48402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dirty="0">
                <a:solidFill>
                  <a:srgbClr val="1F1F1F"/>
                </a:solidFill>
              </a:rPr>
              <a:t>Value Proposition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72786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dirty="0">
                <a:solidFill>
                  <a:srgbClr val="1F1F1F"/>
                </a:solidFill>
              </a:rPr>
              <a:t>Customer Relationships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7278624" y="2578608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97170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dirty="0">
                <a:solidFill>
                  <a:srgbClr val="1F1F1F"/>
                </a:solidFill>
              </a:rPr>
              <a:t>Customer Segments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7" descr="https://s3-us-west-2.amazonaws.com/innovation-within-external-assets/iw_logo_4_29_19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576" y="73152"/>
            <a:ext cx="146304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/>
          <p:nvPr/>
        </p:nvSpPr>
        <p:spPr>
          <a:xfrm>
            <a:off x="0" y="4608576"/>
            <a:ext cx="6096000" cy="2331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6096000" y="4608576"/>
            <a:ext cx="6096000" cy="2331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-36576" y="457200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Cost Structure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6059424" y="457200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dirty="0">
                <a:solidFill>
                  <a:srgbClr val="1F1F1F"/>
                </a:solidFill>
              </a:rPr>
              <a:t>Revenue Streams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4F358-5350-3FC7-1288-80314DAB2C4F}"/>
              </a:ext>
            </a:extLst>
          </p:cNvPr>
          <p:cNvSpPr/>
          <p:nvPr userDrawn="1"/>
        </p:nvSpPr>
        <p:spPr>
          <a:xfrm>
            <a:off x="0" y="0"/>
            <a:ext cx="12192000" cy="576032"/>
          </a:xfrm>
          <a:prstGeom prst="rect">
            <a:avLst/>
          </a:prstGeom>
          <a:solidFill>
            <a:srgbClr val="C2B38A"/>
          </a:solidFill>
          <a:ln>
            <a:solidFill>
              <a:srgbClr val="C2B3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FD47A-5EB9-BD2A-1745-D2768D88E33E}"/>
              </a:ext>
            </a:extLst>
          </p:cNvPr>
          <p:cNvSpPr txBox="1"/>
          <p:nvPr userDrawn="1"/>
        </p:nvSpPr>
        <p:spPr>
          <a:xfrm>
            <a:off x="9144" y="157039"/>
            <a:ext cx="2596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6F6F6"/>
                </a:solidFill>
              </a:rPr>
              <a:t>BUSINESS MODEL CANVAS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1B7B0-1CC2-B393-BE7E-BCF17B1823DF}"/>
              </a:ext>
            </a:extLst>
          </p:cNvPr>
          <p:cNvSpPr txBox="1"/>
          <p:nvPr userDrawn="1"/>
        </p:nvSpPr>
        <p:spPr>
          <a:xfrm>
            <a:off x="3008376" y="157039"/>
            <a:ext cx="768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6F6F6"/>
                </a:solidFill>
              </a:rPr>
              <a:t>NAME: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A6D1D1-F9D5-11FD-202D-D133D4468A1E}"/>
              </a:ext>
            </a:extLst>
          </p:cNvPr>
          <p:cNvSpPr txBox="1"/>
          <p:nvPr userDrawn="1"/>
        </p:nvSpPr>
        <p:spPr>
          <a:xfrm>
            <a:off x="9726168" y="152432"/>
            <a:ext cx="1392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6F6F6"/>
                </a:solidFill>
              </a:rPr>
              <a:t>ITERATION #:</a:t>
            </a:r>
          </a:p>
        </p:txBody>
      </p:sp>
    </p:spTree>
    <p:extLst>
      <p:ext uri="{BB962C8B-B14F-4D97-AF65-F5344CB8AC3E}">
        <p14:creationId xmlns:p14="http://schemas.microsoft.com/office/powerpoint/2010/main" val="28130563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112" name="Google Shape;112;p18" descr="A drawing of a fac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94523" y="608311"/>
            <a:ext cx="1834771" cy="634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3215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image" Target="../media/image10.png"/><Relationship Id="rId2" Type="http://schemas.openxmlformats.org/officeDocument/2006/relationships/slideLayout" Target="../slideLayouts/slideLayout33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38f739052a_0_157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1" name="Google Shape;201;g238f739052a_0_157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2" name="Google Shape;202;g238f739052a_0_157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3" name="Google Shape;203;g238f739052a_0_157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4" name="Google Shape;204;g238f739052a_0_157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810859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2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38f739052a_0_7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9" name="Google Shape;139;g238f739052a_0_7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g238f739052a_0_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g238f739052a_0_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g238f739052a_0_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49114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30" r:id="rId3"/>
    <p:sldLayoutId id="2147483831" r:id="rId4"/>
    <p:sldLayoutId id="2147483833" r:id="rId5"/>
    <p:sldLayoutId id="2147483834" r:id="rId6"/>
    <p:sldLayoutId id="2147483835" r:id="rId7"/>
    <p:sldLayoutId id="2147483836" r:id="rId8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65272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828434" y="6201301"/>
            <a:ext cx="902533" cy="407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9;p1"/>
          <p:cNvCxnSpPr/>
          <p:nvPr/>
        </p:nvCxnSpPr>
        <p:spPr>
          <a:xfrm rot="10800000" flipH="1">
            <a:off x="521367" y="6091867"/>
            <a:ext cx="11209600" cy="10000"/>
          </a:xfrm>
          <a:prstGeom prst="straightConnector1">
            <a:avLst/>
          </a:prstGeom>
          <a:noFill/>
          <a:ln w="9525" cap="flat" cmpd="sng">
            <a:solidFill>
              <a:srgbClr val="00599C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7551618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  <p:sldLayoutId id="2147483886" r:id="rId14"/>
    <p:sldLayoutId id="2147483887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CB2E6-0902-AB79-02CC-DF927C161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>
              <a:buNone/>
            </a:pPr>
            <a:r>
              <a:rPr lang="en-CA" dirty="0"/>
              <a:t>Include the following on your cover slide:</a:t>
            </a:r>
          </a:p>
          <a:p>
            <a:r>
              <a:rPr lang="en-CA" dirty="0"/>
              <a:t>Name of your startup/team</a:t>
            </a:r>
          </a:p>
          <a:p>
            <a:r>
              <a:rPr lang="en-CA" dirty="0"/>
              <a:t>Team members (names, titles, roles, etc.)</a:t>
            </a:r>
          </a:p>
          <a:p>
            <a:r>
              <a:rPr lang="en-CA" dirty="0"/>
              <a:t>Photos of team members or technology are allowed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713459-AF21-6B30-C834-EC7E2E1F754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n-CA" dirty="0"/>
              <a:t>COVER SLIDE</a:t>
            </a:r>
          </a:p>
        </p:txBody>
      </p:sp>
    </p:spTree>
    <p:extLst>
      <p:ext uri="{BB962C8B-B14F-4D97-AF65-F5344CB8AC3E}">
        <p14:creationId xmlns:p14="http://schemas.microsoft.com/office/powerpoint/2010/main" val="329757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CB2E6-0902-AB79-02CC-DF927C161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Provide a succinct value proposition statement for your product/service that describes (100 words max.):</a:t>
            </a:r>
          </a:p>
          <a:p>
            <a:pPr lvl="1"/>
            <a:r>
              <a:rPr lang="en-CA" dirty="0">
                <a:latin typeface="+mj-lt"/>
              </a:rPr>
              <a:t>your target customer </a:t>
            </a:r>
          </a:p>
          <a:p>
            <a:pPr lvl="1"/>
            <a:r>
              <a:rPr lang="en-CA" dirty="0">
                <a:latin typeface="+mj-lt"/>
              </a:rPr>
              <a:t>their problems</a:t>
            </a:r>
          </a:p>
          <a:p>
            <a:pPr lvl="1"/>
            <a:r>
              <a:rPr lang="en-CA" dirty="0">
                <a:latin typeface="+mj-lt"/>
              </a:rPr>
              <a:t>your product/service </a:t>
            </a:r>
          </a:p>
          <a:p>
            <a:pPr lvl="1"/>
            <a:r>
              <a:rPr lang="en-CA" dirty="0">
                <a:latin typeface="+mj-lt"/>
              </a:rPr>
              <a:t>How it will benefit them</a:t>
            </a:r>
          </a:p>
          <a:p>
            <a:r>
              <a:rPr lang="en-US" b="1" dirty="0">
                <a:solidFill>
                  <a:srgbClr val="C2B38A"/>
                </a:solidFill>
              </a:rPr>
              <a:t>Highlight </a:t>
            </a:r>
            <a:r>
              <a:rPr lang="en-US" dirty="0"/>
              <a:t>how your value proposition statement has changed based on the results of sprint #2</a:t>
            </a:r>
            <a:endParaRPr lang="en-CA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713459-AF21-6B30-C834-EC7E2E1F754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n-CA" dirty="0"/>
              <a:t>VALUE PROPOSITION STATEMENT</a:t>
            </a:r>
          </a:p>
        </p:txBody>
      </p:sp>
    </p:spTree>
    <p:extLst>
      <p:ext uri="{BB962C8B-B14F-4D97-AF65-F5344CB8AC3E}">
        <p14:creationId xmlns:p14="http://schemas.microsoft.com/office/powerpoint/2010/main" val="300633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4;p7">
            <a:extLst>
              <a:ext uri="{FF2B5EF4-FFF2-40B4-BE49-F238E27FC236}">
                <a16:creationId xmlns:a16="http://schemas.microsoft.com/office/drawing/2014/main" id="{7A72D2A5-293B-B584-2F9C-5BD5466CA27C}"/>
              </a:ext>
            </a:extLst>
          </p:cNvPr>
          <p:cNvSpPr/>
          <p:nvPr/>
        </p:nvSpPr>
        <p:spPr>
          <a:xfrm>
            <a:off x="5182627" y="312593"/>
            <a:ext cx="6626671" cy="604155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BA92F2-8560-276A-6286-9832EABE6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3" y="1862168"/>
            <a:ext cx="4124131" cy="3425100"/>
          </a:xfrm>
        </p:spPr>
        <p:txBody>
          <a:bodyPr>
            <a:noAutofit/>
          </a:bodyPr>
          <a:lstStyle/>
          <a:p>
            <a:pPr>
              <a:buClr>
                <a:srgbClr val="C3B38A"/>
              </a:buClr>
            </a:pPr>
            <a:r>
              <a:rPr lang="en-CA" sz="2000" dirty="0"/>
              <a:t>Think of all </a:t>
            </a:r>
            <a:r>
              <a:rPr lang="en-CA" sz="2000"/>
              <a:t>the organizations </a:t>
            </a:r>
            <a:r>
              <a:rPr lang="en-CA" sz="2000" dirty="0"/>
              <a:t>involved in solving the problem you are targeting</a:t>
            </a:r>
          </a:p>
          <a:p>
            <a:pPr>
              <a:buClr>
                <a:srgbClr val="C3B38A"/>
              </a:buClr>
            </a:pPr>
            <a:r>
              <a:rPr lang="en-CA" sz="2000" dirty="0"/>
              <a:t>Try to group them together and draw relationships between them as appropriate</a:t>
            </a:r>
          </a:p>
          <a:p>
            <a:pPr>
              <a:buClr>
                <a:srgbClr val="C3B38A"/>
              </a:buClr>
            </a:pPr>
            <a:r>
              <a:rPr lang="en-CA" sz="2000" dirty="0"/>
              <a:t>The is no prescriptive way to map an ecosystem</a:t>
            </a:r>
          </a:p>
          <a:p>
            <a:pPr>
              <a:buClr>
                <a:srgbClr val="C3B38A"/>
              </a:buClr>
            </a:pPr>
            <a:r>
              <a:rPr lang="en-CA" sz="2000" dirty="0"/>
              <a:t>The next slide illustrates some examples you might find useful in mapping yours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B635F000-3611-21DA-2CCA-956E116B6E7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06472" y="946588"/>
            <a:ext cx="4448100" cy="528600"/>
          </a:xfrm>
        </p:spPr>
        <p:txBody>
          <a:bodyPr/>
          <a:lstStyle/>
          <a:p>
            <a:r>
              <a:rPr lang="en-CA" dirty="0"/>
              <a:t>ECOSYSTEM MAP</a:t>
            </a:r>
          </a:p>
        </p:txBody>
      </p:sp>
      <p:sp>
        <p:nvSpPr>
          <p:cNvPr id="153" name="Google Shape;153;p24"/>
          <p:cNvSpPr/>
          <p:nvPr/>
        </p:nvSpPr>
        <p:spPr>
          <a:xfrm>
            <a:off x="5949600" y="1336323"/>
            <a:ext cx="489200" cy="319600"/>
          </a:xfrm>
          <a:prstGeom prst="rect">
            <a:avLst/>
          </a:prstGeom>
          <a:solidFill>
            <a:srgbClr val="F8D23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r>
              <a:rPr lang="en-CA" sz="667" i="1" dirty="0"/>
              <a:t>Type here</a:t>
            </a:r>
          </a:p>
        </p:txBody>
      </p:sp>
      <p:sp>
        <p:nvSpPr>
          <p:cNvPr id="154" name="Google Shape;154;p24"/>
          <p:cNvSpPr/>
          <p:nvPr/>
        </p:nvSpPr>
        <p:spPr>
          <a:xfrm>
            <a:off x="5949600" y="938556"/>
            <a:ext cx="489200" cy="3196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r>
              <a:rPr lang="en-CA" sz="667" i="1" dirty="0"/>
              <a:t>Type here</a:t>
            </a:r>
          </a:p>
        </p:txBody>
      </p:sp>
      <p:sp>
        <p:nvSpPr>
          <p:cNvPr id="155" name="Google Shape;155;p24"/>
          <p:cNvSpPr/>
          <p:nvPr/>
        </p:nvSpPr>
        <p:spPr>
          <a:xfrm>
            <a:off x="5350633" y="938556"/>
            <a:ext cx="489200" cy="3196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r>
              <a:rPr lang="en-CA" sz="667" i="1" dirty="0"/>
              <a:t>Type here</a:t>
            </a:r>
            <a:endParaRPr sz="667" i="1" dirty="0"/>
          </a:p>
        </p:txBody>
      </p:sp>
      <p:sp>
        <p:nvSpPr>
          <p:cNvPr id="156" name="Google Shape;156;p24"/>
          <p:cNvSpPr/>
          <p:nvPr/>
        </p:nvSpPr>
        <p:spPr>
          <a:xfrm>
            <a:off x="5350633" y="1336323"/>
            <a:ext cx="489200" cy="3196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r>
              <a:rPr lang="en-CA" sz="667" i="1" dirty="0"/>
              <a:t>Type here</a:t>
            </a:r>
          </a:p>
        </p:txBody>
      </p:sp>
      <p:cxnSp>
        <p:nvCxnSpPr>
          <p:cNvPr id="157" name="Google Shape;157;p24"/>
          <p:cNvCxnSpPr/>
          <p:nvPr/>
        </p:nvCxnSpPr>
        <p:spPr>
          <a:xfrm flipH="1">
            <a:off x="6548567" y="918556"/>
            <a:ext cx="249600" cy="35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" name="Google Shape;158;p24"/>
          <p:cNvSpPr/>
          <p:nvPr/>
        </p:nvSpPr>
        <p:spPr>
          <a:xfrm>
            <a:off x="6548567" y="1379027"/>
            <a:ext cx="648867" cy="234167"/>
          </a:xfrm>
          <a:custGeom>
            <a:avLst/>
            <a:gdLst/>
            <a:ahLst/>
            <a:cxnLst/>
            <a:rect l="l" t="t" r="r" b="b"/>
            <a:pathLst>
              <a:path w="19466" h="7025" extrusionOk="0">
                <a:moveTo>
                  <a:pt x="0" y="1859"/>
                </a:moveTo>
                <a:cubicBezTo>
                  <a:pt x="1048" y="2708"/>
                  <a:pt x="4143" y="7250"/>
                  <a:pt x="6289" y="6950"/>
                </a:cubicBezTo>
                <a:cubicBezTo>
                  <a:pt x="8435" y="6651"/>
                  <a:pt x="10682" y="312"/>
                  <a:pt x="12878" y="62"/>
                </a:cubicBezTo>
                <a:cubicBezTo>
                  <a:pt x="15074" y="-187"/>
                  <a:pt x="18368" y="4555"/>
                  <a:pt x="19466" y="5453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pPr defTabSz="1219170"/>
            <a:endParaRPr lang="en-CA" sz="1867"/>
          </a:p>
        </p:txBody>
      </p:sp>
      <p:sp>
        <p:nvSpPr>
          <p:cNvPr id="159" name="Google Shape;159;p24"/>
          <p:cNvSpPr/>
          <p:nvPr/>
        </p:nvSpPr>
        <p:spPr>
          <a:xfrm>
            <a:off x="6907933" y="868623"/>
            <a:ext cx="179600" cy="189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3134" y="1104874"/>
            <a:ext cx="489197" cy="227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260567" y="744889"/>
            <a:ext cx="437067" cy="437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8033" y="1181956"/>
            <a:ext cx="359600" cy="35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5;p7">
            <a:extLst>
              <a:ext uri="{FF2B5EF4-FFF2-40B4-BE49-F238E27FC236}">
                <a16:creationId xmlns:a16="http://schemas.microsoft.com/office/drawing/2014/main" id="{9BC6366D-6EA2-4DC4-8B83-C4FCF84EAD9E}"/>
              </a:ext>
            </a:extLst>
          </p:cNvPr>
          <p:cNvSpPr txBox="1"/>
          <p:nvPr/>
        </p:nvSpPr>
        <p:spPr>
          <a:xfrm>
            <a:off x="5247994" y="393248"/>
            <a:ext cx="1169544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 b="1" i="1" dirty="0"/>
              <a:t>Here are a few boxes and shapes you can use to get started</a:t>
            </a:r>
            <a:endParaRPr sz="700" b="1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C869BA-4F0B-6785-55C3-A997CAED9C7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007390" y="290270"/>
            <a:ext cx="9237000" cy="528600"/>
          </a:xfrm>
        </p:spPr>
        <p:txBody>
          <a:bodyPr/>
          <a:lstStyle/>
          <a:p>
            <a:r>
              <a:rPr lang="en-CA" dirty="0"/>
              <a:t>ECOSYSTEM MAP EXAMPLES</a:t>
            </a:r>
          </a:p>
        </p:txBody>
      </p:sp>
      <p:pic>
        <p:nvPicPr>
          <p:cNvPr id="5" name="Google Shape;168;p25">
            <a:extLst>
              <a:ext uri="{FF2B5EF4-FFF2-40B4-BE49-F238E27FC236}">
                <a16:creationId xmlns:a16="http://schemas.microsoft.com/office/drawing/2014/main" id="{4A060B77-0B53-4919-7087-ED0C77630D8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12387" b="29501"/>
          <a:stretch/>
        </p:blipFill>
        <p:spPr>
          <a:xfrm>
            <a:off x="6383307" y="1054362"/>
            <a:ext cx="4941652" cy="248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0;p25">
            <a:extLst>
              <a:ext uri="{FF2B5EF4-FFF2-40B4-BE49-F238E27FC236}">
                <a16:creationId xmlns:a16="http://schemas.microsoft.com/office/drawing/2014/main" id="{EB3E4340-9719-936F-AE9A-AE003D085F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9669" y="1046224"/>
            <a:ext cx="4752392" cy="248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diagram of a diagram&#10;&#10;Description automatically generated">
            <a:extLst>
              <a:ext uri="{FF2B5EF4-FFF2-40B4-BE49-F238E27FC236}">
                <a16:creationId xmlns:a16="http://schemas.microsoft.com/office/drawing/2014/main" id="{76928D9E-E828-13A7-DC50-BBF8D141E9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17" r="5502"/>
          <a:stretch/>
        </p:blipFill>
        <p:spPr>
          <a:xfrm>
            <a:off x="1119669" y="3693816"/>
            <a:ext cx="4752392" cy="28925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6960AD-0E3B-0D9D-082E-A70F05757F7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442"/>
          <a:stretch/>
        </p:blipFill>
        <p:spPr>
          <a:xfrm>
            <a:off x="6383307" y="3684486"/>
            <a:ext cx="4941652" cy="289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03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37"/>
          <p:cNvCxnSpPr/>
          <p:nvPr/>
        </p:nvCxnSpPr>
        <p:spPr>
          <a:xfrm>
            <a:off x="6096000" y="858400"/>
            <a:ext cx="0" cy="456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62845D-5B38-5F74-3430-331C800E402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528391" y="2076773"/>
            <a:ext cx="5029403" cy="3425100"/>
          </a:xfrm>
        </p:spPr>
        <p:txBody>
          <a:bodyPr>
            <a:noAutofit/>
          </a:bodyPr>
          <a:lstStyle/>
          <a:p>
            <a:pPr marL="88900" indent="0">
              <a:buNone/>
            </a:pPr>
            <a:r>
              <a:rPr lang="en-CA" dirty="0"/>
              <a:t>For Example:</a:t>
            </a:r>
          </a:p>
          <a:p>
            <a:r>
              <a:rPr lang="en-CA" dirty="0"/>
              <a:t>Tools used for outreach</a:t>
            </a:r>
          </a:p>
          <a:p>
            <a:r>
              <a:rPr lang="en-CA" dirty="0"/>
              <a:t>Events attended</a:t>
            </a:r>
          </a:p>
          <a:p>
            <a:r>
              <a:rPr lang="en-CA" dirty="0"/>
              <a:t>Updates to invitation message or interview script</a:t>
            </a:r>
          </a:p>
          <a:p>
            <a:endParaRPr lang="en-CA" dirty="0"/>
          </a:p>
        </p:txBody>
      </p:sp>
      <p:sp>
        <p:nvSpPr>
          <p:cNvPr id="207" name="Google Shape;207;p37"/>
          <p:cNvSpPr txBox="1">
            <a:spLocks noGrp="1"/>
          </p:cNvSpPr>
          <p:nvPr>
            <p:ph type="ctrTitle" idx="4294967295"/>
          </p:nvPr>
        </p:nvSpPr>
        <p:spPr>
          <a:xfrm>
            <a:off x="340243" y="582871"/>
            <a:ext cx="5422604" cy="132556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ctr"/>
            <a:r>
              <a:rPr lang="en-CA" sz="2800" b="1" dirty="0">
                <a:solidFill>
                  <a:srgbClr val="C2B38A"/>
                </a:solidFill>
                <a:latin typeface="+mj-lt"/>
              </a:rPr>
              <a:t>Objectives for Sprint #2</a:t>
            </a:r>
            <a:endParaRPr sz="2800" b="1" dirty="0">
              <a:solidFill>
                <a:srgbClr val="C2B38A"/>
              </a:solidFill>
              <a:latin typeface="+mj-lt"/>
            </a:endParaRPr>
          </a:p>
        </p:txBody>
      </p:sp>
      <p:sp>
        <p:nvSpPr>
          <p:cNvPr id="208" name="Google Shape;208;p37"/>
          <p:cNvSpPr txBox="1">
            <a:spLocks noGrp="1"/>
          </p:cNvSpPr>
          <p:nvPr>
            <p:ph type="title" idx="4294967295"/>
          </p:nvPr>
        </p:nvSpPr>
        <p:spPr>
          <a:xfrm>
            <a:off x="6429154" y="577445"/>
            <a:ext cx="5422599" cy="1325562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CA" sz="2800" b="1" dirty="0">
                <a:solidFill>
                  <a:srgbClr val="C2B38A"/>
                </a:solidFill>
                <a:latin typeface="+mj-lt"/>
              </a:rPr>
              <a:t>What I did to Achieve Them</a:t>
            </a:r>
            <a:endParaRPr sz="2800" b="1" dirty="0">
              <a:solidFill>
                <a:srgbClr val="C2B38A"/>
              </a:solidFill>
              <a:latin typeface="+mj-lt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04C3A30D-7AFD-BCF9-7F38-D2578C662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063" y="2076450"/>
            <a:ext cx="4432300" cy="3425825"/>
          </a:xfrm>
        </p:spPr>
        <p:txBody>
          <a:bodyPr>
            <a:noAutofit/>
          </a:bodyPr>
          <a:lstStyle/>
          <a:p>
            <a:pPr marL="88900" indent="0">
              <a:buNone/>
            </a:pPr>
            <a:r>
              <a:rPr lang="en-CA" dirty="0"/>
              <a:t>For Example:</a:t>
            </a:r>
          </a:p>
          <a:p>
            <a:r>
              <a:rPr lang="en-CA" dirty="0"/>
              <a:t>Hypothesis to be tested</a:t>
            </a:r>
          </a:p>
          <a:p>
            <a:r>
              <a:rPr lang="en-CA" dirty="0"/>
              <a:t>Experiments or key questions</a:t>
            </a:r>
          </a:p>
          <a:p>
            <a:r>
              <a:rPr lang="en-CA" dirty="0"/>
              <a:t>Outreach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62CB1C-8200-2E8E-BCF7-DA44CBFCF7E8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n-CA" dirty="0"/>
              <a:t>NUMBER OF INTERVIEWS</a:t>
            </a:r>
          </a:p>
        </p:txBody>
      </p:sp>
      <p:graphicFrame>
        <p:nvGraphicFramePr>
          <p:cNvPr id="216" name="Google Shape;216;p38"/>
          <p:cNvGraphicFramePr/>
          <p:nvPr>
            <p:extLst>
              <p:ext uri="{D42A27DB-BD31-4B8C-83A1-F6EECF244321}">
                <p14:modId xmlns:p14="http://schemas.microsoft.com/office/powerpoint/2010/main" val="3952341612"/>
              </p:ext>
            </p:extLst>
          </p:nvPr>
        </p:nvGraphicFramePr>
        <p:xfrm>
          <a:off x="1618149" y="2190449"/>
          <a:ext cx="8940302" cy="3593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6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9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9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91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91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6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CA" sz="13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people have you contacted?</a:t>
                      </a:r>
                      <a:endParaRPr sz="13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3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people have answered you?</a:t>
                      </a:r>
                      <a:endParaRPr sz="13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3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Calculate your response rate (%)</a:t>
                      </a:r>
                      <a:endParaRPr sz="13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CA" sz="1300" b="1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interviews completed</a:t>
                      </a:r>
                      <a:endParaRPr sz="1300" b="1" dirty="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3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interviews scheduled but not yet completed</a:t>
                      </a:r>
                      <a:endParaRPr sz="13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3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references obtained</a:t>
                      </a:r>
                      <a:endParaRPr sz="13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3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New Interviews (since the last sprint)</a:t>
                      </a:r>
                      <a:endParaRPr sz="25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 dirty="0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0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3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=</a:t>
                      </a:r>
                      <a:endParaRPr sz="25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 dirty="0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700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>
            <a:spLocks noGrp="1"/>
          </p:cNvSpPr>
          <p:nvPr>
            <p:ph type="body" idx="1"/>
          </p:nvPr>
        </p:nvSpPr>
        <p:spPr>
          <a:xfrm>
            <a:off x="1007390" y="1978090"/>
            <a:ext cx="10357296" cy="4180106"/>
          </a:xfrm>
          <a:prstGeom prst="rect">
            <a:avLst/>
          </a:prstGeom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342900" indent="-342900">
              <a:buClr>
                <a:srgbClr val="C2B38A"/>
              </a:buClr>
            </a:pPr>
            <a:r>
              <a:rPr lang="en-CA" sz="1800" dirty="0"/>
              <a:t>Complete at least one of the following hypothesis test learning slides for the interviews completed during sprint #2:</a:t>
            </a:r>
          </a:p>
          <a:p>
            <a:pPr marL="800100" lvl="1" indent="-342900">
              <a:buClr>
                <a:srgbClr val="C3B38A"/>
              </a:buClr>
              <a:buFont typeface="Courier New" panose="02070309020205020404" pitchFamily="49" charset="0"/>
              <a:buChar char="o"/>
            </a:pPr>
            <a:r>
              <a:rPr lang="en-CA" sz="1600" dirty="0"/>
              <a:t>Identify your customer segment (be as precise as possible)</a:t>
            </a:r>
          </a:p>
          <a:p>
            <a:pPr marL="800100" lvl="1" indent="-342900">
              <a:buClr>
                <a:srgbClr val="C3B38A"/>
              </a:buClr>
              <a:buFont typeface="Courier New" panose="02070309020205020404" pitchFamily="49" charset="0"/>
              <a:buChar char="o"/>
            </a:pPr>
            <a:r>
              <a:rPr lang="en-CA" sz="1600" dirty="0"/>
              <a:t>Identify the application area or industry related to the customer segment</a:t>
            </a:r>
          </a:p>
          <a:p>
            <a:pPr marL="800100" lvl="1" indent="-342900">
              <a:buClr>
                <a:srgbClr val="C3B38A"/>
              </a:buClr>
              <a:buFont typeface="Courier New" panose="02070309020205020404" pitchFamily="49" charset="0"/>
              <a:buChar char="o"/>
            </a:pPr>
            <a:r>
              <a:rPr lang="en-CA" sz="1600" dirty="0"/>
              <a:t>Provide the number of interviews conducted related specifically to testing this hypothesis</a:t>
            </a:r>
          </a:p>
          <a:p>
            <a:pPr marL="800100" lvl="1" indent="-342900">
              <a:buClr>
                <a:srgbClr val="C3B38A"/>
              </a:buClr>
              <a:buFont typeface="Courier New" panose="02070309020205020404" pitchFamily="49" charset="0"/>
              <a:buChar char="o"/>
            </a:pPr>
            <a:r>
              <a:rPr lang="en-CA" sz="1600" dirty="0"/>
              <a:t>Describe the hypothesis that was tested</a:t>
            </a:r>
          </a:p>
          <a:p>
            <a:pPr marL="800100" lvl="1" indent="-342900">
              <a:buClr>
                <a:srgbClr val="C3B38A"/>
              </a:buClr>
              <a:buFont typeface="Courier New" panose="02070309020205020404" pitchFamily="49" charset="0"/>
              <a:buChar char="o"/>
            </a:pPr>
            <a:r>
              <a:rPr lang="en-CA" sz="1600" dirty="0"/>
              <a:t>Indicate using a circle whether the hypothesis was validated</a:t>
            </a:r>
          </a:p>
          <a:p>
            <a:pPr marL="800100" lvl="1" indent="-342900">
              <a:buClr>
                <a:srgbClr val="C3B38A"/>
              </a:buClr>
              <a:buFont typeface="Courier New" panose="02070309020205020404" pitchFamily="49" charset="0"/>
              <a:buChar char="o"/>
            </a:pPr>
            <a:r>
              <a:rPr lang="en-CA" sz="1600" dirty="0"/>
              <a:t>Discuss your learnings and any insights gained; feel free to add quotes directly from your interviews </a:t>
            </a:r>
          </a:p>
          <a:p>
            <a:pPr marL="800100" lvl="1" indent="-342900">
              <a:buClr>
                <a:srgbClr val="C3B38A"/>
              </a:buClr>
              <a:buFont typeface="Courier New" panose="02070309020205020404" pitchFamily="49" charset="0"/>
              <a:buChar char="o"/>
            </a:pPr>
            <a:r>
              <a:rPr lang="en-CA" sz="1600" dirty="0"/>
              <a:t>Discuss the impact of what you have learned on your next steps (e.g. new hypotheses, different customer segments, etc.)</a:t>
            </a:r>
          </a:p>
          <a:p>
            <a:pPr marL="342900" indent="-342900">
              <a:buClr>
                <a:srgbClr val="C3B38A"/>
              </a:buClr>
            </a:pPr>
            <a:r>
              <a:rPr lang="en-CA" sz="1800" dirty="0"/>
              <a:t>An example is provided of what is expected</a:t>
            </a:r>
          </a:p>
          <a:p>
            <a:pPr marL="342900" indent="-342900">
              <a:buClr>
                <a:srgbClr val="C3B38A"/>
              </a:buClr>
            </a:pPr>
            <a:r>
              <a:rPr lang="en-CA" sz="1800" dirty="0"/>
              <a:t>Make a copy of the blank template before completing if you plan to present more than one hypothesis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670FC6B-104D-1925-0395-E8EC12053CFB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007389" y="1083370"/>
            <a:ext cx="9974741" cy="528600"/>
          </a:xfrm>
        </p:spPr>
        <p:txBody>
          <a:bodyPr/>
          <a:lstStyle/>
          <a:p>
            <a:r>
              <a:rPr lang="en-CA" dirty="0"/>
              <a:t>INSTRUCTIONS FOR HYPOTHESIS SLIDES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/>
          <p:nvPr/>
        </p:nvSpPr>
        <p:spPr>
          <a:xfrm>
            <a:off x="7642667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/>
            <a:r>
              <a:rPr lang="en-CA" sz="1867" b="1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 sz="1867" b="1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42"/>
          <p:cNvSpPr txBox="1"/>
          <p:nvPr/>
        </p:nvSpPr>
        <p:spPr>
          <a:xfrm>
            <a:off x="8791800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/>
            <a:r>
              <a:rPr lang="en-CA" sz="1867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sz="1867"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42"/>
          <p:cNvSpPr txBox="1"/>
          <p:nvPr/>
        </p:nvSpPr>
        <p:spPr>
          <a:xfrm>
            <a:off x="7767500" y="0"/>
            <a:ext cx="6648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/>
            <a:r>
              <a:rPr lang="en-CA" sz="1867">
                <a:latin typeface="Roboto Light"/>
                <a:ea typeface="Roboto Light"/>
                <a:cs typeface="Roboto Light"/>
                <a:sym typeface="Roboto Light"/>
              </a:rPr>
              <a:t>2</a:t>
            </a:r>
            <a:endParaRPr sz="1867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1" name="Google Shape;251;p42"/>
          <p:cNvSpPr txBox="1"/>
          <p:nvPr/>
        </p:nvSpPr>
        <p:spPr>
          <a:xfrm>
            <a:off x="96733" y="977133"/>
            <a:ext cx="7148400" cy="1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/>
            <a:r>
              <a:rPr lang="en-CA" sz="1867" i="1" dirty="0">
                <a:latin typeface="Roboto Light"/>
                <a:ea typeface="Roboto Light"/>
                <a:cs typeface="Roboto Light"/>
                <a:sym typeface="Roboto Light"/>
              </a:rPr>
              <a:t>We believe that nurses struggle to measure the patient’s vital signs due to the bulkiness of hospital equipment.  </a:t>
            </a:r>
            <a:endParaRPr sz="1867" i="1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2" name="Google Shape;252;p42"/>
          <p:cNvSpPr txBox="1"/>
          <p:nvPr/>
        </p:nvSpPr>
        <p:spPr>
          <a:xfrm>
            <a:off x="9607700" y="977133"/>
            <a:ext cx="2517200" cy="1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defTabSz="1219170">
              <a:buSzPct val="78571"/>
            </a:pPr>
            <a:r>
              <a:rPr lang="en-CA" sz="1867" i="1">
                <a:latin typeface="Roboto Light"/>
                <a:ea typeface="Roboto Light"/>
                <a:cs typeface="Roboto Light"/>
                <a:sym typeface="Roboto Light"/>
              </a:rPr>
              <a:t>For this customer segment the </a:t>
            </a:r>
            <a:r>
              <a:rPr lang="en-CA" sz="1867" b="1" i="1">
                <a:latin typeface="Roboto"/>
                <a:ea typeface="Roboto"/>
                <a:cs typeface="Roboto"/>
                <a:sym typeface="Roboto"/>
              </a:rPr>
              <a:t>user </a:t>
            </a:r>
            <a:r>
              <a:rPr lang="en-CA" sz="1867" i="1">
                <a:latin typeface="Roboto Light"/>
                <a:ea typeface="Roboto Light"/>
                <a:cs typeface="Roboto Light"/>
                <a:sym typeface="Roboto Light"/>
              </a:rPr>
              <a:t>of my solution is not the same as my </a:t>
            </a:r>
            <a:r>
              <a:rPr lang="en-CA" sz="1867" b="1" i="1">
                <a:latin typeface="Roboto"/>
                <a:ea typeface="Roboto"/>
                <a:cs typeface="Roboto"/>
                <a:sym typeface="Roboto"/>
              </a:rPr>
              <a:t>customer</a:t>
            </a:r>
            <a:endParaRPr sz="1867" b="1"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42"/>
          <p:cNvSpPr txBox="1"/>
          <p:nvPr/>
        </p:nvSpPr>
        <p:spPr>
          <a:xfrm>
            <a:off x="96733" y="2793733"/>
            <a:ext cx="7148400" cy="3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239993" indent="-245527" defTabSz="1219170">
              <a:buSzPts val="1400"/>
              <a:buFont typeface="Roboto Light"/>
              <a:buAutoNum type="arabicPeriod"/>
            </a:pPr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Nurses </a:t>
            </a:r>
            <a:r>
              <a:rPr lang="en-CA" sz="1867" dirty="0" err="1">
                <a:latin typeface="Roboto Light"/>
                <a:ea typeface="Roboto Light"/>
                <a:cs typeface="Roboto Light"/>
                <a:sym typeface="Roboto Light"/>
              </a:rPr>
              <a:t>approx</a:t>
            </a:r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 spend the first 10 minutes of their interaction with a patient moving around equipment to be able to take a patient's vital signs.</a:t>
            </a:r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239993" indent="-245527" defTabSz="1219170">
              <a:buSzPts val="1400"/>
              <a:buFont typeface="Roboto Light"/>
              <a:buAutoNum type="arabicPeriod"/>
            </a:pPr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The equipment currently available only allows the nurse to check the patient’s vital sign directly from the equipment connected to the patient.</a:t>
            </a:r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239993" indent="-245527" defTabSz="1219170">
              <a:buSzPts val="1400"/>
              <a:buFont typeface="Roboto Light"/>
              <a:buAutoNum type="arabicPeriod"/>
            </a:pPr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One nurse said: </a:t>
            </a:r>
            <a:r>
              <a:rPr lang="en-CA" sz="1867" i="1" dirty="0">
                <a:latin typeface="Roboto Light"/>
                <a:ea typeface="Roboto Light"/>
                <a:cs typeface="Roboto Light"/>
                <a:sym typeface="Roboto Light"/>
              </a:rPr>
              <a:t>“when I come see a patient the first thing I need to do is take their vital signs, usually I need to check the equipment and I make sure I have easy access to the patient. That always takes some time! It is very annoying… and some of the equipment we have here is quite outdated…”</a:t>
            </a:r>
            <a:endParaRPr sz="1867" i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239993" indent="-245527" defTabSz="1219170">
              <a:buSzPts val="1400"/>
              <a:buFont typeface="Roboto Light"/>
              <a:buAutoNum type="arabicPeriod"/>
            </a:pPr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Nurses are not the decision maker for the solution I am building. </a:t>
            </a:r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4" name="Google Shape;254;p42"/>
          <p:cNvSpPr txBox="1"/>
          <p:nvPr/>
        </p:nvSpPr>
        <p:spPr>
          <a:xfrm>
            <a:off x="7351400" y="2700967"/>
            <a:ext cx="4773600" cy="21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/>
            <a:r>
              <a:rPr lang="en-CA" sz="1867">
                <a:latin typeface="Roboto Light"/>
                <a:ea typeface="Roboto Light"/>
                <a:cs typeface="Roboto Light"/>
                <a:sym typeface="Roboto Light"/>
              </a:rPr>
              <a:t>I will contact 20 hospital administrators to validate if the problem is important enough for them as it is for the nurses</a:t>
            </a:r>
            <a:endParaRPr sz="1867">
              <a:latin typeface="Roboto Light"/>
              <a:ea typeface="Roboto Light"/>
              <a:cs typeface="Roboto Light"/>
              <a:sym typeface="Roboto Light"/>
            </a:endParaRPr>
          </a:p>
          <a:p>
            <a:pPr defTabSz="1219170"/>
            <a:endParaRPr sz="1867">
              <a:latin typeface="Roboto Light"/>
              <a:ea typeface="Roboto Light"/>
              <a:cs typeface="Roboto Light"/>
              <a:sym typeface="Roboto Light"/>
            </a:endParaRPr>
          </a:p>
          <a:p>
            <a:pPr defTabSz="1219170"/>
            <a:endParaRPr sz="1867">
              <a:latin typeface="Roboto Light"/>
              <a:ea typeface="Roboto Light"/>
              <a:cs typeface="Roboto Light"/>
              <a:sym typeface="Roboto Light"/>
            </a:endParaRPr>
          </a:p>
          <a:p>
            <a:pPr defTabSz="1219170"/>
            <a:endParaRPr sz="1867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9607700" y="0"/>
            <a:ext cx="25172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>
              <a:buSzPts val="1100"/>
            </a:pPr>
            <a:r>
              <a:rPr lang="en-CA" sz="1867">
                <a:latin typeface="Roboto Light"/>
                <a:ea typeface="Roboto Light"/>
                <a:cs typeface="Roboto Light"/>
                <a:sym typeface="Roboto Light"/>
              </a:rPr>
              <a:t>Healthcare</a:t>
            </a:r>
            <a:endParaRPr sz="1867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2335349" y="65316"/>
            <a:ext cx="3305600" cy="466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85000" lnSpcReduction="20000"/>
          </a:bodyPr>
          <a:lstStyle/>
          <a:p>
            <a:pPr defTabSz="1219170">
              <a:lnSpc>
                <a:spcPct val="110000"/>
              </a:lnSpc>
            </a:pPr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Nurses in medium-size hospitals</a:t>
            </a:r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7" name="Google Shape;257;p42"/>
          <p:cNvSpPr/>
          <p:nvPr/>
        </p:nvSpPr>
        <p:spPr>
          <a:xfrm>
            <a:off x="7418267" y="1063567"/>
            <a:ext cx="835600" cy="835200"/>
          </a:xfrm>
          <a:prstGeom prst="ellipse">
            <a:avLst/>
          </a:prstGeom>
          <a:noFill/>
          <a:ln w="28575" cap="flat" cmpd="sng">
            <a:solidFill>
              <a:srgbClr val="0059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067">
              <a:solidFill>
                <a:srgbClr val="888888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/>
        </p:nvSpPr>
        <p:spPr>
          <a:xfrm>
            <a:off x="7642667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/>
            <a:r>
              <a:rPr lang="en-CA" sz="1867" b="1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 sz="1867" b="1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43"/>
          <p:cNvSpPr txBox="1"/>
          <p:nvPr/>
        </p:nvSpPr>
        <p:spPr>
          <a:xfrm>
            <a:off x="8791800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/>
            <a:r>
              <a:rPr lang="en-CA" sz="1867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sz="1867"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43"/>
          <p:cNvSpPr txBox="1"/>
          <p:nvPr/>
        </p:nvSpPr>
        <p:spPr>
          <a:xfrm>
            <a:off x="7767500" y="0"/>
            <a:ext cx="6648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/>
            <a:r>
              <a:rPr lang="en-CA" sz="1867">
                <a:latin typeface="Roboto Light"/>
                <a:ea typeface="Roboto Light"/>
                <a:cs typeface="Roboto Light"/>
                <a:sym typeface="Roboto Light"/>
              </a:rPr>
              <a:t>n</a:t>
            </a:r>
            <a:endParaRPr sz="1867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6" name="Google Shape;266;p43"/>
          <p:cNvSpPr txBox="1"/>
          <p:nvPr/>
        </p:nvSpPr>
        <p:spPr>
          <a:xfrm>
            <a:off x="96733" y="977133"/>
            <a:ext cx="7148400" cy="1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/>
            <a:r>
              <a:rPr lang="en-CA" sz="1867" i="1" dirty="0">
                <a:latin typeface="Roboto Light"/>
                <a:ea typeface="Roboto Light"/>
                <a:cs typeface="Roboto Light"/>
                <a:sym typeface="Roboto Light"/>
              </a:rPr>
              <a:t>Add hypothesis here</a:t>
            </a:r>
            <a:endParaRPr sz="1867" i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defTabSz="1219170"/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7" name="Google Shape;267;p43"/>
          <p:cNvSpPr txBox="1"/>
          <p:nvPr/>
        </p:nvSpPr>
        <p:spPr>
          <a:xfrm>
            <a:off x="9607700" y="977133"/>
            <a:ext cx="2517200" cy="1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>
              <a:buSzPts val="1100"/>
            </a:pPr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Type here</a:t>
            </a:r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8" name="Google Shape;268;p43"/>
          <p:cNvSpPr txBox="1"/>
          <p:nvPr/>
        </p:nvSpPr>
        <p:spPr>
          <a:xfrm>
            <a:off x="96733" y="2793733"/>
            <a:ext cx="7148400" cy="3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239993" indent="-245527" defTabSz="1219170">
              <a:buSzPts val="1400"/>
              <a:buFont typeface="Roboto Light"/>
              <a:buAutoNum type="arabicPeriod"/>
            </a:pPr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…</a:t>
            </a:r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239993" indent="-245527" defTabSz="1219170">
              <a:buSzPts val="1400"/>
              <a:buFont typeface="Roboto Light"/>
              <a:buAutoNum type="arabicPeriod"/>
            </a:pPr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…</a:t>
            </a:r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239993" indent="-245527" defTabSz="1219170">
              <a:buSzPts val="1400"/>
              <a:buFont typeface="Roboto Light"/>
              <a:buAutoNum type="arabicPeriod"/>
            </a:pPr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…</a:t>
            </a:r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9" name="Google Shape;269;p43"/>
          <p:cNvSpPr txBox="1"/>
          <p:nvPr/>
        </p:nvSpPr>
        <p:spPr>
          <a:xfrm>
            <a:off x="7351400" y="2700967"/>
            <a:ext cx="4773600" cy="21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/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Discuss next steps here</a:t>
            </a:r>
            <a:endParaRPr sz="2800" dirty="0">
              <a:solidFill>
                <a:srgbClr val="202124"/>
              </a:solidFill>
              <a:highlight>
                <a:srgbClr val="F8F9FA"/>
              </a:highlight>
            </a:endParaRPr>
          </a:p>
          <a:p>
            <a:pPr defTabSz="1219170"/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0" name="Google Shape;270;p43"/>
          <p:cNvSpPr txBox="1"/>
          <p:nvPr/>
        </p:nvSpPr>
        <p:spPr>
          <a:xfrm>
            <a:off x="9607700" y="0"/>
            <a:ext cx="25172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>
              <a:buSzPts val="1100"/>
            </a:pPr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Type here</a:t>
            </a:r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1" name="Google Shape;271;p43"/>
          <p:cNvSpPr/>
          <p:nvPr/>
        </p:nvSpPr>
        <p:spPr>
          <a:xfrm>
            <a:off x="8018875" y="500250"/>
            <a:ext cx="835600" cy="835200"/>
          </a:xfrm>
          <a:prstGeom prst="ellipse">
            <a:avLst/>
          </a:prstGeom>
          <a:noFill/>
          <a:ln w="28575" cap="flat" cmpd="sng">
            <a:solidFill>
              <a:srgbClr val="0059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067" dirty="0">
              <a:solidFill>
                <a:srgbClr val="888888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72" name="Google Shape;272;p43"/>
          <p:cNvSpPr txBox="1"/>
          <p:nvPr/>
        </p:nvSpPr>
        <p:spPr>
          <a:xfrm>
            <a:off x="2341984" y="0"/>
            <a:ext cx="3494916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/>
            <a:r>
              <a:rPr lang="en-CA" sz="1867" dirty="0">
                <a:latin typeface="Roboto Light"/>
                <a:ea typeface="Roboto Light"/>
                <a:cs typeface="Roboto Light"/>
                <a:sym typeface="Roboto Light"/>
              </a:rPr>
              <a:t>Type here</a:t>
            </a:r>
            <a:endParaRPr sz="1867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>
            <a:spLocks noGrp="1"/>
          </p:cNvSpPr>
          <p:nvPr>
            <p:ph type="body" idx="1"/>
          </p:nvPr>
        </p:nvSpPr>
        <p:spPr>
          <a:xfrm>
            <a:off x="1007390" y="1978090"/>
            <a:ext cx="10357296" cy="4180106"/>
          </a:xfrm>
          <a:prstGeom prst="rect">
            <a:avLst/>
          </a:prstGeom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342900" indent="-342900">
              <a:buClr>
                <a:srgbClr val="C2B38A"/>
              </a:buClr>
            </a:pPr>
            <a:r>
              <a:rPr lang="en-CA" sz="1800" dirty="0"/>
              <a:t>Using the template on the next slide, provide an updated version of your business model canvas </a:t>
            </a:r>
          </a:p>
          <a:p>
            <a:pPr marL="342900" indent="-342900">
              <a:buClr>
                <a:srgbClr val="C2B38A"/>
              </a:buClr>
            </a:pPr>
            <a:r>
              <a:rPr lang="en-CA" sz="1800" dirty="0"/>
              <a:t>Updates should be based on the interview results from the last sprint </a:t>
            </a:r>
          </a:p>
          <a:p>
            <a:pPr marL="342900" indent="-342900">
              <a:buClr>
                <a:srgbClr val="C3B38A"/>
              </a:buClr>
            </a:pPr>
            <a:r>
              <a:rPr lang="en-CA" sz="1800" dirty="0"/>
              <a:t>Focus on the sections of your canvas related to the hypotheses you tested</a:t>
            </a:r>
          </a:p>
          <a:p>
            <a:pPr marL="342900" indent="-342900">
              <a:buClr>
                <a:srgbClr val="C3B38A"/>
              </a:buClr>
            </a:pPr>
            <a:r>
              <a:rPr lang="en-CA" sz="1800" b="1" dirty="0">
                <a:solidFill>
                  <a:srgbClr val="C2B38A"/>
                </a:solidFill>
              </a:rPr>
              <a:t>Highlight </a:t>
            </a:r>
            <a:r>
              <a:rPr lang="en-CA" sz="1800" dirty="0"/>
              <a:t>areas that have changed from the last iteration of your canvas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670FC6B-104D-1925-0395-E8EC12053CFB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007389" y="1083370"/>
            <a:ext cx="9974741" cy="528600"/>
          </a:xfrm>
        </p:spPr>
        <p:txBody>
          <a:bodyPr/>
          <a:lstStyle/>
          <a:p>
            <a:r>
              <a:rPr lang="en-CA" dirty="0"/>
              <a:t>INSTRUCTIONS FOR BMC</a:t>
            </a:r>
          </a:p>
        </p:txBody>
      </p:sp>
    </p:spTree>
    <p:extLst>
      <p:ext uri="{BB962C8B-B14F-4D97-AF65-F5344CB8AC3E}">
        <p14:creationId xmlns:p14="http://schemas.microsoft.com/office/powerpoint/2010/main" val="2692928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/>
        </p:nvSpPr>
        <p:spPr>
          <a:xfrm>
            <a:off x="60960" y="950975"/>
            <a:ext cx="2316800" cy="28768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defTabSz="1219170">
              <a:buSzPts val="1000"/>
            </a:pPr>
            <a:r>
              <a:rPr lang="en-CA" sz="1333" dirty="0">
                <a:solidFill>
                  <a:schemeClr val="tx1"/>
                </a:solidFill>
              </a:rPr>
              <a:t>Type here</a:t>
            </a:r>
            <a:endParaRPr sz="1333" dirty="0">
              <a:solidFill>
                <a:schemeClr val="tx1"/>
              </a:solidFill>
            </a:endParaRPr>
          </a:p>
        </p:txBody>
      </p:sp>
      <p:sp>
        <p:nvSpPr>
          <p:cNvPr id="229" name="Google Shape;229;p40"/>
          <p:cNvSpPr txBox="1"/>
          <p:nvPr/>
        </p:nvSpPr>
        <p:spPr>
          <a:xfrm>
            <a:off x="7376160" y="950976"/>
            <a:ext cx="2316800" cy="16092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defTabSz="1219170">
              <a:buSzPts val="1000"/>
            </a:pPr>
            <a:r>
              <a:rPr lang="en-CA" sz="1333" dirty="0">
                <a:solidFill>
                  <a:schemeClr val="tx1"/>
                </a:solidFill>
              </a:rPr>
              <a:t>Type here</a:t>
            </a:r>
          </a:p>
        </p:txBody>
      </p:sp>
      <p:sp>
        <p:nvSpPr>
          <p:cNvPr id="230" name="Google Shape;230;p40"/>
          <p:cNvSpPr txBox="1"/>
          <p:nvPr/>
        </p:nvSpPr>
        <p:spPr>
          <a:xfrm>
            <a:off x="7376160" y="2980944"/>
            <a:ext cx="2316800" cy="16724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defTabSz="1219170">
              <a:buSzPts val="1000"/>
            </a:pPr>
            <a:endParaRPr sz="1333">
              <a:solidFill>
                <a:srgbClr val="002060"/>
              </a:solidFill>
            </a:endParaRPr>
          </a:p>
        </p:txBody>
      </p:sp>
      <p:sp>
        <p:nvSpPr>
          <p:cNvPr id="231" name="Google Shape;231;p40"/>
          <p:cNvSpPr txBox="1"/>
          <p:nvPr/>
        </p:nvSpPr>
        <p:spPr>
          <a:xfrm>
            <a:off x="4937760" y="950976"/>
            <a:ext cx="2316800" cy="22292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defTabSz="1219170">
              <a:buSzPts val="1000"/>
            </a:pPr>
            <a:r>
              <a:rPr lang="en-CA" sz="1333" dirty="0">
                <a:solidFill>
                  <a:schemeClr val="tx1"/>
                </a:solidFill>
              </a:rPr>
              <a:t>Type here</a:t>
            </a:r>
          </a:p>
        </p:txBody>
      </p:sp>
      <p:sp>
        <p:nvSpPr>
          <p:cNvPr id="232" name="Google Shape;232;p40"/>
          <p:cNvSpPr txBox="1"/>
          <p:nvPr/>
        </p:nvSpPr>
        <p:spPr>
          <a:xfrm>
            <a:off x="2499360" y="2980944"/>
            <a:ext cx="2316800" cy="12152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defTabSz="1219170">
              <a:buSzPts val="1000"/>
            </a:pPr>
            <a:r>
              <a:rPr lang="en-CA" sz="1333" dirty="0">
                <a:solidFill>
                  <a:schemeClr val="tx1"/>
                </a:solidFill>
              </a:rPr>
              <a:t>Type here</a:t>
            </a:r>
          </a:p>
        </p:txBody>
      </p:sp>
      <p:sp>
        <p:nvSpPr>
          <p:cNvPr id="233" name="Google Shape;233;p40"/>
          <p:cNvSpPr txBox="1"/>
          <p:nvPr/>
        </p:nvSpPr>
        <p:spPr>
          <a:xfrm>
            <a:off x="9814560" y="950976"/>
            <a:ext cx="2316800" cy="19000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defTabSz="1219170">
              <a:buSzPts val="1000"/>
            </a:pPr>
            <a:r>
              <a:rPr lang="en-CA" sz="1333" dirty="0">
                <a:solidFill>
                  <a:schemeClr val="tx1"/>
                </a:solidFill>
              </a:rPr>
              <a:t>Type here</a:t>
            </a:r>
          </a:p>
        </p:txBody>
      </p:sp>
      <p:sp>
        <p:nvSpPr>
          <p:cNvPr id="234" name="Google Shape;234;p40"/>
          <p:cNvSpPr txBox="1"/>
          <p:nvPr/>
        </p:nvSpPr>
        <p:spPr>
          <a:xfrm>
            <a:off x="2499360" y="1014983"/>
            <a:ext cx="2316800" cy="11400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defTabSz="1219170">
              <a:buSzPts val="1000"/>
            </a:pPr>
            <a:r>
              <a:rPr lang="en-CA" sz="1333" dirty="0">
                <a:solidFill>
                  <a:schemeClr val="tx1"/>
                </a:solidFill>
              </a:rPr>
              <a:t>Type here</a:t>
            </a:r>
          </a:p>
        </p:txBody>
      </p:sp>
      <p:sp>
        <p:nvSpPr>
          <p:cNvPr id="235" name="Google Shape;235;p40"/>
          <p:cNvSpPr txBox="1"/>
          <p:nvPr/>
        </p:nvSpPr>
        <p:spPr>
          <a:xfrm>
            <a:off x="7376160" y="2850976"/>
            <a:ext cx="2316800" cy="16092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defTabSz="1219170">
              <a:buSzPts val="1000"/>
            </a:pPr>
            <a:r>
              <a:rPr lang="en-CA" sz="1333" dirty="0">
                <a:solidFill>
                  <a:schemeClr val="tx1"/>
                </a:solidFill>
              </a:rPr>
              <a:t>Type here</a:t>
            </a:r>
          </a:p>
        </p:txBody>
      </p:sp>
      <p:sp>
        <p:nvSpPr>
          <p:cNvPr id="236" name="Google Shape;236;p40"/>
          <p:cNvSpPr txBox="1"/>
          <p:nvPr/>
        </p:nvSpPr>
        <p:spPr>
          <a:xfrm>
            <a:off x="60960" y="4864777"/>
            <a:ext cx="2316800" cy="12152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defTabSz="1219170">
              <a:buSzPts val="1000"/>
            </a:pPr>
            <a:r>
              <a:rPr lang="en-CA" sz="1333" dirty="0">
                <a:solidFill>
                  <a:schemeClr val="tx1"/>
                </a:solidFill>
              </a:rPr>
              <a:t>Type here</a:t>
            </a:r>
          </a:p>
        </p:txBody>
      </p:sp>
      <p:sp>
        <p:nvSpPr>
          <p:cNvPr id="237" name="Google Shape;237;p40"/>
          <p:cNvSpPr txBox="1"/>
          <p:nvPr/>
        </p:nvSpPr>
        <p:spPr>
          <a:xfrm>
            <a:off x="6173393" y="4864777"/>
            <a:ext cx="2316800" cy="12152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defTabSz="1219170">
              <a:buSzPts val="1000"/>
            </a:pPr>
            <a:r>
              <a:rPr lang="en-CA" sz="1333" dirty="0">
                <a:solidFill>
                  <a:schemeClr val="tx1"/>
                </a:solidFill>
              </a:rPr>
              <a:t>Type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DD2B83-EBAE-CBD2-6E9E-CB8F16DE8CE8}"/>
              </a:ext>
            </a:extLst>
          </p:cNvPr>
          <p:cNvSpPr txBox="1"/>
          <p:nvPr/>
        </p:nvSpPr>
        <p:spPr>
          <a:xfrm>
            <a:off x="3829050" y="152400"/>
            <a:ext cx="2924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6F6F6"/>
                </a:solidFill>
              </a:rPr>
              <a:t>Type name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9AF49D-C571-A33F-CC04-D82A793C9D2B}"/>
              </a:ext>
            </a:extLst>
          </p:cNvPr>
          <p:cNvSpPr txBox="1"/>
          <p:nvPr/>
        </p:nvSpPr>
        <p:spPr>
          <a:xfrm>
            <a:off x="11115675" y="152399"/>
            <a:ext cx="1015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6F6F6"/>
                </a:solidFill>
              </a:rPr>
              <a:t>Type #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F9B027-11C9-E84D-1461-CFFFC322A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390" y="1750188"/>
            <a:ext cx="9237000" cy="528600"/>
          </a:xfrm>
        </p:spPr>
        <p:txBody>
          <a:bodyPr>
            <a:noAutofit/>
          </a:bodyPr>
          <a:lstStyle/>
          <a:p>
            <a:r>
              <a:rPr lang="en-CA" sz="2000" dirty="0"/>
              <a:t>List your next hypotheses, the stakeholders you must interview to test them, and what questions you will ask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6A36215-5573-91FE-51B1-A5760BF70C5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n-CA" dirty="0"/>
              <a:t>PLAN FOR SPRINT #3</a:t>
            </a:r>
          </a:p>
        </p:txBody>
      </p:sp>
      <p:sp>
        <p:nvSpPr>
          <p:cNvPr id="174" name="Google Shape;174;p27"/>
          <p:cNvSpPr txBox="1"/>
          <p:nvPr/>
        </p:nvSpPr>
        <p:spPr>
          <a:xfrm>
            <a:off x="0" y="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/>
            <a:endParaRPr sz="1867"/>
          </a:p>
        </p:txBody>
      </p:sp>
      <p:graphicFrame>
        <p:nvGraphicFramePr>
          <p:cNvPr id="176" name="Google Shape;176;p27"/>
          <p:cNvGraphicFramePr/>
          <p:nvPr>
            <p:extLst>
              <p:ext uri="{D42A27DB-BD31-4B8C-83A1-F6EECF244321}">
                <p14:modId xmlns:p14="http://schemas.microsoft.com/office/powerpoint/2010/main" val="1651973038"/>
              </p:ext>
            </p:extLst>
          </p:nvPr>
        </p:nvGraphicFramePr>
        <p:xfrm>
          <a:off x="521200" y="2748171"/>
          <a:ext cx="11149599" cy="3216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16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6533">
                  <a:extLst>
                    <a:ext uri="{9D8B030D-6E8A-4147-A177-3AD203B41FA5}">
                      <a16:colId xmlns:a16="http://schemas.microsoft.com/office/drawing/2014/main" val="1101931326"/>
                    </a:ext>
                  </a:extLst>
                </a:gridCol>
                <a:gridCol w="3716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19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2500" b="1" dirty="0">
                          <a:solidFill>
                            <a:srgbClr val="FFFFFF"/>
                          </a:solidFill>
                        </a:rPr>
                        <a:t>Hypotheses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3B3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2500" b="1" dirty="0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3B3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2500" b="1" dirty="0">
                          <a:solidFill>
                            <a:srgbClr val="FFFFFF"/>
                          </a:solidFill>
                        </a:rPr>
                        <a:t>Questions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3B3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121900" marR="121900" marT="121900" marB="1219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500" dirty="0">
                        <a:solidFill>
                          <a:srgbClr val="000000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121900" marR="121900" marT="121900" marB="1219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50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121900" marR="121900" marT="121900" marB="121900">
                    <a:lnL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5445</TotalTime>
  <Words>732</Words>
  <Application>Microsoft Office PowerPoint</Application>
  <PresentationFormat>Widescreen</PresentationFormat>
  <Paragraphs>100</Paragraphs>
  <Slides>12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Roboto</vt:lpstr>
      <vt:lpstr>Courier New</vt:lpstr>
      <vt:lpstr>Roboto Medium</vt:lpstr>
      <vt:lpstr>Arial</vt:lpstr>
      <vt:lpstr>Calibri</vt:lpstr>
      <vt:lpstr>Caveat</vt:lpstr>
      <vt:lpstr>Roboto Light</vt:lpstr>
      <vt:lpstr>11_Office Theme</vt:lpstr>
      <vt:lpstr>2_Office Theme</vt:lpstr>
      <vt:lpstr>1_Simple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Objectives for Sprint #2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 Sol (Grace) Lee</dc:creator>
  <cp:lastModifiedBy>Martin Croteau</cp:lastModifiedBy>
  <cp:revision>257</cp:revision>
  <dcterms:created xsi:type="dcterms:W3CDTF">2021-01-11T22:00:44Z</dcterms:created>
  <dcterms:modified xsi:type="dcterms:W3CDTF">2023-08-14T17:12:41Z</dcterms:modified>
</cp:coreProperties>
</file>