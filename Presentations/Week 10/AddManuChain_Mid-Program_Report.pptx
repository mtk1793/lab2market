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71" r:id="rId5"/>
    <p:sldId id="261" r:id="rId6"/>
    <p:sldId id="264" r:id="rId7"/>
    <p:sldId id="272" r:id="rId8"/>
    <p:sldId id="273" r:id="rId9"/>
    <p:sldId id="274" r:id="rId10"/>
    <p:sldId id="265" r:id="rId11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41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9A533E-FD55-4BA8-95D4-E56FC20A949C}" v="2" dt="2026-03-12T17:15:37.296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984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MOOD TK" userId="a40e5abc836a5a69" providerId="LiveId" clId="{F20D0978-9CD1-4C48-87F2-5CADA8FF8DEF}"/>
    <pc:docChg chg="undo custSel modSld sldOrd">
      <pc:chgData name="MAHMOOD TK" userId="a40e5abc836a5a69" providerId="LiveId" clId="{F20D0978-9CD1-4C48-87F2-5CADA8FF8DEF}" dt="2026-03-12T17:46:05.528" v="53"/>
      <pc:docMkLst>
        <pc:docMk/>
      </pc:docMkLst>
      <pc:sldChg chg="modSp mod">
        <pc:chgData name="MAHMOOD TK" userId="a40e5abc836a5a69" providerId="LiveId" clId="{F20D0978-9CD1-4C48-87F2-5CADA8FF8DEF}" dt="2026-03-12T17:15:39.889" v="37" actId="113"/>
        <pc:sldMkLst>
          <pc:docMk/>
          <pc:sldMk cId="0" sldId="257"/>
        </pc:sldMkLst>
        <pc:spChg chg="mod">
          <ac:chgData name="MAHMOOD TK" userId="a40e5abc836a5a69" providerId="LiveId" clId="{F20D0978-9CD1-4C48-87F2-5CADA8FF8DEF}" dt="2026-03-12T17:15:27.551" v="32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MAHMOOD TK" userId="a40e5abc836a5a69" providerId="LiveId" clId="{F20D0978-9CD1-4C48-87F2-5CADA8FF8DEF}" dt="2026-03-12T17:15:39.889" v="37" actId="113"/>
          <ac:spMkLst>
            <pc:docMk/>
            <pc:sldMk cId="0" sldId="257"/>
            <ac:spMk id="9" creationId="{00000000-0000-0000-0000-000000000000}"/>
          </ac:spMkLst>
        </pc:spChg>
      </pc:sldChg>
      <pc:sldChg chg="ord">
        <pc:chgData name="MAHMOOD TK" userId="a40e5abc836a5a69" providerId="LiveId" clId="{F20D0978-9CD1-4C48-87F2-5CADA8FF8DEF}" dt="2026-03-12T17:46:05.528" v="53"/>
        <pc:sldMkLst>
          <pc:docMk/>
          <pc:sldMk cId="1690159483" sldId="264"/>
        </pc:sldMkLst>
      </pc:sldChg>
      <pc:sldChg chg="addSp modSp mod">
        <pc:chgData name="MAHMOOD TK" userId="a40e5abc836a5a69" providerId="LiveId" clId="{F20D0978-9CD1-4C48-87F2-5CADA8FF8DEF}" dt="2026-03-12T17:25:00.732" v="51" actId="20577"/>
        <pc:sldMkLst>
          <pc:docMk/>
          <pc:sldMk cId="0" sldId="274"/>
        </pc:sldMkLst>
        <pc:spChg chg="mod">
          <ac:chgData name="MAHMOOD TK" userId="a40e5abc836a5a69" providerId="LiveId" clId="{F20D0978-9CD1-4C48-87F2-5CADA8FF8DEF}" dt="2026-03-12T17:25:00.732" v="51" actId="20577"/>
          <ac:spMkLst>
            <pc:docMk/>
            <pc:sldMk cId="0" sldId="274"/>
            <ac:spMk id="8" creationId="{00000000-0000-0000-0000-000000000000}"/>
          </ac:spMkLst>
        </pc:spChg>
        <pc:spChg chg="mod">
          <ac:chgData name="MAHMOOD TK" userId="a40e5abc836a5a69" providerId="LiveId" clId="{F20D0978-9CD1-4C48-87F2-5CADA8FF8DEF}" dt="2026-03-12T17:23:38.607" v="40" actId="1076"/>
          <ac:spMkLst>
            <pc:docMk/>
            <pc:sldMk cId="0" sldId="274"/>
            <ac:spMk id="15" creationId="{00000000-0000-0000-0000-000000000000}"/>
          </ac:spMkLst>
        </pc:spChg>
        <pc:spChg chg="mod">
          <ac:chgData name="MAHMOOD TK" userId="a40e5abc836a5a69" providerId="LiveId" clId="{F20D0978-9CD1-4C48-87F2-5CADA8FF8DEF}" dt="2026-03-12T17:23:35.294" v="38" actId="20577"/>
          <ac:spMkLst>
            <pc:docMk/>
            <pc:sldMk cId="0" sldId="274"/>
            <ac:spMk id="17" creationId="{00000000-0000-0000-0000-000000000000}"/>
          </ac:spMkLst>
        </pc:spChg>
        <pc:spChg chg="add mod">
          <ac:chgData name="MAHMOOD TK" userId="a40e5abc836a5a69" providerId="LiveId" clId="{F20D0978-9CD1-4C48-87F2-5CADA8FF8DEF}" dt="2026-03-12T17:23:43.585" v="41" actId="1076"/>
          <ac:spMkLst>
            <pc:docMk/>
            <pc:sldMk cId="0" sldId="274"/>
            <ac:spMk id="34" creationId="{1A0A4D16-6DBB-CD74-5009-48CBD49879E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988CE7-08F9-4C18-9D57-318C23B7B394}" type="datetimeFigureOut">
              <a:rPr lang="en-CA" smtClean="0"/>
              <a:t>2026-03-12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2B124-E06D-404C-8EB2-7A7AC5A3AB2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66116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2B124-E06D-404C-8EB2-7A7AC5A3AB2E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2480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193C1-CA0D-8433-8FB3-3CD086758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D1D050-CF4D-AF4A-7024-BA4F1ABBB4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1ADBE-0B8A-54C0-4828-AB8388089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1B6CA-C5FA-0AD5-8649-CF811D6B4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42B124-E06D-404C-8EB2-7A7AC5A3AB2E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7623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>
  <p:cSld name="Content">
    <p:bg>
      <p:bgPr>
        <a:solidFill>
          <a:srgbClr val="F5F8FA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1"/>
          <p:cNvSpPr txBox="1">
            <a:spLocks noGrp="1"/>
          </p:cNvSpPr>
          <p:nvPr>
            <p:ph type="body" idx="1"/>
          </p:nvPr>
        </p:nvSpPr>
        <p:spPr>
          <a:xfrm>
            <a:off x="1343187" y="2769031"/>
            <a:ext cx="12316000" cy="45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91054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933">
                <a:latin typeface="Arial"/>
                <a:ea typeface="Arial"/>
                <a:cs typeface="Arial"/>
                <a:sym typeface="Arial"/>
              </a:defRPr>
            </a:lvl1pPr>
            <a:lvl2pPr marL="1219170" lvl="1" indent="-474121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2pPr>
            <a:lvl3pPr marL="1828754" lvl="2" indent="-304792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/>
            </a:lvl3pPr>
            <a:lvl4pPr marL="2438339" lvl="3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31"/>
          <p:cNvSpPr txBox="1">
            <a:spLocks noGrp="1"/>
          </p:cNvSpPr>
          <p:nvPr>
            <p:ph type="subTitle" idx="2"/>
          </p:nvPr>
        </p:nvSpPr>
        <p:spPr>
          <a:xfrm>
            <a:off x="1343187" y="1444493"/>
            <a:ext cx="12316000" cy="7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sz="4800" b="1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/>
            </a:lvl2pPr>
            <a:lvl3pPr lvl="2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4pPr>
            <a:lvl5pPr lvl="4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5pPr>
            <a:lvl6pPr lvl="5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6pPr>
            <a:lvl7pPr lvl="6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7pPr>
            <a:lvl8pPr lvl="7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8pPr>
            <a:lvl9pPr lvl="8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9pPr>
          </a:lstStyle>
          <a:p>
            <a:endParaRPr/>
          </a:p>
        </p:txBody>
      </p:sp>
      <p:cxnSp>
        <p:nvCxnSpPr>
          <p:cNvPr id="18" name="Google Shape;18;p31"/>
          <p:cNvCxnSpPr/>
          <p:nvPr/>
        </p:nvCxnSpPr>
        <p:spPr>
          <a:xfrm rot="10800000">
            <a:off x="1720400" y="8857005"/>
            <a:ext cx="14535600" cy="0"/>
          </a:xfrm>
          <a:prstGeom prst="straightConnector1">
            <a:avLst/>
          </a:prstGeom>
          <a:noFill/>
          <a:ln w="12700" cap="flat" cmpd="sng">
            <a:solidFill>
              <a:srgbClr val="3E3E3E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9" name="Google Shape;19;p31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3649" y="8388355"/>
            <a:ext cx="1227876" cy="5010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52930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>
  <p:cSld name="Image and content">
    <p:bg>
      <p:bgPr>
        <a:solidFill>
          <a:srgbClr val="F5F8FA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>
            <a:spLocks noGrp="1"/>
          </p:cNvSpPr>
          <p:nvPr>
            <p:ph type="body" idx="1"/>
          </p:nvPr>
        </p:nvSpPr>
        <p:spPr>
          <a:xfrm>
            <a:off x="1343188" y="2769031"/>
            <a:ext cx="5930800" cy="45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609585" lvl="0" indent="-491054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933">
                <a:latin typeface="Arial"/>
                <a:ea typeface="Arial"/>
                <a:cs typeface="Arial"/>
                <a:sym typeface="Arial"/>
              </a:defRPr>
            </a:lvl1pPr>
            <a:lvl2pPr marL="1219170" lvl="1" indent="-491054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933"/>
            </a:lvl2pPr>
            <a:lvl3pPr marL="1828754" lvl="2" indent="-474121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667"/>
            </a:lvl3pPr>
            <a:lvl4pPr marL="2438339" lvl="3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3047924" lvl="4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3657509" lvl="5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subTitle" idx="2"/>
          </p:nvPr>
        </p:nvSpPr>
        <p:spPr>
          <a:xfrm>
            <a:off x="1343188" y="1444493"/>
            <a:ext cx="5930800" cy="7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rgbClr val="C3B38A"/>
              </a:buClr>
              <a:buSzPts val="3600"/>
              <a:buNone/>
              <a:defRPr sz="4800" b="1">
                <a:solidFill>
                  <a:srgbClr val="C3B38A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667"/>
            </a:lvl2pPr>
            <a:lvl3pPr lvl="2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4pPr>
            <a:lvl5pPr lvl="4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5pPr>
            <a:lvl6pPr lvl="5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6pPr>
            <a:lvl7pPr lvl="6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7pPr>
            <a:lvl8pPr lvl="7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8pPr>
            <a:lvl9pPr lvl="8" algn="ctr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133"/>
            </a:lvl9pPr>
          </a:lstStyle>
          <a:p>
            <a:endParaRPr/>
          </a:p>
        </p:txBody>
      </p:sp>
      <p:cxnSp>
        <p:nvCxnSpPr>
          <p:cNvPr id="23" name="Google Shape;23;p32"/>
          <p:cNvCxnSpPr/>
          <p:nvPr/>
        </p:nvCxnSpPr>
        <p:spPr>
          <a:xfrm rot="10800000">
            <a:off x="1720400" y="8857005"/>
            <a:ext cx="14535600" cy="0"/>
          </a:xfrm>
          <a:prstGeom prst="straightConnector1">
            <a:avLst/>
          </a:prstGeom>
          <a:noFill/>
          <a:ln w="12700" cap="flat" cmpd="sng">
            <a:solidFill>
              <a:srgbClr val="3E3E3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2"/>
          <p:cNvSpPr>
            <a:spLocks noGrp="1"/>
          </p:cNvSpPr>
          <p:nvPr>
            <p:ph type="clipArt" idx="3"/>
          </p:nvPr>
        </p:nvSpPr>
        <p:spPr>
          <a:xfrm>
            <a:off x="8128000" y="0"/>
            <a:ext cx="8128000" cy="914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  <p:pic>
        <p:nvPicPr>
          <p:cNvPr id="25" name="Google Shape;25;p32" descr="Icon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3649" y="8388355"/>
            <a:ext cx="1227876" cy="5010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2815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0268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6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jpe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E42A1D3-F07A-8C16-B922-C998AC8E13EE}"/>
              </a:ext>
            </a:extLst>
          </p:cNvPr>
          <p:cNvSpPr/>
          <p:nvPr/>
        </p:nvSpPr>
        <p:spPr>
          <a:xfrm>
            <a:off x="355600" y="5410200"/>
            <a:ext cx="8915400" cy="3352800"/>
          </a:xfrm>
          <a:prstGeom prst="roundRect">
            <a:avLst/>
          </a:pr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028" name="Picture 4" descr="profile image">
            <a:extLst>
              <a:ext uri="{FF2B5EF4-FFF2-40B4-BE49-F238E27FC236}">
                <a16:creationId xmlns:a16="http://schemas.microsoft.com/office/drawing/2014/main" id="{1CC1F280-E090-E112-746D-2BFD7C94D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652" y="4953000"/>
            <a:ext cx="3511296" cy="351129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file photo of Alireza VAHEDI NEMANI, Ph.D.">
            <a:extLst>
              <a:ext uri="{FF2B5EF4-FFF2-40B4-BE49-F238E27FC236}">
                <a16:creationId xmlns:a16="http://schemas.microsoft.com/office/drawing/2014/main" id="{5F0465DD-4595-C990-D9EA-8869C69FB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40" y="5067300"/>
            <a:ext cx="1760474" cy="176047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ofile photo of Hamed Aly">
            <a:extLst>
              <a:ext uri="{FF2B5EF4-FFF2-40B4-BE49-F238E27FC236}">
                <a16:creationId xmlns:a16="http://schemas.microsoft.com/office/drawing/2014/main" id="{2B80DC53-7E9F-F0E5-1C36-B650B82213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49" y="6877050"/>
            <a:ext cx="1885950" cy="18859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rofile photo of Carol Bartlett (She/Her/Hers) 🏳️‍🌈">
            <a:extLst>
              <a:ext uri="{FF2B5EF4-FFF2-40B4-BE49-F238E27FC236}">
                <a16:creationId xmlns:a16="http://schemas.microsoft.com/office/drawing/2014/main" id="{96818A23-EBA1-0E86-39DB-69304F34C2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5070348"/>
            <a:ext cx="1943100" cy="19431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rofile photo of Dwayne Hopkins">
            <a:extLst>
              <a:ext uri="{FF2B5EF4-FFF2-40B4-BE49-F238E27FC236}">
                <a16:creationId xmlns:a16="http://schemas.microsoft.com/office/drawing/2014/main" id="{91E2CA1F-D993-27C3-0B1F-B78B4FE7CA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6450" y="7117080"/>
            <a:ext cx="1943100" cy="19431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Brilliant - The Dal Bookstore">
            <a:extLst>
              <a:ext uri="{FF2B5EF4-FFF2-40B4-BE49-F238E27FC236}">
                <a16:creationId xmlns:a16="http://schemas.microsoft.com/office/drawing/2014/main" id="{D922F592-6E1B-571A-7DE2-3064182096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9614" y="8054964"/>
            <a:ext cx="3432111" cy="1416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11B8608-DBF8-E886-AF35-48D2B91CBF57}"/>
              </a:ext>
            </a:extLst>
          </p:cNvPr>
          <p:cNvSpPr/>
          <p:nvPr/>
        </p:nvSpPr>
        <p:spPr>
          <a:xfrm>
            <a:off x="747649" y="3124200"/>
            <a:ext cx="9666351" cy="1842516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1C4BCE-6A08-2251-CA61-98A5158F85C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600" y="3261699"/>
            <a:ext cx="6705600" cy="1490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960" y="8745728"/>
            <a:ext cx="15118080" cy="0"/>
          </a:xfrm>
          <a:prstGeom prst="line">
            <a:avLst/>
          </a:prstGeom>
          <a:noFill/>
          <a:ln w="19050">
            <a:solidFill>
              <a:srgbClr val="B5975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3" name="Text 1"/>
          <p:cNvSpPr/>
          <p:nvPr/>
        </p:nvSpPr>
        <p:spPr>
          <a:xfrm>
            <a:off x="487680" y="8745728"/>
            <a:ext cx="16256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8960" y="357632"/>
            <a:ext cx="1511808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45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Thesis</a:t>
            </a:r>
            <a:endParaRPr lang="en-US" sz="6045" dirty="0"/>
          </a:p>
        </p:txBody>
      </p:sp>
      <p:sp>
        <p:nvSpPr>
          <p:cNvPr id="5" name="Shape 3"/>
          <p:cNvSpPr/>
          <p:nvPr/>
        </p:nvSpPr>
        <p:spPr>
          <a:xfrm>
            <a:off x="568960" y="1463040"/>
            <a:ext cx="8940800" cy="699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6" name="Shape 4"/>
          <p:cNvSpPr/>
          <p:nvPr/>
        </p:nvSpPr>
        <p:spPr>
          <a:xfrm>
            <a:off x="568960" y="1463040"/>
            <a:ext cx="113792" cy="6990080"/>
          </a:xfrm>
          <a:prstGeom prst="rect">
            <a:avLst/>
          </a:prstGeom>
          <a:solidFill>
            <a:srgbClr val="B5975A"/>
          </a:solidFill>
          <a:ln w="12700">
            <a:solidFill>
              <a:srgbClr val="B5975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7" name="Text 5"/>
          <p:cNvSpPr/>
          <p:nvPr/>
        </p:nvSpPr>
        <p:spPr>
          <a:xfrm>
            <a:off x="894080" y="1544320"/>
            <a:ext cx="829056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311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Proposition:</a:t>
            </a:r>
            <a:endParaRPr lang="en-US" sz="2311" dirty="0"/>
          </a:p>
        </p:txBody>
      </p:sp>
      <p:sp>
        <p:nvSpPr>
          <p:cNvPr id="8" name="Text 6"/>
          <p:cNvSpPr/>
          <p:nvPr/>
        </p:nvSpPr>
        <p:spPr>
          <a:xfrm>
            <a:off x="894080" y="2113280"/>
            <a:ext cx="8290560" cy="3413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industrial operators 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gas, maritime, naval, utilities, Aerospace 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a broken spare parts process —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inventory 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capital-locked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legacy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systems don't know what they actually have, and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sourcing 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weeks.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AddManuChain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an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digital inventory platform 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normalises parts data across fragmented systems, connects operators to certified AM facilities on demand, and delivers every part with a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Birth Certificate 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full traceability. Turn spare parts from a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liability 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a </a:t>
            </a:r>
            <a:r>
              <a:rPr lang="en-US" sz="2222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certified, intelligent, on-demand service</a:t>
            </a:r>
            <a:r>
              <a:rPr lang="en-US" sz="2222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22" dirty="0"/>
          </a:p>
        </p:txBody>
      </p:sp>
      <p:sp>
        <p:nvSpPr>
          <p:cNvPr id="9" name="Text 7"/>
          <p:cNvSpPr/>
          <p:nvPr/>
        </p:nvSpPr>
        <p:spPr>
          <a:xfrm>
            <a:off x="894080" y="5722112"/>
            <a:ext cx="829056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44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customer:  </a:t>
            </a:r>
            <a:r>
              <a:rPr lang="en-US" sz="204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operators: O&amp;G · Maritime · Naval · Utilities - 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</a:t>
            </a:r>
            <a:endParaRPr lang="en-US" sz="2044" dirty="0"/>
          </a:p>
        </p:txBody>
      </p:sp>
      <p:sp>
        <p:nvSpPr>
          <p:cNvPr id="10" name="Text 8"/>
          <p:cNvSpPr/>
          <p:nvPr/>
        </p:nvSpPr>
        <p:spPr>
          <a:xfrm>
            <a:off x="894080" y="6339840"/>
            <a:ext cx="829056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44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problem:  </a:t>
            </a:r>
            <a:r>
              <a:rPr lang="en-US" sz="204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Downtime $100K–$2M/day; inventory is wrong &amp; capital-locked</a:t>
            </a:r>
            <a:endParaRPr lang="en-US" sz="2044" dirty="0"/>
          </a:p>
        </p:txBody>
      </p:sp>
      <p:sp>
        <p:nvSpPr>
          <p:cNvPr id="11" name="Text 9"/>
          <p:cNvSpPr/>
          <p:nvPr/>
        </p:nvSpPr>
        <p:spPr>
          <a:xfrm>
            <a:off x="894080" y="6957568"/>
            <a:ext cx="829056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44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product:  </a:t>
            </a:r>
            <a:r>
              <a:rPr lang="en-US" sz="204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normalisation + certified AM sourcing + Digital Birth Certificate + Digital Ecosystem/Inventory</a:t>
            </a:r>
            <a:endParaRPr lang="en-US" sz="2044" dirty="0"/>
          </a:p>
        </p:txBody>
      </p:sp>
      <p:sp>
        <p:nvSpPr>
          <p:cNvPr id="12" name="Text 10"/>
          <p:cNvSpPr/>
          <p:nvPr/>
        </p:nvSpPr>
        <p:spPr>
          <a:xfrm>
            <a:off x="894080" y="7575296"/>
            <a:ext cx="8290560" cy="56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/>
            <a:r>
              <a:rPr lang="en-US" sz="2000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 </a:t>
            </a: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you have. Get what you need — certified, fast, traceable</a:t>
            </a:r>
            <a:r>
              <a:rPr lang="en-US" sz="2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753600" y="1463040"/>
            <a:ext cx="6014720" cy="699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14" name="Shape 12"/>
          <p:cNvSpPr/>
          <p:nvPr/>
        </p:nvSpPr>
        <p:spPr>
          <a:xfrm>
            <a:off x="9753600" y="1463040"/>
            <a:ext cx="113792" cy="6990080"/>
          </a:xfrm>
          <a:prstGeom prst="rect">
            <a:avLst/>
          </a:prstGeom>
          <a:solidFill>
            <a:srgbClr val="D4860A"/>
          </a:solidFill>
          <a:ln w="12700">
            <a:solidFill>
              <a:srgbClr val="D4860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15" name="Text 13"/>
          <p:cNvSpPr/>
          <p:nvPr/>
        </p:nvSpPr>
        <p:spPr>
          <a:xfrm>
            <a:off x="9997440" y="1544320"/>
            <a:ext cx="5608320" cy="520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— Sprint #1 → Sprint #2</a:t>
            </a:r>
            <a:endParaRPr lang="en-US" sz="2133" dirty="0"/>
          </a:p>
        </p:txBody>
      </p:sp>
      <p:sp>
        <p:nvSpPr>
          <p:cNvPr id="16" name="Text 14"/>
          <p:cNvSpPr/>
          <p:nvPr/>
        </p:nvSpPr>
        <p:spPr>
          <a:xfrm>
            <a:off x="9997440" y="2194560"/>
            <a:ext cx="5608320" cy="699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6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
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operators → Mid-size only</a:t>
            </a:r>
            <a:endParaRPr lang="en-US" sz="1956" dirty="0"/>
          </a:p>
        </p:txBody>
      </p:sp>
      <p:sp>
        <p:nvSpPr>
          <p:cNvPr id="17" name="Text 15"/>
          <p:cNvSpPr/>
          <p:nvPr/>
        </p:nvSpPr>
        <p:spPr>
          <a:xfrm>
            <a:off x="9997440" y="2942336"/>
            <a:ext cx="5608320" cy="699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6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Framing:
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savings → Downtime avoided</a:t>
            </a:r>
            <a:endParaRPr lang="en-US" sz="1956" dirty="0"/>
          </a:p>
        </p:txBody>
      </p:sp>
      <p:sp>
        <p:nvSpPr>
          <p:cNvPr id="18" name="Text 16"/>
          <p:cNvSpPr/>
          <p:nvPr/>
        </p:nvSpPr>
        <p:spPr>
          <a:xfrm>
            <a:off x="9997440" y="3690112"/>
            <a:ext cx="5608320" cy="699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6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Mining:
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study → ❌ Poor fit confirmed</a:t>
            </a:r>
            <a:endParaRPr lang="en-US" sz="1956" dirty="0"/>
          </a:p>
        </p:txBody>
      </p:sp>
      <p:sp>
        <p:nvSpPr>
          <p:cNvPr id="19" name="Text 17"/>
          <p:cNvSpPr/>
          <p:nvPr/>
        </p:nvSpPr>
        <p:spPr>
          <a:xfrm>
            <a:off x="9997440" y="4437888"/>
            <a:ext cx="5608320" cy="699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6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opener:
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'Here's our platform' → 'If this existed—would you use it?'</a:t>
            </a:r>
            <a:endParaRPr lang="en-US" sz="1956" dirty="0"/>
          </a:p>
        </p:txBody>
      </p:sp>
      <p:sp>
        <p:nvSpPr>
          <p:cNvPr id="20" name="Text 18"/>
          <p:cNvSpPr/>
          <p:nvPr/>
        </p:nvSpPr>
        <p:spPr>
          <a:xfrm>
            <a:off x="9997440" y="5185664"/>
            <a:ext cx="5608320" cy="699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6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role:
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→ Central product layer</a:t>
            </a:r>
            <a:endParaRPr lang="en-US" sz="1956" dirty="0"/>
          </a:p>
        </p:txBody>
      </p:sp>
      <p:sp>
        <p:nvSpPr>
          <p:cNvPr id="21" name="Text 19"/>
          <p:cNvSpPr/>
          <p:nvPr/>
        </p:nvSpPr>
        <p:spPr>
          <a:xfrm>
            <a:off x="9997440" y="5933440"/>
            <a:ext cx="5608320" cy="699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6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product:
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→ AI parts normalisation (standalone)</a:t>
            </a:r>
            <a:endParaRPr lang="en-US" sz="1956" dirty="0"/>
          </a:p>
        </p:txBody>
      </p:sp>
      <p:sp>
        <p:nvSpPr>
          <p:cNvPr id="22" name="Text 20"/>
          <p:cNvSpPr/>
          <p:nvPr/>
        </p:nvSpPr>
        <p:spPr>
          <a:xfrm>
            <a:off x="9997440" y="6681216"/>
            <a:ext cx="5608320" cy="699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56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sector:
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O&amp;G, naval → + Maritime shipping + Aerospace</a:t>
            </a:r>
            <a:endParaRPr lang="en-US" sz="195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"/>
          <p:cNvSpPr txBox="1">
            <a:spLocks noGrp="1"/>
          </p:cNvSpPr>
          <p:nvPr>
            <p:ph type="subTitle" idx="2"/>
          </p:nvPr>
        </p:nvSpPr>
        <p:spPr>
          <a:xfrm>
            <a:off x="431800" y="533400"/>
            <a:ext cx="5930800" cy="70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609585" indent="-541853"/>
            <a:r>
              <a:rPr lang="en-CA" dirty="0"/>
              <a:t>ECOSYSTEM MAP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9F04F7-269D-BAC1-3332-D3556844A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584" y="342900"/>
            <a:ext cx="8458200" cy="8458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960" y="8745728"/>
            <a:ext cx="15118080" cy="0"/>
          </a:xfrm>
          <a:prstGeom prst="line">
            <a:avLst/>
          </a:prstGeom>
          <a:noFill/>
          <a:ln w="19050">
            <a:solidFill>
              <a:srgbClr val="B5975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3" name="Text 1"/>
          <p:cNvSpPr/>
          <p:nvPr/>
        </p:nvSpPr>
        <p:spPr>
          <a:xfrm>
            <a:off x="487680" y="8745728"/>
            <a:ext cx="16256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87680" y="357632"/>
            <a:ext cx="747776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978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for Sprint #2</a:t>
            </a:r>
            <a:endParaRPr lang="en-US" sz="4978" dirty="0"/>
          </a:p>
        </p:txBody>
      </p:sp>
      <p:sp>
        <p:nvSpPr>
          <p:cNvPr id="5" name="Text 3"/>
          <p:cNvSpPr/>
          <p:nvPr/>
        </p:nvSpPr>
        <p:spPr>
          <a:xfrm>
            <a:off x="8371840" y="357632"/>
            <a:ext cx="739648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978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Did to Achieve Them</a:t>
            </a:r>
            <a:endParaRPr lang="en-US" sz="4978" dirty="0"/>
          </a:p>
        </p:txBody>
      </p:sp>
      <p:sp>
        <p:nvSpPr>
          <p:cNvPr id="6" name="Shape 4"/>
          <p:cNvSpPr/>
          <p:nvPr/>
        </p:nvSpPr>
        <p:spPr>
          <a:xfrm>
            <a:off x="8046720" y="1381760"/>
            <a:ext cx="0" cy="7396480"/>
          </a:xfrm>
          <a:prstGeom prst="line">
            <a:avLst/>
          </a:prstGeom>
          <a:noFill/>
          <a:ln w="1016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7" name="Text 5"/>
          <p:cNvSpPr/>
          <p:nvPr/>
        </p:nvSpPr>
        <p:spPr>
          <a:xfrm>
            <a:off x="487680" y="1430528"/>
            <a:ext cx="731520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Is c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ertification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remaining adoption barrier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(Hyp. NH.7)</a:t>
            </a:r>
          </a:p>
          <a:p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8290560" y="1430528"/>
            <a:ext cx="739648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(Saxty, Whitehouse, Butler), GE Additive, ExxonMobil (Beatty). Tyler Beatty's Value-Capability-Permission framework confirmed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the only gap. ✅</a:t>
            </a:r>
            <a:endParaRPr lang="en-US" sz="1778" dirty="0"/>
          </a:p>
        </p:txBody>
      </p:sp>
      <p:sp>
        <p:nvSpPr>
          <p:cNvPr id="9" name="Text 7"/>
          <p:cNvSpPr/>
          <p:nvPr/>
        </p:nvSpPr>
        <p:spPr>
          <a:xfrm>
            <a:off x="487680" y="2438400"/>
            <a:ext cx="731520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Are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operators the true customer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majors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(Hyp. CS.BEACHHEAD)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8290560" y="2438400"/>
            <a:ext cx="739648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CNRL (Romero), ExxonMobil (Dicken), Enbridge (Dalpe). Tier-1 majors confirmed solved by scale.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to mid-size made and acted upon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✅</a:t>
            </a:r>
            <a:endParaRPr lang="en-US" sz="1778" dirty="0"/>
          </a:p>
        </p:txBody>
      </p:sp>
      <p:sp>
        <p:nvSpPr>
          <p:cNvPr id="11" name="Text 9"/>
          <p:cNvSpPr/>
          <p:nvPr/>
        </p:nvSpPr>
        <p:spPr>
          <a:xfrm>
            <a:off x="487680" y="3446272"/>
            <a:ext cx="731520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Is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parts normalisation a standalone commercial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product? (Hyp. AI.CORE – NEW)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8290560" y="3446272"/>
            <a:ext cx="739648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Cindy Clark (WISC) — '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Problem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 identified. OMV (Chris):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'Inventory management should be fully AI-based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.' Jason Power (Noble): 'No one has accomplished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predictive-to-sourcing integration yet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.' ✅</a:t>
            </a:r>
            <a:endParaRPr lang="en-US" sz="1778" dirty="0"/>
          </a:p>
        </p:txBody>
      </p:sp>
      <p:sp>
        <p:nvSpPr>
          <p:cNvPr id="13" name="Text 11"/>
          <p:cNvSpPr/>
          <p:nvPr/>
        </p:nvSpPr>
        <p:spPr>
          <a:xfrm>
            <a:off x="487680" y="4454144"/>
            <a:ext cx="731520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Are industry associations (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WISC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 viable GTM channel? (Hyp. CH.2)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8290560" y="4454144"/>
            <a:ext cx="739648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Cindy Clark (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WISC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committed to personal aerospace intros: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WestJet, Havelin, Lufthansa Technik Calgary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✅</a:t>
            </a:r>
            <a:endParaRPr lang="en-US" sz="1778" dirty="0"/>
          </a:p>
        </p:txBody>
      </p:sp>
      <p:sp>
        <p:nvSpPr>
          <p:cNvPr id="15" name="Text 13"/>
          <p:cNvSpPr/>
          <p:nvPr/>
        </p:nvSpPr>
        <p:spPr>
          <a:xfrm>
            <a:off x="487680" y="5462016"/>
            <a:ext cx="731520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Does maritime shipping share the same spare parts pain?</a:t>
            </a:r>
            <a:endParaRPr lang="en-US" sz="1867" dirty="0"/>
          </a:p>
        </p:txBody>
      </p:sp>
      <p:sp>
        <p:nvSpPr>
          <p:cNvPr id="16" name="Text 14"/>
          <p:cNvSpPr/>
          <p:nvPr/>
        </p:nvSpPr>
        <p:spPr>
          <a:xfrm>
            <a:off x="8290560" y="5462016"/>
            <a:ext cx="739648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 Simha (MSC CDIO) — shipboard parts pain confirmed.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Pelagus 3D market signal validated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✅</a:t>
            </a:r>
            <a:endParaRPr lang="en-US" sz="1778" dirty="0"/>
          </a:p>
        </p:txBody>
      </p:sp>
      <p:sp>
        <p:nvSpPr>
          <p:cNvPr id="17" name="Text 15"/>
          <p:cNvSpPr/>
          <p:nvPr/>
        </p:nvSpPr>
        <p:spPr>
          <a:xfrm>
            <a:off x="487680" y="6469888"/>
            <a:ext cx="731520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outreach to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interviews via LinkedIn + warm referral chains</a:t>
            </a:r>
            <a:endParaRPr lang="en-US" sz="1867" b="1" dirty="0"/>
          </a:p>
        </p:txBody>
      </p:sp>
      <p:sp>
        <p:nvSpPr>
          <p:cNvPr id="18" name="Text 16"/>
          <p:cNvSpPr/>
          <p:nvPr/>
        </p:nvSpPr>
        <p:spPr>
          <a:xfrm>
            <a:off x="8290560" y="6469888"/>
            <a:ext cx="739648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 contacts messaged, 415 total in CRM. Grew from 18 → 55 completed interviews.✅</a:t>
            </a:r>
            <a:endParaRPr lang="en-US" sz="1778" dirty="0"/>
          </a:p>
        </p:txBody>
      </p:sp>
      <p:sp>
        <p:nvSpPr>
          <p:cNvPr id="19" name="Text 17"/>
          <p:cNvSpPr/>
          <p:nvPr/>
        </p:nvSpPr>
        <p:spPr>
          <a:xfrm>
            <a:off x="487680" y="7477760"/>
            <a:ext cx="7315200" cy="94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867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pitch: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reframe from 'here's our platform' to 'if this existed—would you use it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?'</a:t>
            </a:r>
            <a:endParaRPr lang="en-US" sz="186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"/>
          <p:cNvSpPr txBox="1">
            <a:spLocks noGrp="1"/>
          </p:cNvSpPr>
          <p:nvPr>
            <p:ph type="subTitle" idx="2"/>
          </p:nvPr>
        </p:nvSpPr>
        <p:spPr>
          <a:xfrm>
            <a:off x="1343187" y="1444493"/>
            <a:ext cx="12316000" cy="704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t" anchorCtr="0">
            <a:noAutofit/>
          </a:bodyPr>
          <a:lstStyle/>
          <a:p>
            <a:pPr marL="609585" indent="-541853"/>
            <a:r>
              <a:rPr lang="en-CA"/>
              <a:t>NUMBER OF INTERVIEWS</a:t>
            </a:r>
            <a:endParaRPr/>
          </a:p>
        </p:txBody>
      </p:sp>
      <p:graphicFrame>
        <p:nvGraphicFramePr>
          <p:cNvPr id="341" name="Google Shape;341;p5"/>
          <p:cNvGraphicFramePr/>
          <p:nvPr>
            <p:extLst>
              <p:ext uri="{D42A27DB-BD31-4B8C-83A1-F6EECF244321}">
                <p14:modId xmlns:p14="http://schemas.microsoft.com/office/powerpoint/2010/main" val="1918664964"/>
              </p:ext>
            </p:extLst>
          </p:nvPr>
        </p:nvGraphicFramePr>
        <p:xfrm>
          <a:off x="2157532" y="2920599"/>
          <a:ext cx="11920465" cy="47908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819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7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22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22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22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122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122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216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endParaRPr sz="1700" b="1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CA" sz="1700" b="1" u="none" strike="noStrike" cap="none">
                          <a:solidFill>
                            <a:srgbClr val="52525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How many people have you contacted?</a:t>
                      </a:r>
                      <a:endParaRPr sz="1700" b="1" u="none" strike="noStrike" cap="none">
                        <a:solidFill>
                          <a:srgbClr val="52525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CA" sz="1700" b="1" u="none" strike="noStrike" cap="none">
                          <a:solidFill>
                            <a:srgbClr val="52525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How many people have answered you?</a:t>
                      </a:r>
                      <a:endParaRPr sz="1700" b="1" u="none" strike="noStrike" cap="none">
                        <a:solidFill>
                          <a:srgbClr val="52525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CA" sz="1700" b="1" u="none" strike="noStrike" cap="none">
                          <a:solidFill>
                            <a:srgbClr val="52525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Calculate your response rate (%)</a:t>
                      </a:r>
                      <a:endParaRPr sz="1700" b="1" u="none" strike="noStrike" cap="none">
                        <a:solidFill>
                          <a:srgbClr val="52525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CA" sz="1700" b="1" u="none" strike="noStrike" cap="none">
                          <a:solidFill>
                            <a:schemeClr val="lt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interviews completed</a:t>
                      </a:r>
                      <a:endParaRPr sz="1700" b="1" u="none" strike="noStrike" cap="none">
                        <a:solidFill>
                          <a:schemeClr val="lt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2B3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CA" sz="1700" b="1" u="none" strike="noStrike" cap="none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interviews scheduled but not yet completed</a:t>
                      </a:r>
                      <a:endParaRPr sz="1700" b="1" u="none" strike="noStrike" cap="none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CA" sz="1700" b="1" u="none" strike="noStrike" cap="none">
                          <a:solidFill>
                            <a:srgbClr val="595959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Number of references obtained</a:t>
                      </a:r>
                      <a:endParaRPr sz="1700" b="1" u="none" strike="noStrike" cap="none">
                        <a:solidFill>
                          <a:srgbClr val="595959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CA" sz="1700" b="1" u="none" strike="noStrike" cap="non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New Interviews (since the last sprint)</a:t>
                      </a:r>
                      <a:endParaRPr sz="3300" b="1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175</a:t>
                      </a:r>
                      <a:endParaRPr sz="3600" u="none" strike="noStrike" cap="none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82</a:t>
                      </a:r>
                      <a:endParaRPr sz="3600" u="none" strike="noStrike" cap="none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47%</a:t>
                      </a:r>
                      <a:endParaRPr sz="3600" u="none" strike="noStrike" cap="none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38</a:t>
                      </a:r>
                      <a:endParaRPr sz="3600" u="none" strike="noStrike" cap="none" dirty="0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>
                    <a:solidFill>
                      <a:srgbClr val="C2B3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15</a:t>
                      </a:r>
                      <a:endParaRPr sz="3600" u="none" strike="noStrike" cap="none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25+</a:t>
                      </a:r>
                      <a:endParaRPr lang="en-US" sz="3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33" marR="162533" marT="162533" marB="16253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lang="en-CA" sz="1700" b="1" u="none" strike="noStrike" cap="none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TOTAL =</a:t>
                      </a:r>
                      <a:endParaRPr sz="3300" b="1" u="none" strike="noStrike" cap="none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62533" marR="162533" marT="162533" marB="162533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415</a:t>
                      </a:r>
                      <a:endParaRPr sz="3600" u="none" strike="noStrike" cap="none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128</a:t>
                      </a:r>
                      <a:endParaRPr sz="3600" u="none" strike="noStrike" cap="none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46%</a:t>
                      </a:r>
                      <a:endParaRPr sz="3600" u="none" strike="noStrike" cap="none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solidFill>
                            <a:schemeClr val="lt1"/>
                          </a:solidFill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57</a:t>
                      </a:r>
                      <a:endParaRPr sz="3600" u="none" strike="noStrike" cap="none" dirty="0">
                        <a:solidFill>
                          <a:schemeClr val="lt1"/>
                        </a:solidFill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>
                    <a:solidFill>
                      <a:srgbClr val="C2B3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</a:pPr>
                      <a:r>
                        <a:rPr lang="en-US" sz="3600" u="none" strike="noStrike" cap="none" dirty="0">
                          <a:latin typeface="Roboto Medium"/>
                          <a:ea typeface="Roboto Medium"/>
                          <a:cs typeface="Roboto Medium"/>
                          <a:sym typeface="Roboto Medium"/>
                        </a:rPr>
                        <a:t>-</a:t>
                      </a:r>
                      <a:endParaRPr sz="3600" u="none" strike="noStrike" cap="none" dirty="0">
                        <a:latin typeface="Roboto Medium"/>
                        <a:ea typeface="Roboto Medium"/>
                        <a:cs typeface="Roboto Medium"/>
                        <a:sym typeface="Roboto Medium"/>
                      </a:endParaRPr>
                    </a:p>
                  </a:txBody>
                  <a:tcPr marL="162533" marR="162533" marT="162533" marB="16253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00"/>
                        <a:buFont typeface="Arial"/>
                        <a:buNone/>
                        <a:tabLst/>
                        <a:defRPr/>
                      </a:pPr>
                      <a:r>
                        <a:rPr lang="en-US" sz="36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40+</a:t>
                      </a:r>
                      <a:endParaRPr lang="en-US" sz="3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33" marR="162533" marT="162533" marB="16253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CE824-CB0C-BF77-5E02-5146152A8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8ADF17-6CDD-D639-30DA-D72CB210C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1" cy="914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2B2383C-5E05-A99D-607B-A1451B3E928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800" y="6769100"/>
            <a:ext cx="1524000" cy="7396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28DFCE4-CA9A-12F3-CFC0-4CC1E5B215D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5400" y="6781800"/>
            <a:ext cx="1828800" cy="5144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96F934-03FE-7164-7897-5A4D4394E5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500" b="25000"/>
          <a:stretch>
            <a:fillRect/>
          </a:stretch>
        </p:blipFill>
        <p:spPr>
          <a:xfrm>
            <a:off x="584200" y="5562600"/>
            <a:ext cx="1905000" cy="8096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6FCAC1B-0E6C-3B4F-9899-28FF1D2B5D01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5400" y="3657600"/>
            <a:ext cx="2029227" cy="59974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EBA979-EAC6-1F3A-2399-89D58CBB7D0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00" t="20751" r="13600" b="23249"/>
          <a:stretch>
            <a:fillRect/>
          </a:stretch>
        </p:blipFill>
        <p:spPr>
          <a:xfrm>
            <a:off x="14127171" y="6756400"/>
            <a:ext cx="1466658" cy="9333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23668F-DD1F-C376-F963-E41EA35048F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0" y="7924800"/>
            <a:ext cx="16002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1594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960" y="8745728"/>
            <a:ext cx="15118080" cy="0"/>
          </a:xfrm>
          <a:prstGeom prst="line">
            <a:avLst/>
          </a:prstGeom>
          <a:noFill/>
          <a:ln w="19050">
            <a:solidFill>
              <a:srgbClr val="B5975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3" name="Text 1"/>
          <p:cNvSpPr/>
          <p:nvPr/>
        </p:nvSpPr>
        <p:spPr>
          <a:xfrm>
            <a:off x="487680" y="8745728"/>
            <a:ext cx="16256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7680" y="406400"/>
            <a:ext cx="15280640" cy="9428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5" name="Text 3"/>
          <p:cNvSpPr/>
          <p:nvPr/>
        </p:nvSpPr>
        <p:spPr>
          <a:xfrm>
            <a:off x="650240" y="455168"/>
            <a:ext cx="1495552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56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Segment: </a:t>
            </a:r>
            <a:r>
              <a:rPr lang="en-US" sz="19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managers &amp; maintenance engineers at mid-size industrial operators   </a:t>
            </a:r>
            <a:r>
              <a:rPr lang="en-US" sz="1956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</a:t>
            </a:r>
            <a:r>
              <a:rPr lang="en-US" sz="19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· Maritime · Naval/Defense · Utilities   </a:t>
            </a:r>
            <a:r>
              <a:rPr lang="en-US" sz="1956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of Interviews = </a:t>
            </a:r>
            <a:r>
              <a:rPr lang="en-US" sz="28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956" dirty="0"/>
          </a:p>
        </p:txBody>
      </p:sp>
      <p:sp>
        <p:nvSpPr>
          <p:cNvPr id="6" name="Text 4"/>
          <p:cNvSpPr/>
          <p:nvPr/>
        </p:nvSpPr>
        <p:spPr>
          <a:xfrm>
            <a:off x="487680" y="1463040"/>
            <a:ext cx="3251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</a:t>
            </a:r>
            <a:endParaRPr lang="en-US" sz="2133" dirty="0"/>
          </a:p>
        </p:txBody>
      </p:sp>
      <p:sp>
        <p:nvSpPr>
          <p:cNvPr id="7" name="Text 5"/>
          <p:cNvSpPr/>
          <p:nvPr/>
        </p:nvSpPr>
        <p:spPr>
          <a:xfrm>
            <a:off x="487680" y="1918208"/>
            <a:ext cx="11054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44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the </a:t>
            </a:r>
            <a:r>
              <a:rPr lang="en-US" sz="2044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barrier </a:t>
            </a:r>
            <a:r>
              <a:rPr lang="en-US" sz="2044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AM adoption in </a:t>
            </a:r>
            <a:r>
              <a:rPr lang="en-US" sz="2044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industries </a:t>
            </a:r>
            <a:r>
              <a:rPr lang="en-US" sz="2044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</a:t>
            </a:r>
            <a:r>
              <a:rPr lang="en-US" sz="2044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technical capability </a:t>
            </a:r>
            <a:r>
              <a:rPr lang="en-US" sz="2044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 meets specs. The barrier is the </a:t>
            </a:r>
            <a:r>
              <a:rPr lang="en-US" sz="2044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a certified, traceable pathway from digital file to approved part</a:t>
            </a:r>
            <a:r>
              <a:rPr lang="en-US" sz="2044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Without this 'permission layer,' operators cannot adopt AM regardless of financial motivation.</a:t>
            </a:r>
            <a:endParaRPr lang="en-US" sz="2044" dirty="0"/>
          </a:p>
        </p:txBody>
      </p:sp>
      <p:sp>
        <p:nvSpPr>
          <p:cNvPr id="8" name="Shape 6"/>
          <p:cNvSpPr/>
          <p:nvPr/>
        </p:nvSpPr>
        <p:spPr>
          <a:xfrm>
            <a:off x="11866880" y="1430528"/>
            <a:ext cx="3738880" cy="178816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9" name="Text 7"/>
          <p:cNvSpPr/>
          <p:nvPr/>
        </p:nvSpPr>
        <p:spPr>
          <a:xfrm>
            <a:off x="11866880" y="1430528"/>
            <a:ext cx="3738880" cy="178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VALIDATED</a:t>
            </a:r>
            <a:endParaRPr lang="en-US" sz="2667" dirty="0"/>
          </a:p>
        </p:txBody>
      </p:sp>
      <p:sp>
        <p:nvSpPr>
          <p:cNvPr id="10" name="Text 8"/>
          <p:cNvSpPr/>
          <p:nvPr/>
        </p:nvSpPr>
        <p:spPr>
          <a:xfrm>
            <a:off x="487680" y="3202432"/>
            <a:ext cx="1528064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Comments:</a:t>
            </a:r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487680" y="3657600"/>
            <a:ext cx="15280640" cy="1332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Tyler Beatty (ExxonMobil #33): "Value and capability exist —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is what's missing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." Lloyd's Register (Whitehouse, Saxty):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certifies facilities, not individual parts — platform connects operators to pre-certified facilities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Aker Solutions (Humber, Davis): Canada gap is the missing link between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decision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AM facility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certification milestone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Trevor Butler (LR #50): LR already informally acts as a supplier discovery service —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formalises that function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67" dirty="0"/>
          </a:p>
        </p:txBody>
      </p:sp>
      <p:sp>
        <p:nvSpPr>
          <p:cNvPr id="12" name="Shape 10"/>
          <p:cNvSpPr/>
          <p:nvPr/>
        </p:nvSpPr>
        <p:spPr>
          <a:xfrm>
            <a:off x="487680" y="5071872"/>
            <a:ext cx="15280640" cy="0"/>
          </a:xfrm>
          <a:prstGeom prst="line">
            <a:avLst/>
          </a:prstGeom>
          <a:noFill/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13" name="Text 11"/>
          <p:cNvSpPr/>
          <p:nvPr/>
        </p:nvSpPr>
        <p:spPr>
          <a:xfrm>
            <a:off x="487680" y="5169408"/>
            <a:ext cx="894080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&amp; Insights:</a:t>
            </a:r>
            <a:endParaRPr lang="en-US" sz="2133" dirty="0"/>
          </a:p>
        </p:txBody>
      </p:sp>
      <p:sp>
        <p:nvSpPr>
          <p:cNvPr id="14" name="Text 12"/>
          <p:cNvSpPr/>
          <p:nvPr/>
        </p:nvSpPr>
        <p:spPr>
          <a:xfrm>
            <a:off x="9509760" y="5169408"/>
            <a:ext cx="617728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2133" dirty="0"/>
          </a:p>
        </p:txBody>
      </p:sp>
      <p:sp>
        <p:nvSpPr>
          <p:cNvPr id="15" name="Text 13"/>
          <p:cNvSpPr/>
          <p:nvPr/>
        </p:nvSpPr>
        <p:spPr>
          <a:xfrm>
            <a:off x="487680" y="5689600"/>
            <a:ext cx="8778240" cy="2682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must be designed in from day one 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 cannot be retrofitted (Cindy Clark, WISC #66)</a:t>
            </a:r>
            <a:endParaRPr lang="en-US" sz="1778" dirty="0"/>
          </a:p>
          <a:p>
            <a:pPr marL="609608" indent="-609608">
              <a:buSzPct val="100000"/>
              <a:buChar char="•"/>
            </a:pP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certifies the facility and process, not each print job —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platform workflow significantly</a:t>
            </a:r>
            <a:endParaRPr lang="en-US" sz="1778" b="1" dirty="0"/>
          </a:p>
          <a:p>
            <a:pPr marL="609608" indent="-609608">
              <a:buSzPct val="100000"/>
              <a:buChar char="•"/>
            </a:pP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already acts informally as supplier discovery service —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formalises this</a:t>
            </a:r>
            <a:endParaRPr lang="en-US" sz="1778" b="1" dirty="0"/>
          </a:p>
          <a:p>
            <a:pPr marL="609608" indent="-609608">
              <a:buSzPct val="100000"/>
              <a:buChar char="•"/>
            </a:pP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across O&amp;G, naval, maritime named the same gap independently and unprompted</a:t>
            </a:r>
            <a:endParaRPr lang="en-US" sz="1778" b="1" dirty="0"/>
          </a:p>
        </p:txBody>
      </p:sp>
      <p:sp>
        <p:nvSpPr>
          <p:cNvPr id="16" name="Text 14"/>
          <p:cNvSpPr/>
          <p:nvPr/>
        </p:nvSpPr>
        <p:spPr>
          <a:xfrm>
            <a:off x="9509760" y="5689600"/>
            <a:ext cx="6177280" cy="2682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LR &amp; DNV conversations from validation → formal partnership MOU</a:t>
            </a:r>
            <a:endParaRPr lang="en-US" sz="1778" b="1" dirty="0"/>
          </a:p>
          <a:p>
            <a:pPr marL="609608" indent="-609608">
              <a:buSzPct val="100000"/>
              <a:buChar char="•"/>
            </a:pP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Digital Birth Certificate into MVP as a non-negotiable core feature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Phase 2</a:t>
            </a:r>
            <a:endParaRPr lang="en-US" sz="1778" dirty="0"/>
          </a:p>
          <a:p>
            <a:pPr marL="609608" indent="-609608">
              <a:buSzPct val="100000"/>
              <a:buChar char="•"/>
            </a:pP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hypothesis: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will pay 10–20% sourcing premium for a pre-certified AM facility with DBC vs. standard quote</a:t>
            </a:r>
            <a:endParaRPr lang="en-US" sz="1778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960" y="8745728"/>
            <a:ext cx="15118080" cy="0"/>
          </a:xfrm>
          <a:prstGeom prst="line">
            <a:avLst/>
          </a:prstGeom>
          <a:noFill/>
          <a:ln w="19050">
            <a:solidFill>
              <a:srgbClr val="B5975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3" name="Text 1"/>
          <p:cNvSpPr/>
          <p:nvPr/>
        </p:nvSpPr>
        <p:spPr>
          <a:xfrm>
            <a:off x="487680" y="8745728"/>
            <a:ext cx="16256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87680" y="406400"/>
            <a:ext cx="15280640" cy="9428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5" name="Text 3"/>
          <p:cNvSpPr/>
          <p:nvPr/>
        </p:nvSpPr>
        <p:spPr>
          <a:xfrm>
            <a:off x="650240" y="455168"/>
            <a:ext cx="14955520" cy="812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56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Segment: </a:t>
            </a:r>
            <a:r>
              <a:rPr lang="en-US" sz="19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operators: 500–5,000 employees; field ops &gt; 200 km from major supply hubs   </a:t>
            </a:r>
            <a:r>
              <a:rPr lang="en-US" sz="1956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Industry: </a:t>
            </a:r>
            <a:r>
              <a:rPr lang="en-US" sz="19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Gas · Utilities · Maritime Shipping · Naval/Defense   </a:t>
            </a:r>
            <a:r>
              <a:rPr lang="en-US" sz="1956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of Interviews = </a:t>
            </a:r>
            <a:r>
              <a:rPr lang="en-US" sz="28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956" dirty="0"/>
          </a:p>
        </p:txBody>
      </p:sp>
      <p:sp>
        <p:nvSpPr>
          <p:cNvPr id="6" name="Text 4"/>
          <p:cNvSpPr/>
          <p:nvPr/>
        </p:nvSpPr>
        <p:spPr>
          <a:xfrm>
            <a:off x="487680" y="1463040"/>
            <a:ext cx="3251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Hypothesis:</a:t>
            </a:r>
            <a:endParaRPr lang="en-US" sz="2133" dirty="0"/>
          </a:p>
        </p:txBody>
      </p:sp>
      <p:sp>
        <p:nvSpPr>
          <p:cNvPr id="7" name="Text 5"/>
          <p:cNvSpPr/>
          <p:nvPr/>
        </p:nvSpPr>
        <p:spPr>
          <a:xfrm>
            <a:off x="487680" y="1918208"/>
            <a:ext cx="1105408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44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believe mid-size operators — not Tier-1 majors like ExxonMobil or Suncor — </a:t>
            </a:r>
            <a:r>
              <a:rPr lang="en-US" sz="2044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the most acute spare parts downtime pain</a:t>
            </a:r>
            <a:r>
              <a:rPr lang="en-US" sz="2044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Tier-1 majors solved this through </a:t>
            </a:r>
            <a:r>
              <a:rPr lang="en-US" sz="2044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(massive inventories, helicopter logistics, global OEM relationships).</a:t>
            </a:r>
            <a:r>
              <a:rPr lang="en-US" sz="2044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Mid-size operators carry identical risk with none of the same infrastructure.</a:t>
            </a:r>
            <a:endParaRPr lang="en-US" sz="2044" dirty="0"/>
          </a:p>
        </p:txBody>
      </p:sp>
      <p:sp>
        <p:nvSpPr>
          <p:cNvPr id="8" name="Shape 6"/>
          <p:cNvSpPr/>
          <p:nvPr/>
        </p:nvSpPr>
        <p:spPr>
          <a:xfrm>
            <a:off x="11866880" y="1430528"/>
            <a:ext cx="3738880" cy="1788160"/>
          </a:xfrm>
          <a:prstGeom prst="ellipse">
            <a:avLst/>
          </a:prstGeom>
          <a:solidFill>
            <a:srgbClr val="2D7D46"/>
          </a:solidFill>
          <a:ln w="12700">
            <a:solidFill>
              <a:srgbClr val="2D7D46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9" name="Text 7"/>
          <p:cNvSpPr/>
          <p:nvPr/>
        </p:nvSpPr>
        <p:spPr>
          <a:xfrm>
            <a:off x="11866880" y="1430528"/>
            <a:ext cx="3738880" cy="1788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VALIDATED</a:t>
            </a:r>
            <a:endParaRPr lang="en-US" sz="2667" dirty="0"/>
          </a:p>
        </p:txBody>
      </p:sp>
      <p:sp>
        <p:nvSpPr>
          <p:cNvPr id="10" name="Text 8"/>
          <p:cNvSpPr/>
          <p:nvPr/>
        </p:nvSpPr>
        <p:spPr>
          <a:xfrm>
            <a:off x="487680" y="3202432"/>
            <a:ext cx="1528064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Comments:</a:t>
            </a:r>
            <a:endParaRPr lang="en-US" sz="2133" dirty="0"/>
          </a:p>
        </p:txBody>
      </p:sp>
      <p:sp>
        <p:nvSpPr>
          <p:cNvPr id="11" name="Text 9"/>
          <p:cNvSpPr/>
          <p:nvPr/>
        </p:nvSpPr>
        <p:spPr>
          <a:xfrm>
            <a:off x="487680" y="3657600"/>
            <a:ext cx="15280640" cy="1332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Joy Romero (CNRL): Tier-1 majors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reference partners, not buyers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they've solved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via scale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Dean Dalpe (Enbridge #64):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cross-organisational inventory duplication is a major hidden cost lever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Jared Newcombe (Horizon Naval #65): strongest pilot candidate —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ambiguity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 vendor response time) is the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of procurement bottlenecks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André Simha (MSC #59): maritime shipping confirms the pattern — 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Pelagus 3D's 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rise is market proof. Cindy Clark (WISC #66): "</a:t>
            </a:r>
            <a:r>
              <a:rPr lang="en-US" sz="1867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downtime was worth more than the part — so the math was easy.</a:t>
            </a:r>
            <a:r>
              <a:rPr lang="en-US" sz="1867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endParaRPr lang="en-US" sz="1867" dirty="0"/>
          </a:p>
        </p:txBody>
      </p:sp>
      <p:sp>
        <p:nvSpPr>
          <p:cNvPr id="12" name="Shape 10"/>
          <p:cNvSpPr/>
          <p:nvPr/>
        </p:nvSpPr>
        <p:spPr>
          <a:xfrm>
            <a:off x="487680" y="5071872"/>
            <a:ext cx="15280640" cy="0"/>
          </a:xfrm>
          <a:prstGeom prst="line">
            <a:avLst/>
          </a:prstGeom>
          <a:noFill/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13" name="Text 11"/>
          <p:cNvSpPr/>
          <p:nvPr/>
        </p:nvSpPr>
        <p:spPr>
          <a:xfrm>
            <a:off x="487680" y="5169408"/>
            <a:ext cx="894080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Learnings &amp; Insights:</a:t>
            </a:r>
            <a:endParaRPr lang="en-US" sz="2133" dirty="0"/>
          </a:p>
        </p:txBody>
      </p:sp>
      <p:sp>
        <p:nvSpPr>
          <p:cNvPr id="14" name="Text 12"/>
          <p:cNvSpPr/>
          <p:nvPr/>
        </p:nvSpPr>
        <p:spPr>
          <a:xfrm>
            <a:off x="9509760" y="5169408"/>
            <a:ext cx="6177280" cy="455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2133" dirty="0"/>
          </a:p>
        </p:txBody>
      </p:sp>
      <p:sp>
        <p:nvSpPr>
          <p:cNvPr id="15" name="Text 13"/>
          <p:cNvSpPr/>
          <p:nvPr/>
        </p:nvSpPr>
        <p:spPr>
          <a:xfrm>
            <a:off x="487680" y="5689600"/>
            <a:ext cx="8778240" cy="2682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majors = credibility anchors and referral sources 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primary customers</a:t>
            </a:r>
            <a:endParaRPr lang="en-US" sz="1778" dirty="0"/>
          </a:p>
          <a:p>
            <a:pPr marL="609608" indent="-609608">
              <a:buSzPct val="100000"/>
              <a:buChar char="•"/>
            </a:pP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Cross-organisational inventory duplication 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large hidden cost lever (Dean Dalpe, Enbridge)</a:t>
            </a:r>
            <a:endParaRPr lang="en-US" sz="1778" dirty="0"/>
          </a:p>
          <a:p>
            <a:pPr marL="609608" indent="-609608">
              <a:buSzPct val="100000"/>
              <a:buChar char="•"/>
            </a:pP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 ambiguity — not vendor speed — is the root procurement bottleneck 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(Jared Newcombe)</a:t>
            </a:r>
            <a:endParaRPr lang="en-US" sz="1778" dirty="0"/>
          </a:p>
          <a:p>
            <a:pPr marL="609608" indent="-609608">
              <a:buSzPct val="100000"/>
              <a:buChar char="•"/>
            </a:pP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Maritime sector confirms pattern: Pelagus 3D (on-vessel AM) is direct market validation</a:t>
            </a:r>
            <a:endParaRPr lang="en-US" sz="1778" b="1" dirty="0"/>
          </a:p>
        </p:txBody>
      </p:sp>
      <p:sp>
        <p:nvSpPr>
          <p:cNvPr id="16" name="Text 14"/>
          <p:cNvSpPr/>
          <p:nvPr/>
        </p:nvSpPr>
        <p:spPr>
          <a:xfrm>
            <a:off x="9509760" y="5689600"/>
            <a:ext cx="6177280" cy="2682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operator persona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500–5K employees, downtime cost &gt;$50K/day, field ops remote from supply hubs</a:t>
            </a:r>
            <a:endParaRPr lang="en-US" sz="1778" dirty="0"/>
          </a:p>
          <a:p>
            <a:pPr marL="609608" indent="-609608">
              <a:buSzPct val="100000"/>
              <a:buChar char="•"/>
            </a:pP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pilot conversation with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Jared Newcombe (Horizon Naval) — most immediate pilot candidate</a:t>
            </a:r>
            <a:endParaRPr lang="en-US" sz="1778" b="1" dirty="0"/>
          </a:p>
          <a:p>
            <a:pPr marL="609608" indent="-609608">
              <a:buSzPct val="100000"/>
              <a:buChar char="•"/>
            </a:pP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cross-organisational inventory pooling feature with </a:t>
            </a:r>
            <a:r>
              <a:rPr lang="en-US" sz="1778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Enbridge IT </a:t>
            </a:r>
            <a:r>
              <a:rPr lang="en-US" sz="1778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(referred by Dean Dalpe)</a:t>
            </a:r>
            <a:endParaRPr lang="en-US" sz="1778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682752"/>
          </a:xfrm>
          <a:prstGeom prst="rect">
            <a:avLst/>
          </a:prstGeom>
          <a:solidFill>
            <a:srgbClr val="B5975A"/>
          </a:solidFill>
          <a:ln w="12700">
            <a:solidFill>
              <a:srgbClr val="B5975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3" name="Text 1"/>
          <p:cNvSpPr/>
          <p:nvPr/>
        </p:nvSpPr>
        <p:spPr>
          <a:xfrm>
            <a:off x="243840" y="0"/>
            <a:ext cx="6502400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311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CANVAS</a:t>
            </a:r>
            <a:endParaRPr lang="en-US" sz="2311" dirty="0"/>
          </a:p>
        </p:txBody>
      </p:sp>
      <p:sp>
        <p:nvSpPr>
          <p:cNvPr id="4" name="Text 2"/>
          <p:cNvSpPr/>
          <p:nvPr/>
        </p:nvSpPr>
        <p:spPr>
          <a:xfrm>
            <a:off x="6502400" y="0"/>
            <a:ext cx="5689600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956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 AddManuChain</a:t>
            </a:r>
            <a:endParaRPr lang="en-US" sz="1956" dirty="0"/>
          </a:p>
        </p:txBody>
      </p:sp>
      <p:sp>
        <p:nvSpPr>
          <p:cNvPr id="5" name="Text 3"/>
          <p:cNvSpPr/>
          <p:nvPr/>
        </p:nvSpPr>
        <p:spPr>
          <a:xfrm>
            <a:off x="13004800" y="0"/>
            <a:ext cx="3088640" cy="682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95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#:  3</a:t>
            </a:r>
            <a:endParaRPr lang="en-US" sz="1956" dirty="0"/>
          </a:p>
        </p:txBody>
      </p:sp>
      <p:sp>
        <p:nvSpPr>
          <p:cNvPr id="6" name="Shape 4"/>
          <p:cNvSpPr/>
          <p:nvPr/>
        </p:nvSpPr>
        <p:spPr>
          <a:xfrm>
            <a:off x="0" y="682752"/>
            <a:ext cx="3251200" cy="5852160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7" name="Text 5"/>
          <p:cNvSpPr/>
          <p:nvPr/>
        </p:nvSpPr>
        <p:spPr>
          <a:xfrm>
            <a:off x="97536" y="747776"/>
            <a:ext cx="3056128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536" y="1137920"/>
            <a:ext cx="3056128" cy="5331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Lloyd's Register · DNV · CSA (permission layer)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Facilities: Atlantic XL, Assembly PEI, Precise Design, InnsTek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OEMs — IP licensing (in development)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WISC · Canada Makes · NextGen Mfg Canada (GTM channels)</a:t>
            </a:r>
          </a:p>
          <a:p>
            <a:pPr marL="609608" indent="-609608">
              <a:buSzPct val="100000"/>
              <a:buChar char="•"/>
            </a:pPr>
            <a:r>
              <a:rPr lang="en-US" sz="1564" b="1" dirty="0" err="1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Polyunity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NRC-IRAP / ITB (certification funding)</a:t>
            </a:r>
            <a:endParaRPr lang="en-US" sz="1564" dirty="0"/>
          </a:p>
        </p:txBody>
      </p:sp>
      <p:sp>
        <p:nvSpPr>
          <p:cNvPr id="9" name="Shape 7"/>
          <p:cNvSpPr/>
          <p:nvPr/>
        </p:nvSpPr>
        <p:spPr>
          <a:xfrm>
            <a:off x="3251200" y="682752"/>
            <a:ext cx="3088640" cy="2926080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10" name="Text 8"/>
          <p:cNvSpPr/>
          <p:nvPr/>
        </p:nvSpPr>
        <p:spPr>
          <a:xfrm>
            <a:off x="3348736" y="747776"/>
            <a:ext cx="2893568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348736" y="1137920"/>
            <a:ext cx="2893568" cy="2405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2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AI inventory data normalisation ('Tomato Problem' solver)</a:t>
            </a:r>
            <a:endParaRPr lang="en-US" sz="1200" dirty="0"/>
          </a:p>
          <a:p>
            <a:pPr marL="609608" indent="-609608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facility matching + certification integration</a:t>
            </a:r>
            <a:endParaRPr lang="en-US" sz="1200" dirty="0"/>
          </a:p>
          <a:p>
            <a:pPr marL="609608" indent="-609608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Birth Certificate issuance + traceability</a:t>
            </a:r>
            <a:endParaRPr lang="en-US" sz="1200" dirty="0"/>
          </a:p>
          <a:p>
            <a:pPr marL="609608" indent="-609608">
              <a:buSzPct val="100000"/>
              <a:buChar char="•"/>
            </a:pPr>
            <a:r>
              <a:rPr lang="en-US" sz="12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Predictive maintenance → sourcing trigger pipeline</a:t>
            </a:r>
            <a:endParaRPr lang="en-US" sz="1200" dirty="0"/>
          </a:p>
          <a:p>
            <a:pPr marL="609608" indent="-609608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development + maintenance</a:t>
            </a:r>
            <a:endParaRPr lang="en-US" sz="1200" dirty="0"/>
          </a:p>
          <a:p>
            <a:pPr marL="609608" indent="-609608"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discovery + iteration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51200" y="3608832"/>
            <a:ext cx="3088640" cy="2926080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13" name="Text 11"/>
          <p:cNvSpPr/>
          <p:nvPr/>
        </p:nvSpPr>
        <p:spPr>
          <a:xfrm>
            <a:off x="3348736" y="3673856"/>
            <a:ext cx="2893568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48736" y="4064000"/>
            <a:ext cx="2893568" cy="2405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4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AI normalisation engine (Phase 1 — before AM network complete)</a:t>
            </a:r>
            <a:endParaRPr lang="en-US" sz="1400" dirty="0"/>
          </a:p>
          <a:p>
            <a:pPr marL="609608" indent="-609608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digital part-file repository</a:t>
            </a:r>
            <a:endParaRPr lang="en-US" sz="1400" dirty="0"/>
          </a:p>
          <a:p>
            <a:pPr marL="609608" indent="-609608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body partnerships (LR, DNV)</a:t>
            </a:r>
            <a:endParaRPr lang="en-US" sz="1400" dirty="0"/>
          </a:p>
          <a:p>
            <a:pPr marL="609608" indent="-609608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AM facility network (pre-certified)</a:t>
            </a:r>
            <a:endParaRPr lang="en-US" sz="1400" dirty="0"/>
          </a:p>
          <a:p>
            <a:pPr marL="609608" indent="-609608"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Indurate Alloys materials expertise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39840" y="682752"/>
            <a:ext cx="3413760" cy="5852160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16" name="Text 14"/>
          <p:cNvSpPr/>
          <p:nvPr/>
        </p:nvSpPr>
        <p:spPr>
          <a:xfrm>
            <a:off x="6437376" y="747776"/>
            <a:ext cx="3218688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37376" y="1137920"/>
            <a:ext cx="3218688" cy="5331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Operators: Know what you have. Source what you don't — certified, fast, traceable.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AM Facilities: Pre-qualified jobs. Fill idle capacity without a sales team.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Supply chain traceability compliance (forced labour legislation tailwind)</a:t>
            </a:r>
          </a:p>
          <a:p>
            <a:pPr marL="609608" indent="-609608" algn="just">
              <a:buSzPct val="100000"/>
              <a:buChar char="•"/>
            </a:pPr>
            <a:r>
              <a:rPr lang="en-US" sz="1600" b="1" dirty="0">
                <a:solidFill>
                  <a:srgbClr val="D4860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★ Three entry points by customer cluster: AI </a:t>
            </a:r>
            <a:r>
              <a:rPr lang="en-US" sz="1600" b="1" dirty="0" err="1">
                <a:solidFill>
                  <a:srgbClr val="D4860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normalisation</a:t>
            </a:r>
            <a:r>
              <a:rPr lang="en-US" sz="1600" b="1" dirty="0">
                <a:solidFill>
                  <a:srgbClr val="D4860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(Phase 1) · Downtime protection (DBC + on-demand) · Compliance documentation (traceability legislation).</a:t>
            </a:r>
          </a:p>
        </p:txBody>
      </p:sp>
      <p:sp>
        <p:nvSpPr>
          <p:cNvPr id="18" name="Shape 16"/>
          <p:cNvSpPr/>
          <p:nvPr/>
        </p:nvSpPr>
        <p:spPr>
          <a:xfrm>
            <a:off x="9753600" y="682752"/>
            <a:ext cx="3088640" cy="2926080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19" name="Text 17"/>
          <p:cNvSpPr/>
          <p:nvPr/>
        </p:nvSpPr>
        <p:spPr>
          <a:xfrm>
            <a:off x="9851136" y="747776"/>
            <a:ext cx="2893568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851136" y="1137920"/>
            <a:ext cx="2893568" cy="2405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digital platform (parts search + job order)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facility onboarding + account management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Association-sourced intros (WISC, Canada Makes)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referral chains from executive interviews</a:t>
            </a:r>
            <a:endParaRPr lang="en-US" sz="1564" dirty="0"/>
          </a:p>
        </p:txBody>
      </p:sp>
      <p:sp>
        <p:nvSpPr>
          <p:cNvPr id="21" name="Shape 19"/>
          <p:cNvSpPr/>
          <p:nvPr/>
        </p:nvSpPr>
        <p:spPr>
          <a:xfrm>
            <a:off x="9753600" y="3608832"/>
            <a:ext cx="3088640" cy="2926080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22" name="Text 20"/>
          <p:cNvSpPr/>
          <p:nvPr/>
        </p:nvSpPr>
        <p:spPr>
          <a:xfrm>
            <a:off x="9851136" y="3673856"/>
            <a:ext cx="2893568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51136" y="4064000"/>
            <a:ext cx="2893568" cy="2405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+ warm referral chains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WISC (cross-sector, outperforms sector-specific associations)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Makes / NextGen Manufacturing Canada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presence (offshore energy, Canada Makes events)</a:t>
            </a:r>
            <a:endParaRPr lang="en-US" sz="1564" dirty="0"/>
          </a:p>
        </p:txBody>
      </p:sp>
      <p:sp>
        <p:nvSpPr>
          <p:cNvPr id="24" name="Shape 22"/>
          <p:cNvSpPr/>
          <p:nvPr/>
        </p:nvSpPr>
        <p:spPr>
          <a:xfrm>
            <a:off x="12842240" y="682752"/>
            <a:ext cx="3413760" cy="5852160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25" name="Text 23"/>
          <p:cNvSpPr/>
          <p:nvPr/>
        </p:nvSpPr>
        <p:spPr>
          <a:xfrm>
            <a:off x="12939776" y="747776"/>
            <a:ext cx="3218688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939776" y="1137920"/>
            <a:ext cx="3218688" cy="5331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PRIMARY: Mid-size operators — O&amp;G · Maritime · Naval · Utilities (500–5K employees)</a:t>
            </a:r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and Satellite companies (GALAXIA, Reaction Dynamics)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Tier-1 majors = reference partners ONLY (ExxonMobil, CNRL, Equinor)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Commercial vehicle dealer networks (WISC / Daimler validation)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Maritime shipping fleets (MSC / André Simha validation)</a:t>
            </a:r>
            <a:endParaRPr lang="en-US" sz="1564" dirty="0"/>
          </a:p>
          <a:p>
            <a:pPr marL="609608" indent="-609608">
              <a:buSzPct val="100000"/>
              <a:buChar char="•"/>
            </a:pPr>
            <a:r>
              <a:rPr lang="en-US" sz="1564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Naval/defense repair (Horizon Naval, Irving Shipbuilding)</a:t>
            </a:r>
            <a:endParaRPr lang="en-US" sz="1564" dirty="0"/>
          </a:p>
        </p:txBody>
      </p:sp>
      <p:sp>
        <p:nvSpPr>
          <p:cNvPr id="27" name="Shape 25"/>
          <p:cNvSpPr/>
          <p:nvPr/>
        </p:nvSpPr>
        <p:spPr>
          <a:xfrm>
            <a:off x="0" y="6534912"/>
            <a:ext cx="8128000" cy="2893568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28" name="Text 26"/>
          <p:cNvSpPr/>
          <p:nvPr/>
        </p:nvSpPr>
        <p:spPr>
          <a:xfrm>
            <a:off x="97536" y="6599936"/>
            <a:ext cx="780288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536" y="6990080"/>
            <a:ext cx="7802880" cy="2373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development (normalisation + matching)  ·  Platform hosting  ·  Certification partnership integration  ·  Customer discovery &amp; BD  ·  IP licensing framework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28000" y="6534912"/>
            <a:ext cx="8128000" cy="2893568"/>
          </a:xfrm>
          <a:prstGeom prst="rect">
            <a:avLst/>
          </a:prstGeom>
          <a:solidFill>
            <a:srgbClr val="F5F5F5"/>
          </a:solidFill>
          <a:ln w="7620">
            <a:solidFill>
              <a:srgbClr val="D0D3D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31" name="Text 29"/>
          <p:cNvSpPr/>
          <p:nvPr/>
        </p:nvSpPr>
        <p:spPr>
          <a:xfrm>
            <a:off x="8225536" y="6599936"/>
            <a:ext cx="780288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225536" y="6990080"/>
            <a:ext cx="7802880" cy="2373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SaaS — AI inventory normalisation (Phase 1, standalone)  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Transaction fee (% of certified AM job)  ·  SaaS — operator on-demand sourcing access  ·  Facility subscription (monthly pre-qualified jobs)  ·  </a:t>
            </a:r>
            <a:r>
              <a:rPr lang="en-US" sz="1600" b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Compliance-as-a-Service — supply chain traceability documentation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2560" y="8940800"/>
            <a:ext cx="812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511" i="1" dirty="0">
                <a:solidFill>
                  <a:srgbClr val="D4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New / changed from Sprint #1 iteration</a:t>
            </a:r>
            <a:endParaRPr lang="en-US" sz="151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0A4D16-6DBB-CD74-5009-48CBD49879EA}"/>
              </a:ext>
            </a:extLst>
          </p:cNvPr>
          <p:cNvSpPr/>
          <p:nvPr/>
        </p:nvSpPr>
        <p:spPr>
          <a:xfrm>
            <a:off x="6990080" y="3803904"/>
            <a:ext cx="2747264" cy="176784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8960" y="8745728"/>
            <a:ext cx="15118080" cy="0"/>
          </a:xfrm>
          <a:prstGeom prst="line">
            <a:avLst/>
          </a:prstGeom>
          <a:noFill/>
          <a:ln w="19050">
            <a:solidFill>
              <a:srgbClr val="B5975A"/>
            </a:solidFill>
            <a:prstDash val="solid"/>
          </a:ln>
        </p:spPr>
        <p:txBody>
          <a:bodyPr/>
          <a:lstStyle/>
          <a:p>
            <a:endParaRPr lang="en-CA" sz="3200"/>
          </a:p>
        </p:txBody>
      </p:sp>
      <p:sp>
        <p:nvSpPr>
          <p:cNvPr id="3" name="Text 1"/>
          <p:cNvSpPr/>
          <p:nvPr/>
        </p:nvSpPr>
        <p:spPr>
          <a:xfrm>
            <a:off x="487680" y="8745728"/>
            <a:ext cx="1625600" cy="35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8960" y="357632"/>
            <a:ext cx="1511808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045" b="1" dirty="0">
                <a:solidFill>
                  <a:srgbClr val="B59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Sprint #3</a:t>
            </a:r>
            <a:endParaRPr lang="en-US" sz="6045" dirty="0"/>
          </a:p>
        </p:txBody>
      </p:sp>
      <p:sp>
        <p:nvSpPr>
          <p:cNvPr id="5" name="Text 3"/>
          <p:cNvSpPr/>
          <p:nvPr/>
        </p:nvSpPr>
        <p:spPr>
          <a:xfrm>
            <a:off x="487680" y="1332992"/>
            <a:ext cx="15280640" cy="455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311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hypotheses  ·  Stakeholders to interview  ·  Key questions</a:t>
            </a:r>
            <a:endParaRPr lang="en-US" sz="2311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401792"/>
              </p:ext>
            </p:extLst>
          </p:nvPr>
        </p:nvGraphicFramePr>
        <p:xfrm>
          <a:off x="487680" y="1869440"/>
          <a:ext cx="15280640" cy="6713728"/>
        </p:xfrm>
        <a:graphic>
          <a:graphicData uri="http://schemas.openxmlformats.org/drawingml/2006/table">
            <a:tbl>
              <a:tblPr/>
              <a:tblGrid>
                <a:gridCol w="455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7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9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97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97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AI.PRICE: Operators will pay a standalone SaaS subscription for AI inventory normalisation — before they need AM</a:t>
                      </a:r>
                      <a:endParaRPr lang="en-US" sz="17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Eashwar (Enbridge IT, referred by Dean Dalpe) · 2–3 supply chain / IT leads at mid-size operators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many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 numbers 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you have for the same component across your systems? · What has it cost to fix this? · Would you pay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$X/month 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AI normalisation in 30 days?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PILOT.NAVAL: Finding a first company to accept the pilot deployment over their workflow</a:t>
                      </a:r>
                      <a:endParaRPr lang="en-US" sz="17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Jared Newcombe (Horizon Naval Engineering, COO) + team (or any other company)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part category first —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obsolete, low-volume, or emergency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·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approves a pilot internally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? · What does success look like in 90 days?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PREDICT.TRIGGER: Integrating predictive maintenance → certified AM sourcing is an unserved market and AddManuChain is the right vehicle</a:t>
                      </a:r>
                      <a:endParaRPr lang="en-US" sz="17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Jason Power (Noble Corp — follow-up) · Jared Newcombe · Eashwar (Enbridge)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predicts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30 days out — what is your current sourcing process? · Where does it break down? · Do you want the trigger automated, or always human-approved?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AEROSPACE: WestJet / Havelin / Lufthansa Technik Calgary share the same spare parts downtime pain — WISC intros will open the door + Galaxia and Reaction Dynamics</a:t>
                      </a:r>
                      <a:endParaRPr lang="en-US" sz="17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WestJet procurement · Havelin · Lufthansa Technik Calgary (all via Cindy Clark warm intro)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process for sourcing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hard-to-find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or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obsolete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aircraft</a:t>
                      </a: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parts? · Average lead time? · If a certified AM alternative existed — what must it prove first?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COMPLIANCE: Creating a compliance forcing function for the Digital Birth Certificate</a:t>
                      </a:r>
                      <a:endParaRPr lang="en-US" sz="17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/ compliance leads at manufacturing SMEs · Government trade compliance contacts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documentation do you need? · Would a DBC tracing a part from file to certified manufacturer satisfy this?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62560" marR="162560" marT="81280" marB="81280" anchor="ctr">
                    <a:lnL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0D3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2032</Words>
  <Application>Microsoft Office PowerPoint</Application>
  <PresentationFormat>Custom</PresentationFormat>
  <Paragraphs>165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Arial</vt:lpstr>
      <vt:lpstr>Calibri</vt:lpstr>
      <vt:lpstr>Roboto</vt:lpstr>
      <vt:lpstr>Roboto Medium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MAHMOOD TK</dc:creator>
  <cp:lastModifiedBy>MAHMOOD TK</cp:lastModifiedBy>
  <cp:revision>7</cp:revision>
  <dcterms:created xsi:type="dcterms:W3CDTF">2006-08-16T00:00:00Z</dcterms:created>
  <dcterms:modified xsi:type="dcterms:W3CDTF">2026-03-12T17:46:16Z</dcterms:modified>
</cp:coreProperties>
</file>