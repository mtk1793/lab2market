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8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embeddedFontLst>
    <p:embeddedFont>
      <p:font typeface="Impact" panose="020B0806030902050204" pitchFamily="34" charset="0"/>
      <p:regular r:id="rId11"/>
    </p:embeddedFont>
    <p:embeddedFont>
      <p:font typeface="Roboto" panose="02000000000000000000" pitchFamily="2" charset="0"/>
      <p:regular r:id="rId12"/>
      <p:bold r:id="rId13"/>
      <p:italic r:id="rId14"/>
      <p:boldItalic r:id="rId15"/>
    </p:embeddedFont>
    <p:embeddedFont>
      <p:font typeface="Roboto Medium" panose="02000000000000000000" pitchFamily="2" charset="0"/>
      <p:regular r:id="rId16"/>
      <p:bold r:id="rId17"/>
      <p:italic r:id="rId18"/>
      <p:boldItalic r:id="rId19"/>
    </p:embeddedFont>
    <p:embeddedFont>
      <p:font typeface="Verdana" panose="020B060403050404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gh+9kfuz1wcxwu04l344Ry8TTe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BE6AD3-A37E-4E68-BC75-4ECE241D68F8}" v="27" dt="2026-01-13T19:47:23.325"/>
  </p1510:revLst>
</p1510:revInfo>
</file>

<file path=ppt/tableStyles.xml><?xml version="1.0" encoding="utf-8"?>
<a:tblStyleLst xmlns:a="http://schemas.openxmlformats.org/drawingml/2006/main" def="{A021F883-C7DC-4550-B95F-69014B27C258}">
  <a:tblStyle styleId="{A021F883-C7DC-4550-B95F-69014B27C25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48" y="8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11.fntdata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24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moud Kiasari" userId="32341b9a-71dd-4a5f-a9ee-937618117857" providerId="ADAL" clId="{F20D0978-9CD1-4C48-87F2-5CADA8FF8DEF}"/>
    <pc:docChg chg="undo custSel modSld">
      <pc:chgData name="Mahmoud Kiasari" userId="32341b9a-71dd-4a5f-a9ee-937618117857" providerId="ADAL" clId="{F20D0978-9CD1-4C48-87F2-5CADA8FF8DEF}" dt="2026-01-13T19:48:09.298" v="225" actId="404"/>
      <pc:docMkLst>
        <pc:docMk/>
      </pc:docMkLst>
      <pc:sldChg chg="delSp modSp mod">
        <pc:chgData name="Mahmoud Kiasari" userId="32341b9a-71dd-4a5f-a9ee-937618117857" providerId="ADAL" clId="{F20D0978-9CD1-4C48-87F2-5CADA8FF8DEF}" dt="2026-01-13T19:38:35.083" v="79" actId="108"/>
        <pc:sldMkLst>
          <pc:docMk/>
          <pc:sldMk cId="0" sldId="256"/>
        </pc:sldMkLst>
        <pc:spChg chg="mod">
          <ac:chgData name="Mahmoud Kiasari" userId="32341b9a-71dd-4a5f-a9ee-937618117857" providerId="ADAL" clId="{F20D0978-9CD1-4C48-87F2-5CADA8FF8DEF}" dt="2026-01-13T19:37:26.441" v="64" actId="404"/>
          <ac:spMkLst>
            <pc:docMk/>
            <pc:sldMk cId="0" sldId="256"/>
            <ac:spMk id="179" creationId="{00000000-0000-0000-0000-000000000000}"/>
          </ac:spMkLst>
        </pc:spChg>
        <pc:spChg chg="mod">
          <ac:chgData name="Mahmoud Kiasari" userId="32341b9a-71dd-4a5f-a9ee-937618117857" providerId="ADAL" clId="{F20D0978-9CD1-4C48-87F2-5CADA8FF8DEF}" dt="2026-01-13T19:37:35.127" v="74" actId="404"/>
          <ac:spMkLst>
            <pc:docMk/>
            <pc:sldMk cId="0" sldId="256"/>
            <ac:spMk id="181" creationId="{00000000-0000-0000-0000-000000000000}"/>
          </ac:spMkLst>
        </pc:spChg>
        <pc:spChg chg="mod">
          <ac:chgData name="Mahmoud Kiasari" userId="32341b9a-71dd-4a5f-a9ee-937618117857" providerId="ADAL" clId="{F20D0978-9CD1-4C48-87F2-5CADA8FF8DEF}" dt="2026-01-13T19:38:35.083" v="79" actId="108"/>
          <ac:spMkLst>
            <pc:docMk/>
            <pc:sldMk cId="0" sldId="256"/>
            <ac:spMk id="183" creationId="{00000000-0000-0000-0000-000000000000}"/>
          </ac:spMkLst>
        </pc:spChg>
        <pc:picChg chg="del">
          <ac:chgData name="Mahmoud Kiasari" userId="32341b9a-71dd-4a5f-a9ee-937618117857" providerId="ADAL" clId="{F20D0978-9CD1-4C48-87F2-5CADA8FF8DEF}" dt="2026-01-13T19:36:50.659" v="16" actId="478"/>
          <ac:picMkLst>
            <pc:docMk/>
            <pc:sldMk cId="0" sldId="256"/>
            <ac:picMk id="178" creationId="{00000000-0000-0000-0000-000000000000}"/>
          </ac:picMkLst>
        </pc:picChg>
        <pc:picChg chg="del">
          <ac:chgData name="Mahmoud Kiasari" userId="32341b9a-71dd-4a5f-a9ee-937618117857" providerId="ADAL" clId="{F20D0978-9CD1-4C48-87F2-5CADA8FF8DEF}" dt="2026-01-13T19:36:52.261" v="17" actId="478"/>
          <ac:picMkLst>
            <pc:docMk/>
            <pc:sldMk cId="0" sldId="256"/>
            <ac:picMk id="180" creationId="{00000000-0000-0000-0000-000000000000}"/>
          </ac:picMkLst>
        </pc:picChg>
        <pc:picChg chg="del">
          <ac:chgData name="Mahmoud Kiasari" userId="32341b9a-71dd-4a5f-a9ee-937618117857" providerId="ADAL" clId="{F20D0978-9CD1-4C48-87F2-5CADA8FF8DEF}" dt="2026-01-13T19:36:53.813" v="18" actId="478"/>
          <ac:picMkLst>
            <pc:docMk/>
            <pc:sldMk cId="0" sldId="256"/>
            <ac:picMk id="182" creationId="{00000000-0000-0000-0000-000000000000}"/>
          </ac:picMkLst>
        </pc:picChg>
      </pc:sldChg>
      <pc:sldChg chg="modSp mod">
        <pc:chgData name="Mahmoud Kiasari" userId="32341b9a-71dd-4a5f-a9ee-937618117857" providerId="ADAL" clId="{F20D0978-9CD1-4C48-87F2-5CADA8FF8DEF}" dt="2026-01-13T19:39:31.728" v="90" actId="27636"/>
        <pc:sldMkLst>
          <pc:docMk/>
          <pc:sldMk cId="0" sldId="257"/>
        </pc:sldMkLst>
        <pc:spChg chg="mod">
          <ac:chgData name="Mahmoud Kiasari" userId="32341b9a-71dd-4a5f-a9ee-937618117857" providerId="ADAL" clId="{F20D0978-9CD1-4C48-87F2-5CADA8FF8DEF}" dt="2026-01-13T19:39:31.728" v="90" actId="27636"/>
          <ac:spMkLst>
            <pc:docMk/>
            <pc:sldMk cId="0" sldId="257"/>
            <ac:spMk id="188" creationId="{00000000-0000-0000-0000-000000000000}"/>
          </ac:spMkLst>
        </pc:spChg>
      </pc:sldChg>
      <pc:sldChg chg="modSp mod">
        <pc:chgData name="Mahmoud Kiasari" userId="32341b9a-71dd-4a5f-a9ee-937618117857" providerId="ADAL" clId="{F20D0978-9CD1-4C48-87F2-5CADA8FF8DEF}" dt="2026-01-13T19:41:02.282" v="98" actId="13900"/>
        <pc:sldMkLst>
          <pc:docMk/>
          <pc:sldMk cId="0" sldId="258"/>
        </pc:sldMkLst>
        <pc:spChg chg="mod">
          <ac:chgData name="Mahmoud Kiasari" userId="32341b9a-71dd-4a5f-a9ee-937618117857" providerId="ADAL" clId="{F20D0978-9CD1-4C48-87F2-5CADA8FF8DEF}" dt="2026-01-13T19:41:02.282" v="98" actId="13900"/>
          <ac:spMkLst>
            <pc:docMk/>
            <pc:sldMk cId="0" sldId="258"/>
            <ac:spMk id="195" creationId="{00000000-0000-0000-0000-000000000000}"/>
          </ac:spMkLst>
        </pc:spChg>
        <pc:spChg chg="mod">
          <ac:chgData name="Mahmoud Kiasari" userId="32341b9a-71dd-4a5f-a9ee-937618117857" providerId="ADAL" clId="{F20D0978-9CD1-4C48-87F2-5CADA8FF8DEF}" dt="2026-01-13T19:40:19.644" v="94" actId="404"/>
          <ac:spMkLst>
            <pc:docMk/>
            <pc:sldMk cId="0" sldId="258"/>
            <ac:spMk id="198" creationId="{00000000-0000-0000-0000-000000000000}"/>
          </ac:spMkLst>
        </pc:spChg>
      </pc:sldChg>
      <pc:sldChg chg="modSp mod">
        <pc:chgData name="Mahmoud Kiasari" userId="32341b9a-71dd-4a5f-a9ee-937618117857" providerId="ADAL" clId="{F20D0978-9CD1-4C48-87F2-5CADA8FF8DEF}" dt="2026-01-13T19:42:13.771" v="109" actId="404"/>
        <pc:sldMkLst>
          <pc:docMk/>
          <pc:sldMk cId="0" sldId="259"/>
        </pc:sldMkLst>
        <pc:graphicFrameChg chg="mod modGraphic">
          <ac:chgData name="Mahmoud Kiasari" userId="32341b9a-71dd-4a5f-a9ee-937618117857" providerId="ADAL" clId="{F20D0978-9CD1-4C48-87F2-5CADA8FF8DEF}" dt="2026-01-13T19:42:13.771" v="109" actId="404"/>
          <ac:graphicFrameMkLst>
            <pc:docMk/>
            <pc:sldMk cId="0" sldId="259"/>
            <ac:graphicFrameMk id="205" creationId="{00000000-0000-0000-0000-000000000000}"/>
          </ac:graphicFrameMkLst>
        </pc:graphicFrameChg>
      </pc:sldChg>
      <pc:sldChg chg="addSp delSp modSp mod">
        <pc:chgData name="Mahmoud Kiasari" userId="32341b9a-71dd-4a5f-a9ee-937618117857" providerId="ADAL" clId="{F20D0978-9CD1-4C48-87F2-5CADA8FF8DEF}" dt="2026-01-13T19:47:09.303" v="195" actId="20577"/>
        <pc:sldMkLst>
          <pc:docMk/>
          <pc:sldMk cId="0" sldId="261"/>
        </pc:sldMkLst>
        <pc:spChg chg="add del mod">
          <ac:chgData name="Mahmoud Kiasari" userId="32341b9a-71dd-4a5f-a9ee-937618117857" providerId="ADAL" clId="{F20D0978-9CD1-4C48-87F2-5CADA8FF8DEF}" dt="2026-01-13T19:43:26.806" v="118" actId="13900"/>
          <ac:spMkLst>
            <pc:docMk/>
            <pc:sldMk cId="0" sldId="261"/>
            <ac:spMk id="217" creationId="{00000000-0000-0000-0000-000000000000}"/>
          </ac:spMkLst>
        </pc:spChg>
        <pc:spChg chg="mod">
          <ac:chgData name="Mahmoud Kiasari" userId="32341b9a-71dd-4a5f-a9ee-937618117857" providerId="ADAL" clId="{F20D0978-9CD1-4C48-87F2-5CADA8FF8DEF}" dt="2026-01-13T19:45:29.654" v="165" actId="20577"/>
          <ac:spMkLst>
            <pc:docMk/>
            <pc:sldMk cId="0" sldId="261"/>
            <ac:spMk id="220" creationId="{00000000-0000-0000-0000-000000000000}"/>
          </ac:spMkLst>
        </pc:spChg>
        <pc:spChg chg="mod">
          <ac:chgData name="Mahmoud Kiasari" userId="32341b9a-71dd-4a5f-a9ee-937618117857" providerId="ADAL" clId="{F20D0978-9CD1-4C48-87F2-5CADA8FF8DEF}" dt="2026-01-13T19:44:53.980" v="156" actId="27636"/>
          <ac:spMkLst>
            <pc:docMk/>
            <pc:sldMk cId="0" sldId="261"/>
            <ac:spMk id="221" creationId="{00000000-0000-0000-0000-000000000000}"/>
          </ac:spMkLst>
        </pc:spChg>
        <pc:spChg chg="mod">
          <ac:chgData name="Mahmoud Kiasari" userId="32341b9a-71dd-4a5f-a9ee-937618117857" providerId="ADAL" clId="{F20D0978-9CD1-4C48-87F2-5CADA8FF8DEF}" dt="2026-01-13T19:46:13.693" v="177" actId="13900"/>
          <ac:spMkLst>
            <pc:docMk/>
            <pc:sldMk cId="0" sldId="261"/>
            <ac:spMk id="222" creationId="{00000000-0000-0000-0000-000000000000}"/>
          </ac:spMkLst>
        </pc:spChg>
        <pc:spChg chg="mod">
          <ac:chgData name="Mahmoud Kiasari" userId="32341b9a-71dd-4a5f-a9ee-937618117857" providerId="ADAL" clId="{F20D0978-9CD1-4C48-87F2-5CADA8FF8DEF}" dt="2026-01-13T19:44:02.505" v="128" actId="20577"/>
          <ac:spMkLst>
            <pc:docMk/>
            <pc:sldMk cId="0" sldId="261"/>
            <ac:spMk id="223" creationId="{00000000-0000-0000-0000-000000000000}"/>
          </ac:spMkLst>
        </pc:spChg>
        <pc:spChg chg="mod">
          <ac:chgData name="Mahmoud Kiasari" userId="32341b9a-71dd-4a5f-a9ee-937618117857" providerId="ADAL" clId="{F20D0978-9CD1-4C48-87F2-5CADA8FF8DEF}" dt="2026-01-13T19:45:54.327" v="171" actId="20577"/>
          <ac:spMkLst>
            <pc:docMk/>
            <pc:sldMk cId="0" sldId="261"/>
            <ac:spMk id="224" creationId="{00000000-0000-0000-0000-000000000000}"/>
          </ac:spMkLst>
        </pc:spChg>
        <pc:spChg chg="mod">
          <ac:chgData name="Mahmoud Kiasari" userId="32341b9a-71dd-4a5f-a9ee-937618117857" providerId="ADAL" clId="{F20D0978-9CD1-4C48-87F2-5CADA8FF8DEF}" dt="2026-01-13T19:46:35.241" v="185" actId="20577"/>
          <ac:spMkLst>
            <pc:docMk/>
            <pc:sldMk cId="0" sldId="261"/>
            <ac:spMk id="225" creationId="{00000000-0000-0000-0000-000000000000}"/>
          </ac:spMkLst>
        </pc:spChg>
        <pc:spChg chg="mod">
          <ac:chgData name="Mahmoud Kiasari" userId="32341b9a-71dd-4a5f-a9ee-937618117857" providerId="ADAL" clId="{F20D0978-9CD1-4C48-87F2-5CADA8FF8DEF}" dt="2026-01-13T19:47:09.303" v="195" actId="20577"/>
          <ac:spMkLst>
            <pc:docMk/>
            <pc:sldMk cId="0" sldId="261"/>
            <ac:spMk id="226" creationId="{00000000-0000-0000-0000-000000000000}"/>
          </ac:spMkLst>
        </pc:spChg>
      </pc:sldChg>
      <pc:sldChg chg="modSp mod">
        <pc:chgData name="Mahmoud Kiasari" userId="32341b9a-71dd-4a5f-a9ee-937618117857" providerId="ADAL" clId="{F20D0978-9CD1-4C48-87F2-5CADA8FF8DEF}" dt="2026-01-13T19:48:09.298" v="225" actId="404"/>
        <pc:sldMkLst>
          <pc:docMk/>
          <pc:sldMk cId="0" sldId="262"/>
        </pc:sldMkLst>
        <pc:spChg chg="mod">
          <ac:chgData name="Mahmoud Kiasari" userId="32341b9a-71dd-4a5f-a9ee-937618117857" providerId="ADAL" clId="{F20D0978-9CD1-4C48-87F2-5CADA8FF8DEF}" dt="2026-01-13T19:48:09.298" v="225" actId="404"/>
          <ac:spMkLst>
            <pc:docMk/>
            <pc:sldMk cId="0" sldId="262"/>
            <ac:spMk id="23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1" name="Google Shape;20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abf134899d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abf134899d_0_1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" name="Google Shape;215;gabf134899d_0_1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bg>
      <p:bgPr>
        <a:solidFill>
          <a:srgbClr val="F5F8F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>
            <a:spLocks noGrp="1"/>
          </p:cNvSpPr>
          <p:nvPr>
            <p:ph type="body" idx="1"/>
          </p:nvPr>
        </p:nvSpPr>
        <p:spPr>
          <a:xfrm>
            <a:off x="1007390" y="2076773"/>
            <a:ext cx="9237000" cy="3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30"/>
          <p:cNvSpPr txBox="1">
            <a:spLocks noGrp="1"/>
          </p:cNvSpPr>
          <p:nvPr>
            <p:ph type="subTitle" idx="2"/>
          </p:nvPr>
        </p:nvSpPr>
        <p:spPr>
          <a:xfrm>
            <a:off x="1007390" y="1083370"/>
            <a:ext cx="92370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  <a:defRPr sz="3600" b="1">
                <a:solidFill>
                  <a:srgbClr val="C3B3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18" name="Google Shape;18;p30"/>
          <p:cNvCxnSpPr/>
          <p:nvPr/>
        </p:nvCxnSpPr>
        <p:spPr>
          <a:xfrm rot="10800000">
            <a:off x="1290300" y="6642754"/>
            <a:ext cx="10901700" cy="0"/>
          </a:xfrm>
          <a:prstGeom prst="straightConnector1">
            <a:avLst/>
          </a:prstGeom>
          <a:noFill/>
          <a:ln w="12700" cap="flat" cmpd="sng">
            <a:solidFill>
              <a:srgbClr val="3E3E3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9" name="Google Shape;19;p30" descr="Ic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2736" y="6291266"/>
            <a:ext cx="920907" cy="375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s">
  <p:cSld name="Columns">
    <p:bg>
      <p:bgPr>
        <a:solidFill>
          <a:srgbClr val="F5F8FA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1"/>
          <p:cNvSpPr txBox="1">
            <a:spLocks noGrp="1"/>
          </p:cNvSpPr>
          <p:nvPr>
            <p:ph type="body" idx="1"/>
          </p:nvPr>
        </p:nvSpPr>
        <p:spPr>
          <a:xfrm>
            <a:off x="1007390" y="2076773"/>
            <a:ext cx="4432500" cy="3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marL="914400" lvl="1" indent="-368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2"/>
          </p:nvPr>
        </p:nvSpPr>
        <p:spPr>
          <a:xfrm>
            <a:off x="1007390" y="1083370"/>
            <a:ext cx="92370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  <a:defRPr sz="3600" b="1">
                <a:solidFill>
                  <a:srgbClr val="C3B3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23" name="Google Shape;23;p31"/>
          <p:cNvCxnSpPr/>
          <p:nvPr/>
        </p:nvCxnSpPr>
        <p:spPr>
          <a:xfrm rot="10800000">
            <a:off x="1290300" y="6642754"/>
            <a:ext cx="10901700" cy="0"/>
          </a:xfrm>
          <a:prstGeom prst="straightConnector1">
            <a:avLst/>
          </a:prstGeom>
          <a:noFill/>
          <a:ln w="12700" cap="flat" cmpd="sng">
            <a:solidFill>
              <a:srgbClr val="3E3E3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1"/>
          <p:cNvSpPr txBox="1">
            <a:spLocks noGrp="1"/>
          </p:cNvSpPr>
          <p:nvPr>
            <p:ph type="body" idx="3"/>
          </p:nvPr>
        </p:nvSpPr>
        <p:spPr>
          <a:xfrm>
            <a:off x="5811865" y="2076773"/>
            <a:ext cx="4432500" cy="3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marL="914400" lvl="1" indent="-368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" name="Google Shape;25;p31" descr="Ic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2736" y="6291266"/>
            <a:ext cx="920907" cy="375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bg>
      <p:bgPr>
        <a:solidFill>
          <a:srgbClr val="F5F8FA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34" descr="A picture containing tex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7428" y="1735734"/>
            <a:ext cx="11722136" cy="391519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4"/>
          <p:cNvSpPr txBox="1">
            <a:spLocks noGrp="1"/>
          </p:cNvSpPr>
          <p:nvPr>
            <p:ph type="body" idx="1"/>
          </p:nvPr>
        </p:nvSpPr>
        <p:spPr>
          <a:xfrm>
            <a:off x="3505199" y="2294503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34"/>
          <p:cNvSpPr txBox="1">
            <a:spLocks noGrp="1"/>
          </p:cNvSpPr>
          <p:nvPr>
            <p:ph type="subTitle" idx="2"/>
          </p:nvPr>
        </p:nvSpPr>
        <p:spPr>
          <a:xfrm>
            <a:off x="3505199" y="1404129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0" name="Google Shape;30;p34"/>
          <p:cNvSpPr txBox="1">
            <a:spLocks noGrp="1"/>
          </p:cNvSpPr>
          <p:nvPr>
            <p:ph type="body" idx="3"/>
          </p:nvPr>
        </p:nvSpPr>
        <p:spPr>
          <a:xfrm>
            <a:off x="3505199" y="3164668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4"/>
          <p:cNvSpPr txBox="1">
            <a:spLocks noGrp="1"/>
          </p:cNvSpPr>
          <p:nvPr>
            <p:ph type="body" idx="4"/>
          </p:nvPr>
        </p:nvSpPr>
        <p:spPr>
          <a:xfrm>
            <a:off x="3505199" y="4028596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34"/>
          <p:cNvSpPr txBox="1">
            <a:spLocks noGrp="1"/>
          </p:cNvSpPr>
          <p:nvPr>
            <p:ph type="body" idx="5"/>
          </p:nvPr>
        </p:nvSpPr>
        <p:spPr>
          <a:xfrm>
            <a:off x="3505199" y="4892524"/>
            <a:ext cx="51816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3" name="Google Shape;33;p34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2736" y="6291266"/>
            <a:ext cx="920907" cy="375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pact Statement Slide">
  <p:cSld name="Impact Statement Slide">
    <p:bg>
      <p:bgPr>
        <a:solidFill>
          <a:srgbClr val="3E3E3E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5"/>
          <p:cNvSpPr txBox="1">
            <a:spLocks noGrp="1"/>
          </p:cNvSpPr>
          <p:nvPr>
            <p:ph type="subTitle" idx="1"/>
          </p:nvPr>
        </p:nvSpPr>
        <p:spPr>
          <a:xfrm>
            <a:off x="6339236" y="2369395"/>
            <a:ext cx="4928100" cy="21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36" name="Google Shape;36;p35" descr="Logo, ic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63056" y="6291264"/>
            <a:ext cx="899319" cy="366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-2083123" y="2369396"/>
            <a:ext cx="11460803" cy="11460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pact Statement Slide_3">
  <p:cSld name="Impact Statement Slide_3">
    <p:bg>
      <p:bgPr>
        <a:solidFill>
          <a:srgbClr val="F5F8FA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6"/>
          <p:cNvSpPr txBox="1">
            <a:spLocks noGrp="1"/>
          </p:cNvSpPr>
          <p:nvPr>
            <p:ph type="subTitle" idx="1"/>
          </p:nvPr>
        </p:nvSpPr>
        <p:spPr>
          <a:xfrm>
            <a:off x="6405967" y="2383048"/>
            <a:ext cx="4928100" cy="21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E3E3E"/>
              </a:buClr>
              <a:buSzPts val="3600"/>
              <a:buNone/>
              <a:defRPr sz="3600" b="1">
                <a:solidFill>
                  <a:srgbClr val="3E3E3E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40" name="Google Shape;40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>
            <a:off x="-2083123" y="2369396"/>
            <a:ext cx="11460803" cy="11460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content">
  <p:cSld name="Image and content">
    <p:bg>
      <p:bgPr>
        <a:solidFill>
          <a:srgbClr val="F5F8FA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7"/>
          <p:cNvSpPr txBox="1">
            <a:spLocks noGrp="1"/>
          </p:cNvSpPr>
          <p:nvPr>
            <p:ph type="body" idx="1"/>
          </p:nvPr>
        </p:nvSpPr>
        <p:spPr>
          <a:xfrm>
            <a:off x="1007391" y="2076773"/>
            <a:ext cx="4448100" cy="3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>
                <a:latin typeface="Arial"/>
                <a:ea typeface="Arial"/>
                <a:cs typeface="Arial"/>
                <a:sym typeface="Arial"/>
              </a:defRPr>
            </a:lvl1pPr>
            <a:lvl2pPr marL="914400" lvl="1" indent="-3683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37"/>
          <p:cNvSpPr txBox="1">
            <a:spLocks noGrp="1"/>
          </p:cNvSpPr>
          <p:nvPr>
            <p:ph type="subTitle" idx="2"/>
          </p:nvPr>
        </p:nvSpPr>
        <p:spPr>
          <a:xfrm>
            <a:off x="1007391" y="1083370"/>
            <a:ext cx="44481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  <a:defRPr sz="3600" b="1">
                <a:solidFill>
                  <a:srgbClr val="C3B3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44" name="Google Shape;44;p37"/>
          <p:cNvCxnSpPr/>
          <p:nvPr/>
        </p:nvCxnSpPr>
        <p:spPr>
          <a:xfrm rot="10800000">
            <a:off x="1290300" y="6642754"/>
            <a:ext cx="10901700" cy="0"/>
          </a:xfrm>
          <a:prstGeom prst="straightConnector1">
            <a:avLst/>
          </a:prstGeom>
          <a:noFill/>
          <a:ln w="12700" cap="flat" cmpd="sng">
            <a:solidFill>
              <a:srgbClr val="3E3E3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5" name="Google Shape;45;p37"/>
          <p:cNvSpPr>
            <a:spLocks noGrp="1"/>
          </p:cNvSpPr>
          <p:nvPr>
            <p:ph type="clipArt" idx="3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46" name="Google Shape;46;p37" descr="Ic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2736" y="6291266"/>
            <a:ext cx="920907" cy="375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rgbClr val="3E3E3E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Google Shape;48;p38"/>
          <p:cNvCxnSpPr/>
          <p:nvPr/>
        </p:nvCxnSpPr>
        <p:spPr>
          <a:xfrm rot="10800000">
            <a:off x="530883" y="5904855"/>
            <a:ext cx="4196100" cy="0"/>
          </a:xfrm>
          <a:prstGeom prst="straightConnector1">
            <a:avLst/>
          </a:prstGeom>
          <a:noFill/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9" name="Google Shape;49;p38"/>
          <p:cNvSpPr txBox="1">
            <a:spLocks noGrp="1"/>
          </p:cNvSpPr>
          <p:nvPr>
            <p:ph type="subTitle" idx="1"/>
          </p:nvPr>
        </p:nvSpPr>
        <p:spPr>
          <a:xfrm>
            <a:off x="546314" y="3721641"/>
            <a:ext cx="61977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0" name="Google Shape;50;p38"/>
          <p:cNvSpPr txBox="1">
            <a:spLocks noGrp="1"/>
          </p:cNvSpPr>
          <p:nvPr>
            <p:ph type="body" idx="2"/>
          </p:nvPr>
        </p:nvSpPr>
        <p:spPr>
          <a:xfrm>
            <a:off x="10380125" y="5455402"/>
            <a:ext cx="1571700" cy="32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1" name="Google Shape;51;p38" descr="A picture containing text, clipar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6314" y="2093184"/>
            <a:ext cx="2649775" cy="1043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38" descr="Logo, 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5210" y="-2075233"/>
            <a:ext cx="9961288" cy="9961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type="title">
  <p:cSld name="TITL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6" name="Google Shape;56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_SLIDE">
  <p:cSld name="MASTER_SLIDE">
    <p:bg>
      <p:bgPr>
        <a:solidFill>
          <a:srgbClr val="1F445A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/>
          <p:nvPr/>
        </p:nvSpPr>
        <p:spPr>
          <a:xfrm>
            <a:off x="0" y="585216"/>
            <a:ext cx="2438400" cy="4114800"/>
          </a:xfrm>
          <a:prstGeom prst="rect">
            <a:avLst/>
          </a:prstGeom>
          <a:solidFill>
            <a:srgbClr val="EEEEEE"/>
          </a:solidFill>
          <a:ln w="12700" cap="flat" cmpd="sng">
            <a:solidFill>
              <a:srgbClr val="1E44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3"/>
          <p:cNvSpPr/>
          <p:nvPr/>
        </p:nvSpPr>
        <p:spPr>
          <a:xfrm>
            <a:off x="2438400" y="585216"/>
            <a:ext cx="2438400" cy="2057600"/>
          </a:xfrm>
          <a:prstGeom prst="rect">
            <a:avLst/>
          </a:prstGeom>
          <a:solidFill>
            <a:srgbClr val="EEEEEE"/>
          </a:solidFill>
          <a:ln w="12700" cap="flat" cmpd="sng">
            <a:solidFill>
              <a:srgbClr val="1E44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3"/>
          <p:cNvSpPr/>
          <p:nvPr/>
        </p:nvSpPr>
        <p:spPr>
          <a:xfrm>
            <a:off x="2438400" y="2615184"/>
            <a:ext cx="2438400" cy="2057600"/>
          </a:xfrm>
          <a:prstGeom prst="rect">
            <a:avLst/>
          </a:prstGeom>
          <a:solidFill>
            <a:srgbClr val="EEEEEE"/>
          </a:solidFill>
          <a:ln w="12700" cap="flat" cmpd="sng">
            <a:solidFill>
              <a:srgbClr val="1E44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3"/>
          <p:cNvSpPr/>
          <p:nvPr/>
        </p:nvSpPr>
        <p:spPr>
          <a:xfrm>
            <a:off x="4876800" y="585216"/>
            <a:ext cx="2438400" cy="4114800"/>
          </a:xfrm>
          <a:prstGeom prst="rect">
            <a:avLst/>
          </a:prstGeom>
          <a:solidFill>
            <a:srgbClr val="EEEEEE"/>
          </a:solidFill>
          <a:ln w="12700" cap="flat" cmpd="sng">
            <a:solidFill>
              <a:srgbClr val="1E44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3"/>
          <p:cNvSpPr/>
          <p:nvPr/>
        </p:nvSpPr>
        <p:spPr>
          <a:xfrm>
            <a:off x="7315200" y="585216"/>
            <a:ext cx="2438400" cy="2057600"/>
          </a:xfrm>
          <a:prstGeom prst="rect">
            <a:avLst/>
          </a:prstGeom>
          <a:solidFill>
            <a:srgbClr val="EEEEEE"/>
          </a:solidFill>
          <a:ln w="12700" cap="flat" cmpd="sng">
            <a:solidFill>
              <a:srgbClr val="1E44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3"/>
          <p:cNvSpPr/>
          <p:nvPr/>
        </p:nvSpPr>
        <p:spPr>
          <a:xfrm>
            <a:off x="7315200" y="2615184"/>
            <a:ext cx="2438400" cy="2057600"/>
          </a:xfrm>
          <a:prstGeom prst="rect">
            <a:avLst/>
          </a:prstGeom>
          <a:solidFill>
            <a:srgbClr val="EEEEEE"/>
          </a:solidFill>
          <a:ln w="12700" cap="flat" cmpd="sng">
            <a:solidFill>
              <a:srgbClr val="1E44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3"/>
          <p:cNvSpPr/>
          <p:nvPr/>
        </p:nvSpPr>
        <p:spPr>
          <a:xfrm>
            <a:off x="9753600" y="585216"/>
            <a:ext cx="2438400" cy="4114800"/>
          </a:xfrm>
          <a:prstGeom prst="rect">
            <a:avLst/>
          </a:prstGeom>
          <a:solidFill>
            <a:srgbClr val="EEEEEE"/>
          </a:solidFill>
          <a:ln w="12700" cap="flat" cmpd="sng">
            <a:solidFill>
              <a:srgbClr val="1E44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3"/>
          <p:cNvSpPr/>
          <p:nvPr/>
        </p:nvSpPr>
        <p:spPr>
          <a:xfrm>
            <a:off x="-36576" y="548640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lang="en-CA" sz="12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Key Partners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3"/>
          <p:cNvSpPr/>
          <p:nvPr/>
        </p:nvSpPr>
        <p:spPr>
          <a:xfrm>
            <a:off x="2401824" y="548640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lang="en-CA" sz="12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Key Activities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3"/>
          <p:cNvSpPr/>
          <p:nvPr/>
        </p:nvSpPr>
        <p:spPr>
          <a:xfrm>
            <a:off x="2401824" y="2578608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lang="en-CA" sz="12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Key Resources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3"/>
          <p:cNvSpPr/>
          <p:nvPr/>
        </p:nvSpPr>
        <p:spPr>
          <a:xfrm>
            <a:off x="4840224" y="548640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lang="en-CA" sz="12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Value Proposition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3"/>
          <p:cNvSpPr/>
          <p:nvPr/>
        </p:nvSpPr>
        <p:spPr>
          <a:xfrm>
            <a:off x="7278624" y="548640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lang="en-CA" sz="12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Customer Relationships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3"/>
          <p:cNvSpPr/>
          <p:nvPr/>
        </p:nvSpPr>
        <p:spPr>
          <a:xfrm>
            <a:off x="7278624" y="2578608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lang="en-CA" sz="12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Channels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3"/>
          <p:cNvSpPr/>
          <p:nvPr/>
        </p:nvSpPr>
        <p:spPr>
          <a:xfrm>
            <a:off x="9717024" y="548640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lang="en-CA" sz="12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Customer Segments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33" descr="https://s3-us-west-2.amazonaws.com/innovation-within-external-assets/iw_logo_4_29_19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576" y="73152"/>
            <a:ext cx="1463040" cy="42672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3"/>
          <p:cNvSpPr/>
          <p:nvPr/>
        </p:nvSpPr>
        <p:spPr>
          <a:xfrm>
            <a:off x="0" y="4608576"/>
            <a:ext cx="6096000" cy="2331600"/>
          </a:xfrm>
          <a:prstGeom prst="rect">
            <a:avLst/>
          </a:prstGeom>
          <a:solidFill>
            <a:srgbClr val="EEEEEE"/>
          </a:solidFill>
          <a:ln w="12700" cap="flat" cmpd="sng">
            <a:solidFill>
              <a:srgbClr val="1E44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3"/>
          <p:cNvSpPr/>
          <p:nvPr/>
        </p:nvSpPr>
        <p:spPr>
          <a:xfrm>
            <a:off x="6096000" y="4608576"/>
            <a:ext cx="6096000" cy="2331600"/>
          </a:xfrm>
          <a:prstGeom prst="rect">
            <a:avLst/>
          </a:prstGeom>
          <a:solidFill>
            <a:srgbClr val="EEEEEE"/>
          </a:solidFill>
          <a:ln w="12700" cap="flat" cmpd="sng">
            <a:solidFill>
              <a:srgbClr val="1E44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3"/>
          <p:cNvSpPr/>
          <p:nvPr/>
        </p:nvSpPr>
        <p:spPr>
          <a:xfrm>
            <a:off x="-36576" y="4572000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lang="en-CA" sz="12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Cost Structure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3"/>
          <p:cNvSpPr/>
          <p:nvPr/>
        </p:nvSpPr>
        <p:spPr>
          <a:xfrm>
            <a:off x="6059424" y="4572000"/>
            <a:ext cx="91440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lang="en-CA" sz="12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Revenue Streams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3"/>
          <p:cNvSpPr/>
          <p:nvPr/>
        </p:nvSpPr>
        <p:spPr>
          <a:xfrm>
            <a:off x="0" y="0"/>
            <a:ext cx="12192000" cy="576032"/>
          </a:xfrm>
          <a:prstGeom prst="rect">
            <a:avLst/>
          </a:prstGeom>
          <a:solidFill>
            <a:srgbClr val="C2B38A"/>
          </a:solidFill>
          <a:ln w="25400" cap="flat" cmpd="sng">
            <a:solidFill>
              <a:srgbClr val="C2B38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3"/>
          <p:cNvSpPr txBox="1"/>
          <p:nvPr/>
        </p:nvSpPr>
        <p:spPr>
          <a:xfrm>
            <a:off x="9144" y="157039"/>
            <a:ext cx="259689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400" b="1" i="0" u="none" strike="noStrike" cap="none">
                <a:solidFill>
                  <a:srgbClr val="F6F6F6"/>
                </a:solidFill>
                <a:latin typeface="Arial"/>
                <a:ea typeface="Arial"/>
                <a:cs typeface="Arial"/>
                <a:sym typeface="Arial"/>
              </a:rPr>
              <a:t>BUSINESS MODEL CANVAS</a:t>
            </a:r>
            <a:endParaRPr/>
          </a:p>
        </p:txBody>
      </p:sp>
      <p:sp>
        <p:nvSpPr>
          <p:cNvPr id="90" name="Google Shape;90;p33"/>
          <p:cNvSpPr txBox="1"/>
          <p:nvPr/>
        </p:nvSpPr>
        <p:spPr>
          <a:xfrm>
            <a:off x="3008376" y="157039"/>
            <a:ext cx="76809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400" b="1" i="0" u="none" strike="noStrike" cap="none">
                <a:solidFill>
                  <a:srgbClr val="F6F6F6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endParaRPr/>
          </a:p>
        </p:txBody>
      </p:sp>
      <p:sp>
        <p:nvSpPr>
          <p:cNvPr id="91" name="Google Shape;91;p33"/>
          <p:cNvSpPr txBox="1"/>
          <p:nvPr/>
        </p:nvSpPr>
        <p:spPr>
          <a:xfrm>
            <a:off x="9726168" y="152432"/>
            <a:ext cx="13929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400" b="1" i="0" u="none" strike="noStrike" cap="none">
                <a:solidFill>
                  <a:srgbClr val="F6F6F6"/>
                </a:solidFill>
                <a:latin typeface="Arial"/>
                <a:ea typeface="Arial"/>
                <a:cs typeface="Arial"/>
                <a:sym typeface="Arial"/>
              </a:rPr>
              <a:t>ITERATION #: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1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94" name="Google Shape;94;p41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95" name="Google Shape;95;p4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2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98" name="Google Shape;98;p4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4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4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1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cxnSp>
        <p:nvCxnSpPr>
          <p:cNvPr id="105" name="Google Shape;105;p44"/>
          <p:cNvCxnSpPr/>
          <p:nvPr/>
        </p:nvCxnSpPr>
        <p:spPr>
          <a:xfrm>
            <a:off x="6233200" y="1352500"/>
            <a:ext cx="0" cy="466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6" name="Google Shape;106;p44"/>
          <p:cNvSpPr txBox="1"/>
          <p:nvPr/>
        </p:nvSpPr>
        <p:spPr>
          <a:xfrm>
            <a:off x="3519000" y="333267"/>
            <a:ext cx="5428400" cy="6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lang="en-CA" sz="1867" b="1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 one sentence tell us …</a:t>
            </a:r>
            <a:endParaRPr sz="1867" b="1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44"/>
          <p:cNvSpPr txBox="1"/>
          <p:nvPr/>
        </p:nvSpPr>
        <p:spPr>
          <a:xfrm>
            <a:off x="703000" y="818900"/>
            <a:ext cx="4000000" cy="53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lang="en-CA" sz="1867" b="1" i="1" u="none" strike="noStrike" cap="none">
                <a:solidFill>
                  <a:schemeClr val="dk1"/>
                </a:solidFill>
                <a:highlight>
                  <a:srgbClr val="F8D231"/>
                </a:highlight>
                <a:latin typeface="Roboto"/>
                <a:ea typeface="Roboto"/>
                <a:cs typeface="Roboto"/>
                <a:sym typeface="Roboto"/>
              </a:rPr>
              <a:t>What’s your product/service ? </a:t>
            </a:r>
            <a:endParaRPr sz="1867" b="1" i="1" u="none" strike="noStrike" cap="none">
              <a:solidFill>
                <a:srgbClr val="000000"/>
              </a:solidFill>
              <a:highlight>
                <a:srgbClr val="F8D23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4"/>
          <p:cNvSpPr txBox="1"/>
          <p:nvPr/>
        </p:nvSpPr>
        <p:spPr>
          <a:xfrm>
            <a:off x="7763400" y="818900"/>
            <a:ext cx="4000000" cy="53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lang="en-CA" sz="1867" b="1" i="1" u="none" strike="noStrike" cap="none">
                <a:solidFill>
                  <a:schemeClr val="dk1"/>
                </a:solidFill>
                <a:highlight>
                  <a:srgbClr val="F8D231"/>
                </a:highlight>
                <a:latin typeface="Roboto"/>
                <a:ea typeface="Roboto"/>
                <a:cs typeface="Roboto"/>
                <a:sym typeface="Roboto"/>
              </a:rPr>
              <a:t>What’s your secret sauce? </a:t>
            </a:r>
            <a:endParaRPr sz="1867" b="1" i="1" u="none" strike="noStrike" cap="none">
              <a:solidFill>
                <a:srgbClr val="000000"/>
              </a:solidFill>
              <a:highlight>
                <a:srgbClr val="F8D23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4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112" name="Google Shape;112;p4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113" name="Google Shape;113;p4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116" name="Google Shape;116;p46"/>
          <p:cNvSpPr/>
          <p:nvPr/>
        </p:nvSpPr>
        <p:spPr>
          <a:xfrm>
            <a:off x="5061133" y="429233"/>
            <a:ext cx="6698400" cy="5412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6"/>
          <p:cNvSpPr txBox="1"/>
          <p:nvPr/>
        </p:nvSpPr>
        <p:spPr>
          <a:xfrm>
            <a:off x="5197600" y="546900"/>
            <a:ext cx="1796800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CA" sz="800" b="1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Voici quelques post-its et formes que vous pouvez copier-coller pour commencer.</a:t>
            </a:r>
            <a:endParaRPr sz="800" b="1" i="1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120" name="Google Shape;120;p4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121" name="Google Shape;121;p4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24" name="Google Shape;124;p4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128" name="Google Shape;128;p4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129" name="Google Shape;129;p4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4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3" name="Google Shape;133;p5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1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endParaRPr/>
          </a:p>
        </p:txBody>
      </p:sp>
      <p:sp>
        <p:nvSpPr>
          <p:cNvPr id="136" name="Google Shape;136;p5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7" name="Google Shape;137;p5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sp>
        <p:nvSpPr>
          <p:cNvPr id="140" name="Google Shape;140;p52"/>
          <p:cNvSpPr/>
          <p:nvPr/>
        </p:nvSpPr>
        <p:spPr>
          <a:xfrm>
            <a:off x="2055305" y="899033"/>
            <a:ext cx="2589200" cy="4601200"/>
          </a:xfrm>
          <a:prstGeom prst="rect">
            <a:avLst/>
          </a:prstGeom>
          <a:solidFill>
            <a:srgbClr val="EEEEEE"/>
          </a:solidFill>
          <a:ln w="12700" cap="flat" cmpd="sng">
            <a:solidFill>
              <a:srgbClr val="1E44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2"/>
          <p:cNvSpPr/>
          <p:nvPr/>
        </p:nvSpPr>
        <p:spPr>
          <a:xfrm>
            <a:off x="4644528" y="899033"/>
            <a:ext cx="2589200" cy="2300800"/>
          </a:xfrm>
          <a:prstGeom prst="rect">
            <a:avLst/>
          </a:prstGeom>
          <a:solidFill>
            <a:srgbClr val="EEEEEE"/>
          </a:solidFill>
          <a:ln w="12700" cap="flat" cmpd="sng">
            <a:solidFill>
              <a:srgbClr val="1E44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2"/>
          <p:cNvSpPr/>
          <p:nvPr/>
        </p:nvSpPr>
        <p:spPr>
          <a:xfrm>
            <a:off x="4644533" y="3169000"/>
            <a:ext cx="2589200" cy="2331200"/>
          </a:xfrm>
          <a:prstGeom prst="rect">
            <a:avLst/>
          </a:prstGeom>
          <a:solidFill>
            <a:srgbClr val="EEEEEE"/>
          </a:solidFill>
          <a:ln w="12700" cap="flat" cmpd="sng">
            <a:solidFill>
              <a:srgbClr val="1E44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2"/>
          <p:cNvSpPr/>
          <p:nvPr/>
        </p:nvSpPr>
        <p:spPr>
          <a:xfrm>
            <a:off x="7233751" y="899033"/>
            <a:ext cx="2589200" cy="4601200"/>
          </a:xfrm>
          <a:prstGeom prst="rect">
            <a:avLst/>
          </a:prstGeom>
          <a:solidFill>
            <a:srgbClr val="EEEEEE"/>
          </a:solidFill>
          <a:ln w="12700" cap="flat" cmpd="sng">
            <a:solidFill>
              <a:srgbClr val="1E44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2"/>
          <p:cNvSpPr/>
          <p:nvPr/>
        </p:nvSpPr>
        <p:spPr>
          <a:xfrm>
            <a:off x="2016468" y="858133"/>
            <a:ext cx="9709600" cy="4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lang="en-CA" sz="12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Proposition de valeur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2"/>
          <p:cNvSpPr/>
          <p:nvPr/>
        </p:nvSpPr>
        <p:spPr>
          <a:xfrm>
            <a:off x="4605689" y="858133"/>
            <a:ext cx="9709600" cy="4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lang="en-CA" sz="12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Relations de clientèle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2"/>
          <p:cNvSpPr/>
          <p:nvPr/>
        </p:nvSpPr>
        <p:spPr>
          <a:xfrm>
            <a:off x="4605689" y="3128099"/>
            <a:ext cx="9709600" cy="4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lang="en-CA" sz="12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Canaux de distribution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2"/>
          <p:cNvSpPr/>
          <p:nvPr/>
        </p:nvSpPr>
        <p:spPr>
          <a:xfrm>
            <a:off x="7194912" y="858133"/>
            <a:ext cx="9709600" cy="4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900"/>
              <a:buFont typeface="Arial"/>
              <a:buNone/>
            </a:pPr>
            <a:r>
              <a:rPr lang="en-CA" sz="1200" b="0" i="0" u="none" strike="noStrike" cap="non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Segments de clientèle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2">
  <p:cSld name="Blank 2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 1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4"/>
          <p:cNvSpPr txBox="1"/>
          <p:nvPr/>
        </p:nvSpPr>
        <p:spPr>
          <a:xfrm>
            <a:off x="7297833" y="2291733"/>
            <a:ext cx="4894000" cy="39728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lang="en-CA" sz="1867" b="0" i="0" u="sng" strike="noStrike" cap="non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Next steps</a:t>
            </a:r>
            <a:r>
              <a:rPr lang="en-CA" sz="1867" b="0" i="0" u="none" strike="noStrike" cap="non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:</a:t>
            </a:r>
            <a:endParaRPr sz="1867" b="0" i="0" u="none" strike="noStrike" cap="non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2" name="Google Shape;152;p54"/>
          <p:cNvSpPr txBox="1"/>
          <p:nvPr/>
        </p:nvSpPr>
        <p:spPr>
          <a:xfrm>
            <a:off x="0" y="0"/>
            <a:ext cx="1426400" cy="533600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lang="en-CA" sz="1867" b="0" i="0" u="none" strike="noStrike" cap="non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WEEK #</a:t>
            </a:r>
            <a:endParaRPr sz="1867" b="0" i="0" u="none" strike="noStrike" cap="non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3" name="Google Shape;153;p54"/>
          <p:cNvSpPr txBox="1"/>
          <p:nvPr/>
        </p:nvSpPr>
        <p:spPr>
          <a:xfrm>
            <a:off x="0" y="586017"/>
            <a:ext cx="7298000" cy="16504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lang="en-CA" sz="1867" b="0" i="0" u="sng" strike="noStrike" cap="non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Hypothesis</a:t>
            </a:r>
            <a:r>
              <a:rPr lang="en-CA" sz="1867" b="0" i="0" u="none" strike="noStrike" cap="non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:</a:t>
            </a:r>
            <a:endParaRPr sz="1867" b="0" i="0" u="none" strike="noStrike" cap="non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4" name="Google Shape;154;p54"/>
          <p:cNvSpPr txBox="1"/>
          <p:nvPr/>
        </p:nvSpPr>
        <p:spPr>
          <a:xfrm>
            <a:off x="7297833" y="6264534"/>
            <a:ext cx="2632000" cy="5335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lang="en-CA" sz="1867" b="0" i="0" u="none" strike="noStrike" cap="non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# of Interviews = </a:t>
            </a:r>
            <a:endParaRPr sz="1867" b="0" i="0" u="none" strike="noStrike" cap="non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5" name="Google Shape;155;p54"/>
          <p:cNvSpPr txBox="1"/>
          <p:nvPr/>
        </p:nvSpPr>
        <p:spPr>
          <a:xfrm>
            <a:off x="1426400" y="-8467"/>
            <a:ext cx="6982400" cy="5335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lang="en-CA" sz="1867" b="0" i="0" u="none" strike="noStrike" cap="non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Customer Segment Name: </a:t>
            </a:r>
            <a:endParaRPr sz="1867" b="0" i="0" u="none" strike="noStrike" cap="non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6" name="Google Shape;156;p54"/>
          <p:cNvSpPr txBox="1"/>
          <p:nvPr/>
        </p:nvSpPr>
        <p:spPr>
          <a:xfrm>
            <a:off x="9929667" y="6264534"/>
            <a:ext cx="2263200" cy="533504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lang="en-CA" sz="1867" b="0" i="0" u="none" strike="noStrike" cap="non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# of referrals =</a:t>
            </a:r>
            <a:endParaRPr sz="1867" b="0" i="0" u="none" strike="noStrike" cap="non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7" name="Google Shape;157;p54"/>
          <p:cNvSpPr txBox="1"/>
          <p:nvPr/>
        </p:nvSpPr>
        <p:spPr>
          <a:xfrm>
            <a:off x="0" y="2291677"/>
            <a:ext cx="7298000" cy="45064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lang="en-CA" sz="1867" b="0" i="0" u="sng" strike="noStrike" cap="non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Learnings</a:t>
            </a:r>
            <a:r>
              <a:rPr lang="en-CA" sz="1867" b="0" i="0" u="none" strike="noStrike" cap="non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:</a:t>
            </a:r>
            <a:endParaRPr sz="1867" b="0" i="0" u="none" strike="noStrike" cap="non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8" name="Google Shape;158;p54"/>
          <p:cNvSpPr txBox="1"/>
          <p:nvPr/>
        </p:nvSpPr>
        <p:spPr>
          <a:xfrm>
            <a:off x="7297833" y="583200"/>
            <a:ext cx="1110800" cy="1650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CA" sz="1333" b="0" i="0" u="none" strike="noStrike" cap="non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Hypothesis Validated</a:t>
            </a:r>
            <a:endParaRPr sz="1333" b="0" i="0" u="none" strike="noStrike" cap="non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9" name="Google Shape;159;p54"/>
          <p:cNvSpPr txBox="1"/>
          <p:nvPr/>
        </p:nvSpPr>
        <p:spPr>
          <a:xfrm>
            <a:off x="8408633" y="583200"/>
            <a:ext cx="1110800" cy="1650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CA" sz="1333" b="0" i="0" u="none" strike="noStrike" cap="non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Hypothesis Invalidated</a:t>
            </a:r>
            <a:endParaRPr sz="1333" b="0" i="0" u="none" strike="noStrike" cap="non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60" name="Google Shape;160;p54"/>
          <p:cNvSpPr txBox="1"/>
          <p:nvPr/>
        </p:nvSpPr>
        <p:spPr>
          <a:xfrm>
            <a:off x="9519433" y="583200"/>
            <a:ext cx="2673600" cy="1650400"/>
          </a:xfrm>
          <a:prstGeom prst="rect">
            <a:avLst/>
          </a:prstGeom>
          <a:solidFill>
            <a:srgbClr val="EFEFE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</a:pPr>
            <a:r>
              <a:rPr lang="en-CA" sz="1333" b="0" i="0" u="none" strike="noStrike" cap="non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Notes:</a:t>
            </a:r>
            <a:endParaRPr sz="1333" b="0" i="0" u="none" strike="noStrike" cap="non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61" name="Google Shape;161;p54"/>
          <p:cNvSpPr txBox="1"/>
          <p:nvPr/>
        </p:nvSpPr>
        <p:spPr>
          <a:xfrm>
            <a:off x="8408633" y="-8533"/>
            <a:ext cx="3783200" cy="533504"/>
          </a:xfrm>
          <a:prstGeom prst="rect">
            <a:avLst/>
          </a:prstGeom>
          <a:solidFill>
            <a:srgbClr val="B7B7B7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rPr lang="en-CA" sz="1867" b="0" i="0" u="none" strike="noStrike" cap="non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Industry : </a:t>
            </a:r>
            <a:endParaRPr sz="1867" b="0" i="0" u="none" strike="noStrike" cap="none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 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" name="Google Shape;166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7" name="Google Shape;167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  <p:pic>
        <p:nvPicPr>
          <p:cNvPr id="168" name="Google Shape;168;p55" descr="A drawing of a fac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794523" y="608311"/>
            <a:ext cx="1834771" cy="634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slow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3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66" name="Google Shape;66;p32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0828434" y="6201301"/>
            <a:ext cx="902533" cy="4074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" name="Google Shape;67;p32"/>
          <p:cNvCxnSpPr/>
          <p:nvPr/>
        </p:nvCxnSpPr>
        <p:spPr>
          <a:xfrm rot="10800000" flipH="1">
            <a:off x="521367" y="6091867"/>
            <a:ext cx="11209600" cy="10000"/>
          </a:xfrm>
          <a:prstGeom prst="straightConnector1">
            <a:avLst/>
          </a:prstGeom>
          <a:noFill/>
          <a:ln w="9525" cap="flat" cmpd="sng">
            <a:solidFill>
              <a:srgbClr val="00599C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 txBox="1">
            <a:spLocks noGrp="1"/>
          </p:cNvSpPr>
          <p:nvPr>
            <p:ph type="body" idx="1"/>
          </p:nvPr>
        </p:nvSpPr>
        <p:spPr>
          <a:xfrm>
            <a:off x="792050" y="784050"/>
            <a:ext cx="11312100" cy="5443800"/>
          </a:xfrm>
          <a:prstGeom prst="rect">
            <a:avLst/>
          </a:prstGeom>
          <a:noFill/>
          <a:ln w="9525" cap="flat" cmpd="sng">
            <a:solidFill>
              <a:srgbClr val="6FA8D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889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n-CA"/>
              <a:t>                                   </a:t>
            </a:r>
            <a:r>
              <a:rPr lang="en-CA" sz="3100" b="1"/>
              <a:t>         </a:t>
            </a:r>
            <a:r>
              <a:rPr lang="en-CA" sz="3100" b="1">
                <a:latin typeface="Impact"/>
                <a:ea typeface="Impact"/>
                <a:cs typeface="Impact"/>
                <a:sym typeface="Impact"/>
              </a:rPr>
              <a:t>  </a:t>
            </a:r>
            <a:r>
              <a:rPr lang="en-CA" sz="3100" b="1">
                <a:latin typeface="Verdana"/>
                <a:ea typeface="Verdana"/>
                <a:cs typeface="Verdana"/>
                <a:sym typeface="Verdana"/>
              </a:rPr>
              <a:t> Pilot Assist</a:t>
            </a:r>
            <a:endParaRPr sz="3100" b="1">
              <a:solidFill>
                <a:srgbClr val="C3B38A"/>
              </a:solidFill>
            </a:endParaRPr>
          </a:p>
          <a:p>
            <a:pPr marL="889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r>
              <a:rPr lang="en-CA"/>
              <a:t>            </a:t>
            </a:r>
            <a:endParaRPr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7"/>
          <p:cNvSpPr txBox="1">
            <a:spLocks noGrp="1"/>
          </p:cNvSpPr>
          <p:nvPr>
            <p:ph type="subTitle" idx="2"/>
          </p:nvPr>
        </p:nvSpPr>
        <p:spPr>
          <a:xfrm>
            <a:off x="1329740" y="189495"/>
            <a:ext cx="92370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</a:pPr>
            <a:r>
              <a:rPr lang="en-CA"/>
              <a:t>Our Team</a:t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1729200" y="1828975"/>
            <a:ext cx="2168700" cy="2549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5255588" y="1834950"/>
            <a:ext cx="2168700" cy="2549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8782000" y="1864875"/>
            <a:ext cx="2168700" cy="2549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 txBox="1"/>
          <p:nvPr/>
        </p:nvSpPr>
        <p:spPr>
          <a:xfrm>
            <a:off x="1461675" y="4762725"/>
            <a:ext cx="3418200" cy="13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Mahmoud Kiasari</a:t>
            </a:r>
            <a:endParaRPr sz="2400" dirty="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 dirty="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EL</a:t>
            </a:r>
            <a:endParaRPr sz="2400" dirty="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 dirty="0" err="1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Phd</a:t>
            </a:r>
            <a:r>
              <a:rPr lang="en-CA" sz="2400" dirty="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 Student, Dalhousie</a:t>
            </a:r>
            <a:endParaRPr sz="2400" dirty="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1" name="Google Shape;181;p7"/>
          <p:cNvSpPr txBox="1"/>
          <p:nvPr/>
        </p:nvSpPr>
        <p:spPr>
          <a:xfrm>
            <a:off x="4647425" y="4751025"/>
            <a:ext cx="3418200" cy="13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Hamed Aly</a:t>
            </a:r>
            <a:endParaRPr sz="2400" dirty="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  <a:p>
            <a:pPr lvl="0" algn="ctr"/>
            <a:r>
              <a:rPr lang="en-CA" sz="2400" dirty="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Mentor</a:t>
            </a:r>
            <a:endParaRPr sz="2400" dirty="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400" dirty="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Professor, Dalhousie</a:t>
            </a:r>
            <a:endParaRPr sz="2400" dirty="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3" name="Google Shape;183;p7"/>
          <p:cNvSpPr txBox="1"/>
          <p:nvPr/>
        </p:nvSpPr>
        <p:spPr>
          <a:xfrm>
            <a:off x="7605350" y="4751025"/>
            <a:ext cx="4498800" cy="13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Alireza Vahedi Nemani</a:t>
            </a:r>
            <a:endParaRPr sz="2400" dirty="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TL</a:t>
            </a:r>
            <a:endParaRPr sz="2400" dirty="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  <a:p>
            <a:pPr lvl="0" algn="ctr"/>
            <a:r>
              <a:rPr lang="en-CA" sz="2400" dirty="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Executive </a:t>
            </a:r>
            <a:r>
              <a:rPr lang="en-CA" sz="2400" dirty="0">
                <a:solidFill>
                  <a:schemeClr val="dk1"/>
                </a:solidFill>
                <a:latin typeface="Impact"/>
                <a:sym typeface="Impact"/>
              </a:rPr>
              <a:t>Director, </a:t>
            </a:r>
            <a:r>
              <a:rPr lang="en-CA" sz="2400" dirty="0">
                <a:solidFill>
                  <a:schemeClr val="dk1"/>
                </a:solidFill>
                <a:latin typeface="Impact"/>
              </a:rPr>
              <a:t>ALMA-TECH</a:t>
            </a:r>
            <a:endParaRPr sz="2400" dirty="0">
              <a:solidFill>
                <a:schemeClr val="dk1"/>
              </a:solidFill>
              <a:latin typeface="Impact"/>
              <a:sym typeface="Impac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"/>
          <p:cNvSpPr txBox="1">
            <a:spLocks noGrp="1"/>
          </p:cNvSpPr>
          <p:nvPr>
            <p:ph type="body" idx="1"/>
          </p:nvPr>
        </p:nvSpPr>
        <p:spPr>
          <a:xfrm>
            <a:off x="1007390" y="2076773"/>
            <a:ext cx="10623136" cy="3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40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sz="3600" b="1" dirty="0">
                <a:solidFill>
                  <a:schemeClr val="tx1"/>
                </a:solidFill>
              </a:rPr>
              <a:t>For large-scale manufacturing enterprises (OEMs) and high-compliance industries (Aerospace/Defense) concerned about supply chain opacity, counterfeit parts, and audit failures,</a:t>
            </a:r>
          </a:p>
          <a:p>
            <a:pPr algn="just">
              <a:lnSpc>
                <a:spcPct val="170000"/>
              </a:lnSpc>
            </a:pPr>
            <a:r>
              <a:rPr lang="en-US" sz="3600" b="1" dirty="0">
                <a:solidFill>
                  <a:schemeClr val="tx1"/>
                </a:solidFill>
              </a:rPr>
              <a:t>Our Digital Trust Anchor (AddManuChain) provides a revolutionary, zero-trust verification network.</a:t>
            </a:r>
          </a:p>
          <a:p>
            <a:pPr algn="just">
              <a:lnSpc>
                <a:spcPct val="170000"/>
              </a:lnSpc>
            </a:pPr>
            <a:r>
              <a:rPr lang="en-US" sz="3600" b="1" dirty="0">
                <a:solidFill>
                  <a:schemeClr val="tx1"/>
                </a:solidFill>
              </a:rPr>
              <a:t>By leveraging immutable blockchain ledgers and real-time integration with 3D printers, our system ensures 100% material traceability, instant regulatory compliance (AS9100), and operational scalability.</a:t>
            </a:r>
          </a:p>
          <a:p>
            <a:pPr algn="just">
              <a:lnSpc>
                <a:spcPct val="170000"/>
              </a:lnSpc>
            </a:pPr>
            <a:r>
              <a:rPr lang="en-US" sz="3600" b="1" dirty="0">
                <a:solidFill>
                  <a:schemeClr val="tx1"/>
                </a:solidFill>
              </a:rPr>
              <a:t>Most importantly, it minimizes the multi-million dollar risks of non-compliant parts entering the supply chain. Choose our solution to secure your distributed manufacturing, eliminate "paperwork friction," and demonstrate a commitment to uncompromising quality.</a:t>
            </a:r>
          </a:p>
        </p:txBody>
      </p:sp>
      <p:sp>
        <p:nvSpPr>
          <p:cNvPr id="189" name="Google Shape;189;p11"/>
          <p:cNvSpPr txBox="1">
            <a:spLocks noGrp="1"/>
          </p:cNvSpPr>
          <p:nvPr>
            <p:ph type="subTitle" idx="2"/>
          </p:nvPr>
        </p:nvSpPr>
        <p:spPr>
          <a:xfrm>
            <a:off x="1007390" y="1083370"/>
            <a:ext cx="92370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</a:pPr>
            <a:r>
              <a:rPr lang="en-CA" dirty="0"/>
              <a:t>VALUE PROPOSITION STATEMENT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4" name="Google Shape;194;p4"/>
          <p:cNvCxnSpPr/>
          <p:nvPr/>
        </p:nvCxnSpPr>
        <p:spPr>
          <a:xfrm>
            <a:off x="6096000" y="858400"/>
            <a:ext cx="0" cy="4562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Google Shape;195;p4"/>
          <p:cNvSpPr txBox="1">
            <a:spLocks noGrp="1"/>
          </p:cNvSpPr>
          <p:nvPr>
            <p:ph type="body" idx="3"/>
          </p:nvPr>
        </p:nvSpPr>
        <p:spPr>
          <a:xfrm>
            <a:off x="6629250" y="1197925"/>
            <a:ext cx="5029500" cy="47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</a:pPr>
            <a:endParaRPr sz="1800" dirty="0"/>
          </a:p>
          <a:p>
            <a:pPr algn="just"/>
            <a:r>
              <a:rPr lang="en-US" sz="1800" b="1" dirty="0"/>
              <a:t>Analyze:</a:t>
            </a:r>
            <a:r>
              <a:rPr lang="en-US" sz="1800" dirty="0"/>
              <a:t> Review AS9100 audit failure reports and FAA safety directives to quantify the exact cost of compliance failures.</a:t>
            </a:r>
          </a:p>
          <a:p>
            <a:pPr algn="just"/>
            <a:r>
              <a:rPr lang="en-US" sz="1800" b="1" dirty="0"/>
              <a:t>Interview:</a:t>
            </a:r>
            <a:r>
              <a:rPr lang="en-US" sz="1800" dirty="0"/>
              <a:t> Execute the "100 Conversations" campaign, targeting the top 20 "High Priority" contacts identified in the CRM (Boeing, Stryker, etc.).</a:t>
            </a:r>
          </a:p>
          <a:p>
            <a:pPr algn="just"/>
            <a:r>
              <a:rPr lang="en-US" sz="1800" b="1" dirty="0"/>
              <a:t>Partner:</a:t>
            </a:r>
            <a:r>
              <a:rPr lang="en-US" sz="1800" dirty="0"/>
              <a:t> Attend the upcoming [Insert Industry Event, e.g., RAPID + TCT or local AM meetup] to identify "friendly" labs for partnerships.</a:t>
            </a:r>
          </a:p>
          <a:p>
            <a:pPr algn="just"/>
            <a:r>
              <a:rPr lang="en-US" sz="1800" b="1" dirty="0"/>
              <a:t>Outreach:</a:t>
            </a:r>
            <a:r>
              <a:rPr lang="en-US" sz="1800" dirty="0"/>
              <a:t> Use the "Sniper Approach" on LinkedIn to reach out to Quality Directors, focusing purely on their audit pain points (not selling the solution).</a:t>
            </a: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endParaRPr sz="1800" dirty="0"/>
          </a:p>
        </p:txBody>
      </p:sp>
      <p:sp>
        <p:nvSpPr>
          <p:cNvPr id="196" name="Google Shape;196;p4"/>
          <p:cNvSpPr txBox="1">
            <a:spLocks noGrp="1"/>
          </p:cNvSpPr>
          <p:nvPr>
            <p:ph type="ctrTitle" idx="4294967295"/>
          </p:nvPr>
        </p:nvSpPr>
        <p:spPr>
          <a:xfrm>
            <a:off x="340243" y="582871"/>
            <a:ext cx="542260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CA" sz="2800" b="1" i="0" u="none" strike="noStrike" cap="none">
                <a:solidFill>
                  <a:srgbClr val="C2B38A"/>
                </a:solidFill>
                <a:latin typeface="Arial"/>
                <a:ea typeface="Arial"/>
                <a:cs typeface="Arial"/>
                <a:sym typeface="Arial"/>
              </a:rPr>
              <a:t>OBJECTIVES FOR SPRINT #1</a:t>
            </a:r>
            <a:endParaRPr/>
          </a:p>
        </p:txBody>
      </p:sp>
      <p:sp>
        <p:nvSpPr>
          <p:cNvPr id="197" name="Google Shape;197;p4"/>
          <p:cNvSpPr txBox="1">
            <a:spLocks noGrp="1"/>
          </p:cNvSpPr>
          <p:nvPr>
            <p:ph type="title" idx="4294967295"/>
          </p:nvPr>
        </p:nvSpPr>
        <p:spPr>
          <a:xfrm>
            <a:off x="6096001" y="505395"/>
            <a:ext cx="6096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CA" sz="2800" b="1">
                <a:solidFill>
                  <a:srgbClr val="C2B38A"/>
                </a:solidFill>
                <a:latin typeface="Arial"/>
                <a:ea typeface="Arial"/>
                <a:cs typeface="Arial"/>
                <a:sym typeface="Arial"/>
              </a:rPr>
              <a:t>PLAN TO ACHIEVE THEM</a:t>
            </a:r>
            <a:endParaRPr/>
          </a:p>
        </p:txBody>
      </p:sp>
      <p:sp>
        <p:nvSpPr>
          <p:cNvPr id="198" name="Google Shape;198;p4"/>
          <p:cNvSpPr txBox="1">
            <a:spLocks noGrp="1"/>
          </p:cNvSpPr>
          <p:nvPr>
            <p:ph type="body" idx="1"/>
          </p:nvPr>
        </p:nvSpPr>
        <p:spPr>
          <a:xfrm>
            <a:off x="733250" y="1456950"/>
            <a:ext cx="5029500" cy="48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/>
            <a:r>
              <a:rPr lang="en-US" sz="2000" b="1" dirty="0"/>
              <a:t>Objective 1:</a:t>
            </a:r>
            <a:r>
              <a:rPr lang="en-US" sz="2000" dirty="0"/>
              <a:t> Conduct forensic market research to validate the "Audit Tax" hypothesis (that compliance cost is the #1 pain point) by interviewing 30 Compliance Gatekeepers.</a:t>
            </a:r>
          </a:p>
          <a:p>
            <a:pPr algn="just"/>
            <a:r>
              <a:rPr lang="en-US" sz="2000" b="1" dirty="0"/>
              <a:t>Objective 2:</a:t>
            </a:r>
            <a:r>
              <a:rPr lang="en-US" sz="2000" dirty="0"/>
              <a:t> Establish initial credibility partnerships with 2 major certification bodies (e.g., ASTM International, local ISO registrar) or a university AM lab.</a:t>
            </a:r>
          </a:p>
          <a:p>
            <a:pPr algn="just"/>
            <a:r>
              <a:rPr lang="en-US" sz="2000" b="1" dirty="0"/>
              <a:t>Objective 3:</a:t>
            </a:r>
            <a:r>
              <a:rPr lang="en-US" sz="2000" dirty="0"/>
              <a:t> Secure "Letter of Intent" (LOI) or commitment for a localized pilot from 1 mid-sized manufacturing bureau to test the data intake process.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6"/>
          <p:cNvSpPr txBox="1">
            <a:spLocks noGrp="1"/>
          </p:cNvSpPr>
          <p:nvPr>
            <p:ph type="subTitle" idx="2"/>
          </p:nvPr>
        </p:nvSpPr>
        <p:spPr>
          <a:xfrm>
            <a:off x="886087" y="418245"/>
            <a:ext cx="92370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</a:pPr>
            <a:r>
              <a:rPr lang="en-CA"/>
              <a:t> SPRINT #1 HYPOTHESES</a:t>
            </a:r>
            <a:endParaRPr/>
          </a:p>
        </p:txBody>
      </p:sp>
      <p:sp>
        <p:nvSpPr>
          <p:cNvPr id="204" name="Google Shape;204;p26"/>
          <p:cNvSpPr txBox="1"/>
          <p:nvPr/>
        </p:nvSpPr>
        <p:spPr>
          <a:xfrm>
            <a:off x="0" y="0"/>
            <a:ext cx="4000000" cy="53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5" name="Google Shape;205;p26"/>
          <p:cNvGraphicFramePr/>
          <p:nvPr>
            <p:extLst>
              <p:ext uri="{D42A27DB-BD31-4B8C-83A1-F6EECF244321}">
                <p14:modId xmlns:p14="http://schemas.microsoft.com/office/powerpoint/2010/main" val="1637814901"/>
              </p:ext>
            </p:extLst>
          </p:nvPr>
        </p:nvGraphicFramePr>
        <p:xfrm>
          <a:off x="955975" y="1062096"/>
          <a:ext cx="11149575" cy="5206191"/>
        </p:xfrm>
        <a:graphic>
          <a:graphicData uri="http://schemas.openxmlformats.org/drawingml/2006/table">
            <a:tbl>
              <a:tblPr>
                <a:noFill/>
                <a:tableStyleId>{A021F883-C7DC-4550-B95F-69014B27C258}</a:tableStyleId>
              </a:tblPr>
              <a:tblGrid>
                <a:gridCol w="3716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6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6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5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CA" sz="2000" b="1" u="none" strike="noStrike" cap="none" dirty="0">
                          <a:solidFill>
                            <a:srgbClr val="FFFFFF"/>
                          </a:solidFill>
                        </a:rPr>
                        <a:t>Hypotheses</a:t>
                      </a:r>
                      <a:endParaRPr sz="2000" b="1" u="none" strike="noStrike" cap="none" dirty="0">
                        <a:solidFill>
                          <a:srgbClr val="FFFFFF"/>
                        </a:solidFill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3B3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CA" sz="2000" b="1" u="none" strike="noStrike" cap="none">
                          <a:solidFill>
                            <a:srgbClr val="FFFFFF"/>
                          </a:solidFill>
                        </a:rPr>
                        <a:t>Stakeholder</a:t>
                      </a:r>
                      <a:endParaRPr sz="20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3B3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CA" sz="2000" b="1" u="none" strike="noStrike" cap="none">
                          <a:solidFill>
                            <a:srgbClr val="FFFFFF"/>
                          </a:solidFill>
                        </a:rPr>
                        <a:t>Questions</a:t>
                      </a:r>
                      <a:endParaRPr sz="2000" b="1" u="none" strike="noStrike" cap="none">
                        <a:solidFill>
                          <a:srgbClr val="FFFFFF"/>
                        </a:solidFill>
                      </a:endParaRPr>
                    </a:p>
                  </a:txBody>
                  <a:tcPr marL="121900" marR="121900" marT="121900" marB="121900" anchor="ctr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3B3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2050">
                <a:tc>
                  <a:txBody>
                    <a:bodyPr/>
                    <a:lstStyle/>
                    <a:p>
                      <a:pPr marL="457200" marR="0" lvl="0" indent="-3111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❖"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H1: The "Audit Tax"</a:t>
                      </a:r>
                      <a:br>
                        <a:rPr lang="en-US" sz="1050" dirty="0"/>
                      </a:b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Large primes will mandate a digital platform if it guarantees AS9100 compliance and eliminates manual audit prep.</a:t>
                      </a:r>
                      <a:r>
                        <a:rPr lang="en-CA" sz="1100" dirty="0"/>
                        <a:t>.</a:t>
                      </a:r>
                      <a:endParaRPr sz="1100" u="none" strike="noStrike" cap="none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11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●"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Compliance Gatekeepers</a:t>
                      </a:r>
                      <a:br>
                        <a:rPr lang="en-US" sz="1050" dirty="0"/>
                      </a:b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(Quality Directors, Regulatory Affairs VPs)</a:t>
                      </a:r>
                      <a:endParaRPr sz="110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115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SzPts val="1300"/>
                        <a:buChar char="●"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• "How many hours per week does your team currently spend manually reconciling material certs?"</a:t>
                      </a:r>
                      <a:br>
                        <a:rPr lang="en-US" sz="1050" dirty="0"/>
                      </a:b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• "What is the financial impact (or career risk) if you fail an external audit next month?"</a:t>
                      </a:r>
                      <a:br>
                        <a:rPr lang="en-US" sz="1050" dirty="0"/>
                      </a:b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• "Would you blacklist a supplier who couldn't provide real-time digital traceability?"</a:t>
                      </a:r>
                      <a:endParaRPr sz="200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5500">
                <a:tc>
                  <a:txBody>
                    <a:bodyPr/>
                    <a:lstStyle/>
                    <a:p>
                      <a:pPr marL="457200" marR="0" lvl="0" indent="-3111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❖"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H2: Inventory Demonetization</a:t>
                      </a:r>
                      <a:br>
                        <a:rPr lang="en-US" sz="1050" dirty="0"/>
                      </a:b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Remote operators (Mining/Energy) will pay a premium to "stream" certified parts rather than shipping physical spares to avoid downtime.</a:t>
                      </a:r>
                      <a:endParaRPr sz="1100" u="none" strike="noStrike" cap="none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lvl="0" indent="-3111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●"/>
                      </a:pPr>
                      <a:r>
                        <a:rPr lang="en-CA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Operational Users</a:t>
                      </a:r>
                      <a:br>
                        <a:rPr lang="en-CA" sz="1050" dirty="0"/>
                      </a:br>
                      <a:r>
                        <a:rPr lang="en-CA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(Plant Managers, Maintenance Directors)</a:t>
                      </a:r>
                      <a:endParaRPr sz="110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11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●"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• "What is the hourly cost of downtime for your primary asset (rig/mine)?"</a:t>
                      </a:r>
                      <a:br>
                        <a:rPr lang="en-US" sz="1050" dirty="0"/>
                      </a:b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• "How long do you currently wait for critical spare parts?"</a:t>
                      </a:r>
                      <a:br>
                        <a:rPr lang="en-US" sz="1050" dirty="0"/>
                      </a:b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• "If verified onsite printing could reduce that wait by 90%, whose budget would pay for it?"</a:t>
                      </a:r>
                      <a:endParaRPr sz="110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5500">
                <a:tc>
                  <a:txBody>
                    <a:bodyPr/>
                    <a:lstStyle/>
                    <a:p>
                      <a:pPr marL="457200" marR="0" lvl="0" indent="-3111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❖"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H3: The Trust Gap</a:t>
                      </a:r>
                      <a:br>
                        <a:rPr lang="en-US" sz="1050" dirty="0"/>
                      </a:b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OEMs are currently blocked from scaling AM because they cannot effectively monitor quality across a distributed supply chain of Tier-2 vendors.</a:t>
                      </a:r>
                      <a:endParaRPr sz="1100" u="none" strike="noStrike" cap="none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29845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Char char="●"/>
                      </a:pPr>
                      <a:r>
                        <a:rPr lang="en-US" sz="11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Supply Chain Architects</a:t>
                      </a:r>
                      <a:br>
                        <a:rPr lang="en-US" sz="1050" dirty="0"/>
                      </a:b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(Procurement VPs, Category Managers)</a:t>
                      </a:r>
                      <a:endParaRPr sz="110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0" lvl="0" indent="-3111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300"/>
                        <a:buChar char="●"/>
                      </a:pP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• "How do you currently validate that a contract manufacturer used the specific powder batch you specified?"</a:t>
                      </a:r>
                      <a:br>
                        <a:rPr lang="en-US" sz="1050" dirty="0"/>
                      </a:b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• "Have you ever discovered a material substitution after the fact? What did it cost you?"</a:t>
                      </a:r>
                      <a:endParaRPr sz="1100" dirty="0"/>
                    </a:p>
                  </a:txBody>
                  <a:tcPr marL="121900" marR="121900" marT="121900" marB="121900">
                    <a:lnL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43434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 txBox="1">
            <a:spLocks noGrp="1"/>
          </p:cNvSpPr>
          <p:nvPr>
            <p:ph type="body" idx="1"/>
          </p:nvPr>
        </p:nvSpPr>
        <p:spPr>
          <a:xfrm>
            <a:off x="1007390" y="1978090"/>
            <a:ext cx="10357296" cy="418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2B38A"/>
              </a:buClr>
              <a:buSzPts val="2200"/>
              <a:buChar char="•"/>
            </a:pPr>
            <a:r>
              <a:rPr lang="en-CA" sz="1800"/>
              <a:t>Using the template on the next slide, illustrate your business model canvas </a:t>
            </a:r>
            <a:endParaRPr/>
          </a:p>
          <a:p>
            <a:pPr marL="3429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2200"/>
              <a:buChar char="•"/>
            </a:pPr>
            <a:r>
              <a:rPr lang="en-CA" sz="1800" b="1">
                <a:solidFill>
                  <a:srgbClr val="C2B38A"/>
                </a:solidFill>
              </a:rPr>
              <a:t>Highlight </a:t>
            </a:r>
            <a:r>
              <a:rPr lang="en-CA" sz="1800"/>
              <a:t>the sections of the canvas related to your hypotheses</a:t>
            </a:r>
            <a:endParaRPr/>
          </a:p>
        </p:txBody>
      </p:sp>
      <p:sp>
        <p:nvSpPr>
          <p:cNvPr id="211" name="Google Shape;211;p27"/>
          <p:cNvSpPr txBox="1">
            <a:spLocks noGrp="1"/>
          </p:cNvSpPr>
          <p:nvPr>
            <p:ph type="subTitle" idx="2"/>
          </p:nvPr>
        </p:nvSpPr>
        <p:spPr>
          <a:xfrm>
            <a:off x="1007389" y="1083370"/>
            <a:ext cx="9974741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</a:pPr>
            <a:r>
              <a:rPr lang="en-CA"/>
              <a:t>INSTRUCTIONS FOR BMC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abf134899d_0_100"/>
          <p:cNvSpPr txBox="1"/>
          <p:nvPr/>
        </p:nvSpPr>
        <p:spPr>
          <a:xfrm>
            <a:off x="61010" y="1014975"/>
            <a:ext cx="2316900" cy="2876700"/>
          </a:xfrm>
          <a:prstGeom prst="rect">
            <a:avLst/>
          </a:prstGeom>
          <a:noFill/>
          <a:ln w="12700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CA" dirty="0"/>
              <a:t>Certification Bodies (ASTM/ISO),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CA" dirty="0"/>
              <a:t>Printer OEMs (EOS, Stratasys),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CA" dirty="0"/>
              <a:t>Material Suppliers,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CA" dirty="0"/>
              <a:t>Early Adopter Service Bureaus.</a:t>
            </a:r>
            <a:endParaRPr sz="13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abf134899d_0_100"/>
          <p:cNvSpPr txBox="1"/>
          <p:nvPr/>
        </p:nvSpPr>
        <p:spPr>
          <a:xfrm>
            <a:off x="7376160" y="950976"/>
            <a:ext cx="2316800" cy="1609200"/>
          </a:xfrm>
          <a:prstGeom prst="rect">
            <a:avLst/>
          </a:prstGeom>
          <a:noFill/>
          <a:ln w="12700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33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here</a:t>
            </a:r>
            <a:endParaRPr/>
          </a:p>
        </p:txBody>
      </p:sp>
      <p:sp>
        <p:nvSpPr>
          <p:cNvPr id="219" name="Google Shape;219;gabf134899d_0_100"/>
          <p:cNvSpPr txBox="1"/>
          <p:nvPr/>
        </p:nvSpPr>
        <p:spPr>
          <a:xfrm>
            <a:off x="7376160" y="2980944"/>
            <a:ext cx="2316800" cy="1672400"/>
          </a:xfrm>
          <a:prstGeom prst="rect">
            <a:avLst/>
          </a:prstGeom>
          <a:noFill/>
          <a:ln w="12700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33" b="0" i="0" u="none" strike="noStrike" cap="non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abf134899d_0_100"/>
          <p:cNvSpPr txBox="1"/>
          <p:nvPr/>
        </p:nvSpPr>
        <p:spPr>
          <a:xfrm>
            <a:off x="4937700" y="1476475"/>
            <a:ext cx="2316900" cy="2229300"/>
          </a:xfrm>
          <a:prstGeom prst="rect">
            <a:avLst/>
          </a:prstGeom>
          <a:noFill/>
          <a:ln w="12700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lvl="0" indent="-285750">
              <a:lnSpc>
                <a:spcPct val="150000"/>
              </a:lnSpc>
              <a:buSzPts val="605"/>
              <a:buFont typeface="Arial" panose="020B0604020202020204" pitchFamily="34" charset="0"/>
              <a:buChar char="•"/>
            </a:pPr>
            <a:r>
              <a:rPr lang="en-US" dirty="0"/>
              <a:t>- Zero-Trust Compliance, </a:t>
            </a:r>
          </a:p>
          <a:p>
            <a:pPr marL="285750" lvl="0" indent="-285750">
              <a:lnSpc>
                <a:spcPct val="150000"/>
              </a:lnSpc>
              <a:buSzPts val="605"/>
              <a:buFont typeface="Arial" panose="020B0604020202020204" pitchFamily="34" charset="0"/>
              <a:buChar char="•"/>
            </a:pPr>
            <a:r>
              <a:rPr lang="en-US" dirty="0"/>
              <a:t>Reduced Audit Risk,</a:t>
            </a:r>
          </a:p>
          <a:p>
            <a:pPr marL="285750" lvl="0" indent="-285750">
              <a:lnSpc>
                <a:spcPct val="150000"/>
              </a:lnSpc>
              <a:buSzPts val="605"/>
              <a:buFont typeface="Arial" panose="020B0604020202020204" pitchFamily="34" charset="0"/>
              <a:buChar char="•"/>
            </a:pPr>
            <a:r>
              <a:rPr lang="en-US" dirty="0"/>
              <a:t>Faster Part Qualification.</a:t>
            </a:r>
            <a:endParaRPr sz="970" dirty="0"/>
          </a:p>
        </p:txBody>
      </p:sp>
      <p:sp>
        <p:nvSpPr>
          <p:cNvPr id="221" name="Google Shape;221;gabf134899d_0_100"/>
          <p:cNvSpPr txBox="1"/>
          <p:nvPr/>
        </p:nvSpPr>
        <p:spPr>
          <a:xfrm>
            <a:off x="2499360" y="2980944"/>
            <a:ext cx="2316800" cy="1215200"/>
          </a:xfrm>
          <a:prstGeom prst="rect">
            <a:avLst/>
          </a:prstGeom>
          <a:noFill/>
          <a:ln w="12700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The "Trust Anchor" Software Platform,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Proprietary Verification Algorithms,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Industry Trust/Reputation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Team Expertise</a:t>
            </a:r>
            <a:endParaRPr sz="1200" dirty="0"/>
          </a:p>
        </p:txBody>
      </p:sp>
      <p:sp>
        <p:nvSpPr>
          <p:cNvPr id="222" name="Google Shape;222;gabf134899d_0_100"/>
          <p:cNvSpPr txBox="1"/>
          <p:nvPr/>
        </p:nvSpPr>
        <p:spPr>
          <a:xfrm>
            <a:off x="9814390" y="1204983"/>
            <a:ext cx="2316800" cy="1900000"/>
          </a:xfrm>
          <a:prstGeom prst="rect">
            <a:avLst/>
          </a:prstGeom>
          <a:noFill/>
          <a:ln w="12700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CA" b="1" dirty="0"/>
              <a:t>Primary:</a:t>
            </a:r>
            <a:r>
              <a:rPr lang="en-CA" dirty="0"/>
              <a:t> Aerospace &amp; Defense Primes (Boeing, Lockheed).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CA" b="1" dirty="0"/>
              <a:t>Secondary:</a:t>
            </a:r>
            <a:r>
              <a:rPr lang="en-CA" dirty="0"/>
              <a:t> Medical Device </a:t>
            </a:r>
            <a:r>
              <a:rPr lang="en-CA" dirty="0" err="1"/>
              <a:t>Mfrs</a:t>
            </a:r>
            <a:r>
              <a:rPr lang="en-CA" dirty="0"/>
              <a:t> (Stryker, J&amp;J).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CA" b="1" dirty="0"/>
              <a:t>Tertiary:</a:t>
            </a:r>
            <a:r>
              <a:rPr lang="en-CA" dirty="0"/>
              <a:t> Energy/Mining Operators (Shell, BHP).</a:t>
            </a: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3" name="Google Shape;223;gabf134899d_0_100"/>
          <p:cNvSpPr txBox="1"/>
          <p:nvPr/>
        </p:nvSpPr>
        <p:spPr>
          <a:xfrm>
            <a:off x="2499360" y="1014983"/>
            <a:ext cx="2316900" cy="1140000"/>
          </a:xfrm>
          <a:prstGeom prst="rect">
            <a:avLst/>
          </a:prstGeom>
          <a:noFill/>
          <a:ln w="12700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 dirty="0"/>
              <a:t>Platform Development,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 dirty="0"/>
              <a:t>Compliance Verification Logic,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 dirty="0"/>
              <a:t>API Integrations (ERP/MES),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CA" dirty="0"/>
              <a:t>Sales/Customer Success.</a:t>
            </a:r>
            <a:endParaRPr dirty="0"/>
          </a:p>
        </p:txBody>
      </p:sp>
      <p:sp>
        <p:nvSpPr>
          <p:cNvPr id="224" name="Google Shape;224;gabf134899d_0_100"/>
          <p:cNvSpPr txBox="1"/>
          <p:nvPr/>
        </p:nvSpPr>
        <p:spPr>
          <a:xfrm>
            <a:off x="7376160" y="2850976"/>
            <a:ext cx="2316800" cy="1609200"/>
          </a:xfrm>
          <a:prstGeom prst="rect">
            <a:avLst/>
          </a:prstGeom>
          <a:noFill/>
          <a:ln w="12700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Direct Sales (Enterprise),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Strategic Partnerships (Machine bundles),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Industry Conferences (RAPID,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 err="1"/>
              <a:t>Formnext</a:t>
            </a:r>
            <a:r>
              <a:rPr lang="en-US" dirty="0"/>
              <a:t>).</a:t>
            </a:r>
            <a:endParaRPr dirty="0"/>
          </a:p>
        </p:txBody>
      </p:sp>
      <p:sp>
        <p:nvSpPr>
          <p:cNvPr id="225" name="Google Shape;225;gabf134899d_0_100"/>
          <p:cNvSpPr txBox="1"/>
          <p:nvPr/>
        </p:nvSpPr>
        <p:spPr>
          <a:xfrm>
            <a:off x="60960" y="4864777"/>
            <a:ext cx="2316800" cy="1215200"/>
          </a:xfrm>
          <a:prstGeom prst="rect">
            <a:avLst/>
          </a:prstGeom>
          <a:noFill/>
          <a:ln w="12700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Software Development (R&amp;D),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Cloud Infrastructure (AWS/Azure),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Sales &amp; Marketing,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Legal/Compliance.</a:t>
            </a:r>
            <a:endParaRPr dirty="0"/>
          </a:p>
        </p:txBody>
      </p:sp>
      <p:sp>
        <p:nvSpPr>
          <p:cNvPr id="226" name="Google Shape;226;gabf134899d_0_100"/>
          <p:cNvSpPr txBox="1"/>
          <p:nvPr/>
        </p:nvSpPr>
        <p:spPr>
          <a:xfrm>
            <a:off x="6173393" y="4864777"/>
            <a:ext cx="2316800" cy="1215200"/>
          </a:xfrm>
          <a:prstGeom prst="rect">
            <a:avLst/>
          </a:prstGeom>
          <a:noFill/>
          <a:ln w="12700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SaaS Subscription:</a:t>
            </a:r>
            <a:r>
              <a:rPr lang="en-US" dirty="0"/>
              <a:t> (Enterprise Seat License for Dashboard).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Transaction Fees:</a:t>
            </a:r>
            <a:r>
              <a:rPr lang="en-US" dirty="0"/>
              <a:t> (Per-part "Digital Certificate" fee).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Supplier Access Fee:</a:t>
            </a:r>
            <a:r>
              <a:rPr lang="en-US" dirty="0"/>
              <a:t> (Tier-2 vendors pay to be "Verified").</a:t>
            </a:r>
          </a:p>
        </p:txBody>
      </p:sp>
      <p:sp>
        <p:nvSpPr>
          <p:cNvPr id="227" name="Google Shape;227;gabf134899d_0_100"/>
          <p:cNvSpPr txBox="1"/>
          <p:nvPr/>
        </p:nvSpPr>
        <p:spPr>
          <a:xfrm>
            <a:off x="3829050" y="152400"/>
            <a:ext cx="29241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>
                <a:solidFill>
                  <a:srgbClr val="F6F6F6"/>
                </a:solidFill>
              </a:rPr>
              <a:t>PilotAssist</a:t>
            </a:r>
            <a:r>
              <a:rPr lang="en-CA" sz="1400" b="0" i="0" u="none" strike="noStrike" cap="none">
                <a:solidFill>
                  <a:srgbClr val="F6F6F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28" name="Google Shape;228;gabf134899d_0_100"/>
          <p:cNvSpPr txBox="1"/>
          <p:nvPr/>
        </p:nvSpPr>
        <p:spPr>
          <a:xfrm>
            <a:off x="11115675" y="152399"/>
            <a:ext cx="101568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400" b="0" i="0" u="none" strike="noStrike" cap="none">
                <a:solidFill>
                  <a:srgbClr val="F6F6F6"/>
                </a:solidFill>
                <a:latin typeface="Arial"/>
                <a:ea typeface="Arial"/>
                <a:cs typeface="Arial"/>
                <a:sym typeface="Arial"/>
              </a:rPr>
              <a:t>Type #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8"/>
          <p:cNvSpPr txBox="1">
            <a:spLocks noGrp="1"/>
          </p:cNvSpPr>
          <p:nvPr>
            <p:ph type="body" idx="1"/>
          </p:nvPr>
        </p:nvSpPr>
        <p:spPr>
          <a:xfrm>
            <a:off x="1007390" y="2076773"/>
            <a:ext cx="9237000" cy="3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200" dirty="0"/>
              <a:t>Who to interview and why?</a:t>
            </a:r>
          </a:p>
          <a:p>
            <a:pPr lvl="1"/>
            <a:r>
              <a:rPr lang="en-US" sz="1050" b="1" dirty="0"/>
              <a:t>Compliance Gatekeepers (30):</a:t>
            </a:r>
            <a:r>
              <a:rPr lang="en-US" sz="1050" dirty="0"/>
              <a:t> To validate the "Audit Tax" and fear of failure. (e.g., Doug Ackerman at Boeing).</a:t>
            </a:r>
          </a:p>
          <a:p>
            <a:pPr lvl="1"/>
            <a:r>
              <a:rPr lang="en-US" sz="1050" b="1" dirty="0"/>
              <a:t>Operational Leaders (30):</a:t>
            </a:r>
            <a:r>
              <a:rPr lang="en-US" sz="1050" dirty="0"/>
              <a:t> To validate the scaling/workflow pain. (e.g., Jens Ertel at BMW).</a:t>
            </a:r>
          </a:p>
          <a:p>
            <a:pPr lvl="1"/>
            <a:r>
              <a:rPr lang="en-US" sz="1050" b="1" dirty="0"/>
              <a:t>Economic Buyers (20):</a:t>
            </a:r>
            <a:r>
              <a:rPr lang="en-US" sz="1050" dirty="0"/>
              <a:t> To validate the willingness to pay and budget cycle.</a:t>
            </a:r>
          </a:p>
          <a:p>
            <a:r>
              <a:rPr lang="en-US" sz="1200" dirty="0"/>
              <a:t>Where to find them?</a:t>
            </a:r>
          </a:p>
          <a:p>
            <a:pPr lvl="1"/>
            <a:r>
              <a:rPr lang="en-US" sz="1050" b="1" dirty="0"/>
              <a:t>LinkedIn:</a:t>
            </a:r>
            <a:r>
              <a:rPr lang="en-US" sz="1050" dirty="0"/>
              <a:t> Using the specific search queries provided in the CRM (e.g., "Director Quality Assurance Aerospace").</a:t>
            </a:r>
          </a:p>
          <a:p>
            <a:pPr lvl="1"/>
            <a:r>
              <a:rPr lang="en-US" sz="1050" b="1" dirty="0"/>
              <a:t>Conferences:</a:t>
            </a:r>
            <a:r>
              <a:rPr lang="en-US" sz="1050" dirty="0"/>
              <a:t> RAPID + TCT, </a:t>
            </a:r>
            <a:r>
              <a:rPr lang="en-US" sz="1050" dirty="0" err="1"/>
              <a:t>Formnext</a:t>
            </a:r>
            <a:r>
              <a:rPr lang="en-US" sz="1050" dirty="0"/>
              <a:t>, AMUG.</a:t>
            </a:r>
          </a:p>
          <a:p>
            <a:pPr lvl="1"/>
            <a:r>
              <a:rPr lang="en-US" sz="1050" b="1" dirty="0"/>
              <a:t>Industry Standards Committees:</a:t>
            </a:r>
            <a:r>
              <a:rPr lang="en-US" sz="1050" dirty="0"/>
              <a:t> ASTM Committee F42 on Additive Manufacturing Technologies.</a:t>
            </a:r>
          </a:p>
          <a:p>
            <a:r>
              <a:rPr lang="en-US" sz="1200" dirty="0"/>
              <a:t>Tools to reach out?</a:t>
            </a:r>
          </a:p>
          <a:p>
            <a:pPr lvl="1"/>
            <a:r>
              <a:rPr lang="en-US" sz="1050" b="1" dirty="0"/>
              <a:t>LinkedIn Sales Navigator:</a:t>
            </a:r>
            <a:r>
              <a:rPr lang="en-US" sz="1050" dirty="0"/>
              <a:t> For targeted "Sniper" messaging.</a:t>
            </a:r>
          </a:p>
          <a:p>
            <a:pPr lvl="1"/>
            <a:r>
              <a:rPr lang="en-US" sz="1050" b="1" dirty="0"/>
              <a:t>Cold Email:</a:t>
            </a:r>
            <a:r>
              <a:rPr lang="en-US" sz="1050" dirty="0"/>
              <a:t> Using the "Forensic Discovery" script (not sales pitch).</a:t>
            </a:r>
          </a:p>
          <a:p>
            <a:pPr lvl="1"/>
            <a:r>
              <a:rPr lang="en-US" sz="1050" b="1" dirty="0"/>
              <a:t>Warm Intros:</a:t>
            </a:r>
            <a:r>
              <a:rPr lang="en-US" sz="1050" dirty="0"/>
              <a:t> Leveraging University/Mentor network (L2M mentors) for introductions to Prime contractors.</a:t>
            </a:r>
          </a:p>
          <a:p>
            <a:r>
              <a:rPr lang="en-US" sz="1200" dirty="0"/>
              <a:t>Messaging Strategy?</a:t>
            </a:r>
          </a:p>
          <a:p>
            <a:pPr lvl="1"/>
            <a:r>
              <a:rPr lang="en-US" sz="1050" b="1" dirty="0"/>
              <a:t>The "Anti-Pitch":</a:t>
            </a:r>
            <a:r>
              <a:rPr lang="en-US" sz="1050" dirty="0"/>
              <a:t> "I'm researching the compliance gaps in distributed manufacturing. I'm not selling anything. I want to understand how you handle audit prep."</a:t>
            </a:r>
          </a:p>
          <a:p>
            <a:pPr lvl="1"/>
            <a:r>
              <a:rPr lang="en-US" sz="1050" b="1" dirty="0"/>
              <a:t>The "Pain Hook":</a:t>
            </a:r>
            <a:r>
              <a:rPr lang="en-US" sz="1050" dirty="0"/>
              <a:t> "How do you validate Tier-2 supplier powder batches without flying someone to the factory?"</a:t>
            </a:r>
          </a:p>
          <a:p>
            <a:r>
              <a:rPr lang="en-US" sz="1200" dirty="0"/>
              <a:t>How many?</a:t>
            </a:r>
          </a:p>
          <a:p>
            <a:pPr lvl="1"/>
            <a:r>
              <a:rPr lang="en-US" sz="1050" b="1" dirty="0"/>
              <a:t>Target:</a:t>
            </a:r>
            <a:r>
              <a:rPr lang="en-US" sz="1050" dirty="0"/>
              <a:t> 100 Stakeholders total.</a:t>
            </a:r>
          </a:p>
          <a:p>
            <a:pPr lvl="1"/>
            <a:r>
              <a:rPr lang="en-US" sz="1050" b="1" dirty="0"/>
              <a:t>Sprint #1 Goal:</a:t>
            </a:r>
            <a:r>
              <a:rPr lang="en-US" sz="1050" dirty="0"/>
              <a:t> 10 Interviews completed (Focus on "Friendly" warm intros + top LinkedIn targets</a:t>
            </a:r>
            <a:r>
              <a:rPr lang="en-US" sz="600" dirty="0"/>
              <a:t>).</a:t>
            </a:r>
          </a:p>
        </p:txBody>
      </p:sp>
      <p:sp>
        <p:nvSpPr>
          <p:cNvPr id="234" name="Google Shape;234;p28"/>
          <p:cNvSpPr txBox="1">
            <a:spLocks noGrp="1"/>
          </p:cNvSpPr>
          <p:nvPr>
            <p:ph type="subTitle" idx="2"/>
          </p:nvPr>
        </p:nvSpPr>
        <p:spPr>
          <a:xfrm>
            <a:off x="1007390" y="1083370"/>
            <a:ext cx="9237000" cy="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</a:pPr>
            <a:r>
              <a:rPr lang="en-CA"/>
              <a:t>OUTREACH PLAN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1091</Words>
  <Application>Microsoft Office PowerPoint</Application>
  <PresentationFormat>Widescreen</PresentationFormat>
  <Paragraphs>97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Calibri</vt:lpstr>
      <vt:lpstr>Arial</vt:lpstr>
      <vt:lpstr>Roboto</vt:lpstr>
      <vt:lpstr>Verdana</vt:lpstr>
      <vt:lpstr>Impact</vt:lpstr>
      <vt:lpstr>Roboto Medium</vt:lpstr>
      <vt:lpstr>11_Office Theme</vt:lpstr>
      <vt:lpstr>Simple Light</vt:lpstr>
      <vt:lpstr>PowerPoint Presentation</vt:lpstr>
      <vt:lpstr>PowerPoint Presentation</vt:lpstr>
      <vt:lpstr>OBJECTIVES FOR SPRINT #1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Han Sol (Grace) Lee</dc:creator>
  <cp:lastModifiedBy>Mahmoud Kiasari</cp:lastModifiedBy>
  <cp:revision>1</cp:revision>
  <dcterms:created xsi:type="dcterms:W3CDTF">2021-01-11T22:00:44Z</dcterms:created>
  <dcterms:modified xsi:type="dcterms:W3CDTF">2026-01-13T19:48:09Z</dcterms:modified>
</cp:coreProperties>
</file>