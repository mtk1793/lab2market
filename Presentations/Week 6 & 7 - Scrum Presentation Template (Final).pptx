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7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6858000" cx="12192000"/>
  <p:notesSz cx="6858000" cy="9144000"/>
  <p:embeddedFontLst>
    <p:embeddedFont>
      <p:font typeface="Roboto Medium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Caveat"/>
      <p:regular r:id="rId26"/>
      <p:bold r:id="rId27"/>
    </p:embeddedFont>
    <p:embeddedFont>
      <p:font typeface="Roboto Ligh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j6KEw5wFemJI96sb1hMRGDF1D4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A932A5-BF7F-4CDB-98C7-29AFDF06D564}">
  <a:tblStyle styleId="{4DA932A5-BF7F-4CDB-98C7-29AFDF06D56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italic.fntdata"/><Relationship Id="rId22" Type="http://schemas.openxmlformats.org/officeDocument/2006/relationships/font" Target="fonts/Roboto-regular.fntdata"/><Relationship Id="rId21" Type="http://schemas.openxmlformats.org/officeDocument/2006/relationships/font" Target="fonts/RobotoMedium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Caveat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RobotoLight-regular.fntdata"/><Relationship Id="rId27" Type="http://schemas.openxmlformats.org/officeDocument/2006/relationships/font" Target="fonts/Caveat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RobotoLight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Light-boldItalic.fntdata"/><Relationship Id="rId30" Type="http://schemas.openxmlformats.org/officeDocument/2006/relationships/font" Target="fonts/RobotoLight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customschemas.google.com/relationships/presentationmetadata" Target="meta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RobotoMedium-bold.fntdata"/><Relationship Id="rId18" Type="http://schemas.openxmlformats.org/officeDocument/2006/relationships/font" Target="fonts/Roboto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f-8v_RgwGe0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:notes"/>
          <p:cNvSpPr txBox="1"/>
          <p:nvPr>
            <p:ph idx="1" type="body"/>
          </p:nvPr>
        </p:nvSpPr>
        <p:spPr>
          <a:xfrm>
            <a:off x="701040" y="4473893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50" spcFirstLastPara="1" rIns="93150" wrap="square" tIns="46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26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CA"/>
              <a:t>Watch the video that inspired this example: </a:t>
            </a:r>
            <a:r>
              <a:rPr b="1" lang="en-CA" u="sng">
                <a:solidFill>
                  <a:schemeClr val="hlink"/>
                </a:solidFill>
                <a:hlinkClick r:id="rId2"/>
              </a:rPr>
              <a:t>https://www.youtube.com/watch?v=f-8v_RgwGe0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abf134899d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abf134899d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gabf134899d_0_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5F8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/>
          <p:nvPr>
            <p:ph idx="1" type="body"/>
          </p:nvPr>
        </p:nvSpPr>
        <p:spPr>
          <a:xfrm>
            <a:off x="1007390" y="2076773"/>
            <a:ext cx="92370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2" type="subTitle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b="1" sz="3600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18" name="Google Shape;18;p31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cap="flat" cmpd="sng" w="12700">
            <a:solidFill>
              <a:srgbClr val="3E3E3E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con&#10;&#10;Description automatically generated" id="19" name="Google Shape;1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">
  <p:cSld name="Columns">
    <p:bg>
      <p:bgPr>
        <a:solidFill>
          <a:srgbClr val="F5F8FA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/>
          <p:nvPr>
            <p:ph idx="1" type="body"/>
          </p:nvPr>
        </p:nvSpPr>
        <p:spPr>
          <a:xfrm>
            <a:off x="1007390" y="2076773"/>
            <a:ext cx="44325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2" type="subTitle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b="1" sz="3600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23" name="Google Shape;23;p32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cap="flat" cmpd="sng" w="12700">
            <a:solidFill>
              <a:srgbClr val="3E3E3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" name="Google Shape;24;p32"/>
          <p:cNvSpPr txBox="1"/>
          <p:nvPr>
            <p:ph idx="3" type="body"/>
          </p:nvPr>
        </p:nvSpPr>
        <p:spPr>
          <a:xfrm>
            <a:off x="5811865" y="2076773"/>
            <a:ext cx="44325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Icon&#10;&#10;Description automatically generated" id="25" name="Google Shape;25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bg>
      <p:bgPr>
        <a:solidFill>
          <a:srgbClr val="F5F8FA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&#10;&#10;Description automatically generated" id="27" name="Google Shape;27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7428" y="1735734"/>
            <a:ext cx="11722136" cy="391519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0"/>
          <p:cNvSpPr txBox="1"/>
          <p:nvPr>
            <p:ph idx="1" type="body"/>
          </p:nvPr>
        </p:nvSpPr>
        <p:spPr>
          <a:xfrm>
            <a:off x="3505199" y="2294503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0"/>
          <p:cNvSpPr txBox="1"/>
          <p:nvPr>
            <p:ph idx="2" type="subTitle"/>
          </p:nvPr>
        </p:nvSpPr>
        <p:spPr>
          <a:xfrm>
            <a:off x="3505199" y="1404129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" name="Google Shape;30;p40"/>
          <p:cNvSpPr txBox="1"/>
          <p:nvPr>
            <p:ph idx="3" type="body"/>
          </p:nvPr>
        </p:nvSpPr>
        <p:spPr>
          <a:xfrm>
            <a:off x="3505199" y="3164668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0"/>
          <p:cNvSpPr txBox="1"/>
          <p:nvPr>
            <p:ph idx="4" type="body"/>
          </p:nvPr>
        </p:nvSpPr>
        <p:spPr>
          <a:xfrm>
            <a:off x="3505199" y="4028596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0"/>
          <p:cNvSpPr txBox="1"/>
          <p:nvPr>
            <p:ph idx="5" type="body"/>
          </p:nvPr>
        </p:nvSpPr>
        <p:spPr>
          <a:xfrm>
            <a:off x="3505199" y="4892524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Icon&#10;&#10;Description automatically generated" id="33" name="Google Shape;3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act Statement Slide">
  <p:cSld name="Impact Statement Slide">
    <p:bg>
      <p:bgPr>
        <a:solidFill>
          <a:srgbClr val="3E3E3E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1"/>
          <p:cNvSpPr txBox="1"/>
          <p:nvPr>
            <p:ph idx="1" type="subTitle"/>
          </p:nvPr>
        </p:nvSpPr>
        <p:spPr>
          <a:xfrm>
            <a:off x="6339236" y="2369395"/>
            <a:ext cx="4928100" cy="21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Logo, icon&#10;&#10;Description automatically generated" id="36" name="Google Shape;36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3056" y="6291264"/>
            <a:ext cx="899319" cy="366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2083123" y="2369396"/>
            <a:ext cx="11460803" cy="11460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act Statement Slide_3">
  <p:cSld name="Impact Statement Slide_3">
    <p:bg>
      <p:bgPr>
        <a:solidFill>
          <a:srgbClr val="F5F8FA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2"/>
          <p:cNvSpPr txBox="1"/>
          <p:nvPr>
            <p:ph idx="1" type="subTitle"/>
          </p:nvPr>
        </p:nvSpPr>
        <p:spPr>
          <a:xfrm>
            <a:off x="6405967" y="2383048"/>
            <a:ext cx="4928100" cy="21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E3E3E"/>
              </a:buClr>
              <a:buSzPts val="3600"/>
              <a:buNone/>
              <a:defRPr b="1" sz="3600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40" name="Google Shape;40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-2083123" y="2369396"/>
            <a:ext cx="11460803" cy="11460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3E3E3E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43"/>
          <p:cNvCxnSpPr/>
          <p:nvPr/>
        </p:nvCxnSpPr>
        <p:spPr>
          <a:xfrm rot="10800000">
            <a:off x="530883" y="5904855"/>
            <a:ext cx="41961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" name="Google Shape;43;p43"/>
          <p:cNvSpPr txBox="1"/>
          <p:nvPr>
            <p:ph idx="1" type="subTitle"/>
          </p:nvPr>
        </p:nvSpPr>
        <p:spPr>
          <a:xfrm>
            <a:off x="546314" y="3721641"/>
            <a:ext cx="61977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4" name="Google Shape;44;p43"/>
          <p:cNvSpPr txBox="1"/>
          <p:nvPr>
            <p:ph idx="2" type="body"/>
          </p:nvPr>
        </p:nvSpPr>
        <p:spPr>
          <a:xfrm>
            <a:off x="10380125" y="5455402"/>
            <a:ext cx="15717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picture containing text, clipart&#10;&#10;Description automatically generated" id="45" name="Google Shape;45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6314" y="2093184"/>
            <a:ext cx="2649775" cy="1043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, icon&#10;&#10;Description automatically generated" id="46" name="Google Shape;4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5210" y="-2075233"/>
            <a:ext cx="9961288" cy="9961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9" name="Google Shape;49;p4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0" name="Google Shape;50;p4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Blank 1 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4"/>
          <p:cNvSpPr txBox="1"/>
          <p:nvPr/>
        </p:nvSpPr>
        <p:spPr>
          <a:xfrm>
            <a:off x="7297833" y="2291733"/>
            <a:ext cx="4894000" cy="45064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sng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Next Steps</a:t>
            </a: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2" name="Google Shape;62;p34"/>
          <p:cNvSpPr txBox="1"/>
          <p:nvPr/>
        </p:nvSpPr>
        <p:spPr>
          <a:xfrm>
            <a:off x="0" y="586017"/>
            <a:ext cx="7298000" cy="1650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sng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Hypothesis</a:t>
            </a: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3" name="Google Shape;63;p34"/>
          <p:cNvSpPr txBox="1"/>
          <p:nvPr/>
        </p:nvSpPr>
        <p:spPr>
          <a:xfrm>
            <a:off x="5850833" y="-8467"/>
            <a:ext cx="3266800" cy="53350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# of Interviews = 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4" name="Google Shape;64;p34"/>
          <p:cNvSpPr txBox="1"/>
          <p:nvPr/>
        </p:nvSpPr>
        <p:spPr>
          <a:xfrm>
            <a:off x="0" y="-2800"/>
            <a:ext cx="5850800" cy="5335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Customer Segment:  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5" name="Google Shape;65;p34"/>
          <p:cNvSpPr txBox="1"/>
          <p:nvPr/>
        </p:nvSpPr>
        <p:spPr>
          <a:xfrm>
            <a:off x="0" y="2291677"/>
            <a:ext cx="7298000" cy="45064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50799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sng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Learnings or Insights</a:t>
            </a: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: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6" name="Google Shape;66;p34"/>
          <p:cNvSpPr txBox="1"/>
          <p:nvPr/>
        </p:nvSpPr>
        <p:spPr>
          <a:xfrm>
            <a:off x="7297833" y="583200"/>
            <a:ext cx="1110800" cy="16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CA" sz="1333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Validated</a:t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7" name="Google Shape;67;p34"/>
          <p:cNvSpPr txBox="1"/>
          <p:nvPr/>
        </p:nvSpPr>
        <p:spPr>
          <a:xfrm>
            <a:off x="8408633" y="583200"/>
            <a:ext cx="1110800" cy="16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CA" sz="1333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Invalidated</a:t>
            </a:r>
            <a:endParaRPr b="0" i="0" sz="2800" u="none" cap="none" strike="noStrike">
              <a:solidFill>
                <a:srgbClr val="202124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8" name="Google Shape;68;p34"/>
          <p:cNvSpPr txBox="1"/>
          <p:nvPr/>
        </p:nvSpPr>
        <p:spPr>
          <a:xfrm>
            <a:off x="9519433" y="583200"/>
            <a:ext cx="2673600" cy="16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CA" sz="1333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Comments:</a:t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9" name="Google Shape;69;p34"/>
          <p:cNvSpPr txBox="1"/>
          <p:nvPr/>
        </p:nvSpPr>
        <p:spPr>
          <a:xfrm>
            <a:off x="8408633" y="-8533"/>
            <a:ext cx="3783200" cy="533504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Industry: 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0" name="Google Shape;70;p34"/>
          <p:cNvSpPr txBox="1"/>
          <p:nvPr/>
        </p:nvSpPr>
        <p:spPr>
          <a:xfrm rot="-1372322">
            <a:off x="197653" y="3498875"/>
            <a:ext cx="7648567" cy="170286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66"/>
              <a:buFont typeface="Arial"/>
              <a:buNone/>
            </a:pPr>
            <a:r>
              <a:rPr b="0" i="0" lang="en-CA" sz="9466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0" i="0" sz="9466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5"/>
          <p:cNvSpPr txBox="1"/>
          <p:nvPr/>
        </p:nvSpPr>
        <p:spPr>
          <a:xfrm>
            <a:off x="7297833" y="2291733"/>
            <a:ext cx="4894000" cy="45064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sng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Next Steps</a:t>
            </a: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3" name="Google Shape;73;p35"/>
          <p:cNvSpPr txBox="1"/>
          <p:nvPr/>
        </p:nvSpPr>
        <p:spPr>
          <a:xfrm>
            <a:off x="0" y="586017"/>
            <a:ext cx="7298000" cy="1650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sng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Hypothesis</a:t>
            </a: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4" name="Google Shape;74;p35"/>
          <p:cNvSpPr txBox="1"/>
          <p:nvPr/>
        </p:nvSpPr>
        <p:spPr>
          <a:xfrm>
            <a:off x="5850833" y="-8467"/>
            <a:ext cx="3266800" cy="53350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# of Interviews= 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5" name="Google Shape;75;p35"/>
          <p:cNvSpPr txBox="1"/>
          <p:nvPr/>
        </p:nvSpPr>
        <p:spPr>
          <a:xfrm>
            <a:off x="0" y="-2800"/>
            <a:ext cx="5850800" cy="5335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Customer Segment:  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6" name="Google Shape;76;p35"/>
          <p:cNvSpPr txBox="1"/>
          <p:nvPr/>
        </p:nvSpPr>
        <p:spPr>
          <a:xfrm>
            <a:off x="0" y="2291677"/>
            <a:ext cx="7298000" cy="45064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50799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sng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Learning or insights</a:t>
            </a: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7" name="Google Shape;77;p35"/>
          <p:cNvSpPr txBox="1"/>
          <p:nvPr/>
        </p:nvSpPr>
        <p:spPr>
          <a:xfrm>
            <a:off x="7297833" y="583200"/>
            <a:ext cx="1110800" cy="16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CA" sz="1333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Validated</a:t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8" name="Google Shape;78;p35"/>
          <p:cNvSpPr txBox="1"/>
          <p:nvPr/>
        </p:nvSpPr>
        <p:spPr>
          <a:xfrm>
            <a:off x="8408633" y="583200"/>
            <a:ext cx="1110800" cy="16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CA" sz="1333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Invalidated</a:t>
            </a:r>
            <a:endParaRPr b="0" i="0" sz="2800" u="none" cap="none" strike="noStrike">
              <a:solidFill>
                <a:srgbClr val="202124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9" name="Google Shape;79;p35"/>
          <p:cNvSpPr txBox="1"/>
          <p:nvPr/>
        </p:nvSpPr>
        <p:spPr>
          <a:xfrm>
            <a:off x="9519433" y="583200"/>
            <a:ext cx="2673600" cy="16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CA" sz="1333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Comments:</a:t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0" name="Google Shape;80;p35"/>
          <p:cNvSpPr txBox="1"/>
          <p:nvPr/>
        </p:nvSpPr>
        <p:spPr>
          <a:xfrm>
            <a:off x="8408633" y="-8533"/>
            <a:ext cx="3783200" cy="533504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Industry: 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3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83" name="Google Shape;83;p53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sp>
        <p:nvSpPr>
          <p:cNvPr id="84" name="Google Shape;84;p5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4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87" name="Google Shape;87;p5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55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5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 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94" name="Google Shape;94;p56"/>
          <p:cNvCxnSpPr/>
          <p:nvPr/>
        </p:nvCxnSpPr>
        <p:spPr>
          <a:xfrm>
            <a:off x="6233200" y="1352500"/>
            <a:ext cx="0" cy="46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56"/>
          <p:cNvSpPr txBox="1"/>
          <p:nvPr/>
        </p:nvSpPr>
        <p:spPr>
          <a:xfrm>
            <a:off x="3519000" y="333267"/>
            <a:ext cx="5428400" cy="6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0" lang="en-CA" sz="18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one sentence tell us …</a:t>
            </a:r>
            <a:endParaRPr b="1" i="0" sz="18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56"/>
          <p:cNvSpPr txBox="1"/>
          <p:nvPr/>
        </p:nvSpPr>
        <p:spPr>
          <a:xfrm>
            <a:off x="703000" y="818900"/>
            <a:ext cx="40000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1" lang="en-CA" sz="1867" u="none" cap="none" strike="noStrike">
                <a:solidFill>
                  <a:schemeClr val="dk1"/>
                </a:solidFill>
                <a:highlight>
                  <a:srgbClr val="F8D231"/>
                </a:highlight>
                <a:latin typeface="Roboto"/>
                <a:ea typeface="Roboto"/>
                <a:cs typeface="Roboto"/>
                <a:sym typeface="Roboto"/>
              </a:rPr>
              <a:t>What’s your product/service ? </a:t>
            </a:r>
            <a:endParaRPr b="1" i="1" sz="1867" u="none" cap="none" strike="noStrike">
              <a:solidFill>
                <a:srgbClr val="000000"/>
              </a:solidFill>
              <a:highlight>
                <a:srgbClr val="F8D23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6"/>
          <p:cNvSpPr txBox="1"/>
          <p:nvPr/>
        </p:nvSpPr>
        <p:spPr>
          <a:xfrm>
            <a:off x="7763400" y="818900"/>
            <a:ext cx="40000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1" lang="en-CA" sz="1867" u="none" cap="none" strike="noStrike">
                <a:solidFill>
                  <a:schemeClr val="dk1"/>
                </a:solidFill>
                <a:highlight>
                  <a:srgbClr val="F8D231"/>
                </a:highlight>
                <a:latin typeface="Roboto"/>
                <a:ea typeface="Roboto"/>
                <a:cs typeface="Roboto"/>
                <a:sym typeface="Roboto"/>
              </a:rPr>
              <a:t>What’s your secret sauce? </a:t>
            </a:r>
            <a:endParaRPr b="1" i="1" sz="1867" u="none" cap="none" strike="noStrike">
              <a:solidFill>
                <a:srgbClr val="000000"/>
              </a:solidFill>
              <a:highlight>
                <a:srgbClr val="F8D23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57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01" name="Google Shape;101;p57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02" name="Google Shape;102;p5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8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5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9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108" name="Google Shape;108;p59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09" name="Google Shape;109;p5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0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sp>
        <p:nvSpPr>
          <p:cNvPr id="112" name="Google Shape;112;p6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1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1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116" name="Google Shape;116;p61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17" name="Google Shape;117;p61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6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2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1" name="Google Shape;121;p6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3"/>
          <p:cNvSpPr txBox="1"/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124" name="Google Shape;124;p63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p6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_SLIDE">
  <p:cSld name="MASTER_SLIDE">
    <p:bg>
      <p:bgPr>
        <a:solidFill>
          <a:srgbClr val="1F445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7"/>
          <p:cNvSpPr/>
          <p:nvPr/>
        </p:nvSpPr>
        <p:spPr>
          <a:xfrm>
            <a:off x="0" y="585216"/>
            <a:ext cx="2438400" cy="41148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7"/>
          <p:cNvSpPr/>
          <p:nvPr/>
        </p:nvSpPr>
        <p:spPr>
          <a:xfrm>
            <a:off x="2438400" y="585216"/>
            <a:ext cx="2438400" cy="2057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7"/>
          <p:cNvSpPr/>
          <p:nvPr/>
        </p:nvSpPr>
        <p:spPr>
          <a:xfrm>
            <a:off x="2438400" y="2615184"/>
            <a:ext cx="2438400" cy="2057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7"/>
          <p:cNvSpPr/>
          <p:nvPr/>
        </p:nvSpPr>
        <p:spPr>
          <a:xfrm>
            <a:off x="4876800" y="585216"/>
            <a:ext cx="2438400" cy="41148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7"/>
          <p:cNvSpPr/>
          <p:nvPr/>
        </p:nvSpPr>
        <p:spPr>
          <a:xfrm>
            <a:off x="7315200" y="585216"/>
            <a:ext cx="2438400" cy="2057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7"/>
          <p:cNvSpPr/>
          <p:nvPr/>
        </p:nvSpPr>
        <p:spPr>
          <a:xfrm>
            <a:off x="7315200" y="2615184"/>
            <a:ext cx="2438400" cy="2057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7"/>
          <p:cNvSpPr/>
          <p:nvPr/>
        </p:nvSpPr>
        <p:spPr>
          <a:xfrm>
            <a:off x="9753600" y="585216"/>
            <a:ext cx="2438400" cy="41148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7"/>
          <p:cNvSpPr/>
          <p:nvPr/>
        </p:nvSpPr>
        <p:spPr>
          <a:xfrm>
            <a:off x="-36576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Key Partners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7"/>
          <p:cNvSpPr/>
          <p:nvPr/>
        </p:nvSpPr>
        <p:spPr>
          <a:xfrm>
            <a:off x="2401824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Key Activities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7"/>
          <p:cNvSpPr/>
          <p:nvPr/>
        </p:nvSpPr>
        <p:spPr>
          <a:xfrm>
            <a:off x="2401824" y="2578608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Key Resources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/>
          <p:nvPr/>
        </p:nvSpPr>
        <p:spPr>
          <a:xfrm>
            <a:off x="4840224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Value Proposition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7"/>
          <p:cNvSpPr/>
          <p:nvPr/>
        </p:nvSpPr>
        <p:spPr>
          <a:xfrm>
            <a:off x="7278624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Customer Relationships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7"/>
          <p:cNvSpPr/>
          <p:nvPr/>
        </p:nvSpPr>
        <p:spPr>
          <a:xfrm>
            <a:off x="7278624" y="2578608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Channels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7"/>
          <p:cNvSpPr/>
          <p:nvPr/>
        </p:nvSpPr>
        <p:spPr>
          <a:xfrm>
            <a:off x="9717024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Customer Segments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s3-us-west-2.amazonaws.com/innovation-within-external-assets/iw_logo_4_29_19.png" id="148" name="Google Shape;14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576" y="73152"/>
            <a:ext cx="1463040" cy="4267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7"/>
          <p:cNvSpPr/>
          <p:nvPr/>
        </p:nvSpPr>
        <p:spPr>
          <a:xfrm>
            <a:off x="0" y="4608576"/>
            <a:ext cx="6096000" cy="2331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7"/>
          <p:cNvSpPr/>
          <p:nvPr/>
        </p:nvSpPr>
        <p:spPr>
          <a:xfrm>
            <a:off x="6096000" y="4608576"/>
            <a:ext cx="6096000" cy="2331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7"/>
          <p:cNvSpPr/>
          <p:nvPr/>
        </p:nvSpPr>
        <p:spPr>
          <a:xfrm>
            <a:off x="-36576" y="457200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Cost Structure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7"/>
          <p:cNvSpPr/>
          <p:nvPr/>
        </p:nvSpPr>
        <p:spPr>
          <a:xfrm>
            <a:off x="6059424" y="457200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Revenue Streams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7"/>
          <p:cNvSpPr/>
          <p:nvPr/>
        </p:nvSpPr>
        <p:spPr>
          <a:xfrm>
            <a:off x="0" y="0"/>
            <a:ext cx="12192000" cy="576032"/>
          </a:xfrm>
          <a:prstGeom prst="rect">
            <a:avLst/>
          </a:prstGeom>
          <a:solidFill>
            <a:srgbClr val="C2B38A"/>
          </a:solidFill>
          <a:ln cap="flat" cmpd="sng" w="25400">
            <a:solidFill>
              <a:srgbClr val="C2B3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7"/>
          <p:cNvSpPr txBox="1"/>
          <p:nvPr/>
        </p:nvSpPr>
        <p:spPr>
          <a:xfrm>
            <a:off x="9144" y="157039"/>
            <a:ext cx="25968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400" u="none" cap="none" strike="noStrik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rPr>
              <a:t>BUSINESS MODEL CANVAS</a:t>
            </a:r>
            <a:endParaRPr/>
          </a:p>
        </p:txBody>
      </p:sp>
      <p:sp>
        <p:nvSpPr>
          <p:cNvPr id="155" name="Google Shape;155;p37"/>
          <p:cNvSpPr txBox="1"/>
          <p:nvPr/>
        </p:nvSpPr>
        <p:spPr>
          <a:xfrm>
            <a:off x="3008376" y="157039"/>
            <a:ext cx="7680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400" u="none" cap="none" strike="noStrik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endParaRPr/>
          </a:p>
        </p:txBody>
      </p:sp>
      <p:sp>
        <p:nvSpPr>
          <p:cNvPr id="156" name="Google Shape;156;p37"/>
          <p:cNvSpPr txBox="1"/>
          <p:nvPr/>
        </p:nvSpPr>
        <p:spPr>
          <a:xfrm>
            <a:off x="9726168" y="152432"/>
            <a:ext cx="13929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400" u="none" cap="none" strike="noStrik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rPr>
              <a:t>ITERATION #: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5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159" name="Google Shape;159;p6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" name="Google Shape;162;p66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3" name="Google Shape;163;p6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 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166" name="Google Shape;166;p67"/>
          <p:cNvCxnSpPr/>
          <p:nvPr/>
        </p:nvCxnSpPr>
        <p:spPr>
          <a:xfrm>
            <a:off x="6233200" y="1352500"/>
            <a:ext cx="0" cy="46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67"/>
          <p:cNvSpPr txBox="1"/>
          <p:nvPr/>
        </p:nvSpPr>
        <p:spPr>
          <a:xfrm>
            <a:off x="3519000" y="333267"/>
            <a:ext cx="5428400" cy="6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0" lang="en-CA" sz="18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one sentence tell us …</a:t>
            </a:r>
            <a:endParaRPr b="1" i="0" sz="18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67"/>
          <p:cNvSpPr txBox="1"/>
          <p:nvPr/>
        </p:nvSpPr>
        <p:spPr>
          <a:xfrm>
            <a:off x="703000" y="818900"/>
            <a:ext cx="40000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1" lang="en-CA" sz="1867" u="none" cap="none" strike="noStrike">
                <a:solidFill>
                  <a:schemeClr val="dk1"/>
                </a:solidFill>
                <a:highlight>
                  <a:srgbClr val="F8D231"/>
                </a:highlight>
                <a:latin typeface="Roboto"/>
                <a:ea typeface="Roboto"/>
                <a:cs typeface="Roboto"/>
                <a:sym typeface="Roboto"/>
              </a:rPr>
              <a:t>What’s your product/service ? </a:t>
            </a:r>
            <a:endParaRPr b="1" i="1" sz="1867" u="none" cap="none" strike="noStrike">
              <a:solidFill>
                <a:srgbClr val="000000"/>
              </a:solidFill>
              <a:highlight>
                <a:srgbClr val="F8D23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7"/>
          <p:cNvSpPr txBox="1"/>
          <p:nvPr/>
        </p:nvSpPr>
        <p:spPr>
          <a:xfrm>
            <a:off x="7763400" y="818900"/>
            <a:ext cx="40000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1" lang="en-CA" sz="1867" u="none" cap="none" strike="noStrike">
                <a:solidFill>
                  <a:schemeClr val="dk1"/>
                </a:solidFill>
                <a:highlight>
                  <a:srgbClr val="F8D231"/>
                </a:highlight>
                <a:latin typeface="Roboto"/>
                <a:ea typeface="Roboto"/>
                <a:cs typeface="Roboto"/>
                <a:sym typeface="Roboto"/>
              </a:rPr>
              <a:t>What’s your secret sauce? </a:t>
            </a:r>
            <a:endParaRPr b="1" i="1" sz="1867" u="none" cap="none" strike="noStrike">
              <a:solidFill>
                <a:srgbClr val="000000"/>
              </a:solidFill>
              <a:highlight>
                <a:srgbClr val="F8D23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8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68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73" name="Google Shape;173;p68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74" name="Google Shape;174;p6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77" name="Google Shape;177;p69"/>
          <p:cNvSpPr/>
          <p:nvPr/>
        </p:nvSpPr>
        <p:spPr>
          <a:xfrm>
            <a:off x="5061133" y="429233"/>
            <a:ext cx="6698400" cy="541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9"/>
          <p:cNvSpPr txBox="1"/>
          <p:nvPr/>
        </p:nvSpPr>
        <p:spPr>
          <a:xfrm>
            <a:off x="5197600" y="546900"/>
            <a:ext cx="1796800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1" lang="en-CA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Voici quelques post-its et formes que vous pouvez copier-coller pour commencer.</a:t>
            </a:r>
            <a:endParaRPr b="1" i="1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0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181" name="Google Shape;181;p70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82" name="Google Shape;182;p7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1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sp>
        <p:nvSpPr>
          <p:cNvPr id="185" name="Google Shape;185;p7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2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2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189" name="Google Shape;189;p72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90" name="Google Shape;190;p72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1" name="Google Shape;191;p7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3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4" name="Google Shape;194;p7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4"/>
          <p:cNvSpPr txBox="1"/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197" name="Google Shape;197;p74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8" name="Google Shape;198;p7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201" name="Google Shape;201;p75"/>
          <p:cNvSpPr/>
          <p:nvPr/>
        </p:nvSpPr>
        <p:spPr>
          <a:xfrm>
            <a:off x="2055305" y="899033"/>
            <a:ext cx="2589200" cy="46012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5"/>
          <p:cNvSpPr/>
          <p:nvPr/>
        </p:nvSpPr>
        <p:spPr>
          <a:xfrm>
            <a:off x="4644528" y="899033"/>
            <a:ext cx="2589200" cy="23008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5"/>
          <p:cNvSpPr/>
          <p:nvPr/>
        </p:nvSpPr>
        <p:spPr>
          <a:xfrm>
            <a:off x="4644533" y="3169000"/>
            <a:ext cx="2589200" cy="23312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5"/>
          <p:cNvSpPr/>
          <p:nvPr/>
        </p:nvSpPr>
        <p:spPr>
          <a:xfrm>
            <a:off x="7233751" y="899033"/>
            <a:ext cx="2589200" cy="46012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5"/>
          <p:cNvSpPr/>
          <p:nvPr/>
        </p:nvSpPr>
        <p:spPr>
          <a:xfrm>
            <a:off x="2016468" y="858133"/>
            <a:ext cx="9709600" cy="4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Proposition de valeur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5"/>
          <p:cNvSpPr/>
          <p:nvPr/>
        </p:nvSpPr>
        <p:spPr>
          <a:xfrm>
            <a:off x="4605689" y="858133"/>
            <a:ext cx="9709600" cy="4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Relations de clientèle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5"/>
          <p:cNvSpPr/>
          <p:nvPr/>
        </p:nvSpPr>
        <p:spPr>
          <a:xfrm>
            <a:off x="4605689" y="3128099"/>
            <a:ext cx="9709600" cy="4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Canaux de distribution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5"/>
          <p:cNvSpPr/>
          <p:nvPr/>
        </p:nvSpPr>
        <p:spPr>
          <a:xfrm>
            <a:off x="7194912" y="858133"/>
            <a:ext cx="9709600" cy="4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Segments de clientèle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2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7"/>
          <p:cNvSpPr txBox="1"/>
          <p:nvPr/>
        </p:nvSpPr>
        <p:spPr>
          <a:xfrm>
            <a:off x="7297833" y="2291733"/>
            <a:ext cx="4894000" cy="39728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sng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Next steps</a:t>
            </a: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3" name="Google Shape;213;p77"/>
          <p:cNvSpPr txBox="1"/>
          <p:nvPr/>
        </p:nvSpPr>
        <p:spPr>
          <a:xfrm>
            <a:off x="0" y="0"/>
            <a:ext cx="1426400" cy="5336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WEEK #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4" name="Google Shape;214;p77"/>
          <p:cNvSpPr txBox="1"/>
          <p:nvPr/>
        </p:nvSpPr>
        <p:spPr>
          <a:xfrm>
            <a:off x="0" y="586017"/>
            <a:ext cx="7298000" cy="1650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sng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Hypothesis</a:t>
            </a: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5" name="Google Shape;215;p77"/>
          <p:cNvSpPr txBox="1"/>
          <p:nvPr/>
        </p:nvSpPr>
        <p:spPr>
          <a:xfrm>
            <a:off x="7297833" y="6264534"/>
            <a:ext cx="2632000" cy="5335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# of Interviews = 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6" name="Google Shape;216;p77"/>
          <p:cNvSpPr txBox="1"/>
          <p:nvPr/>
        </p:nvSpPr>
        <p:spPr>
          <a:xfrm>
            <a:off x="1426400" y="-8467"/>
            <a:ext cx="6982400" cy="5335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Customer Segment Name: 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7" name="Google Shape;217;p77"/>
          <p:cNvSpPr txBox="1"/>
          <p:nvPr/>
        </p:nvSpPr>
        <p:spPr>
          <a:xfrm>
            <a:off x="9929667" y="6264534"/>
            <a:ext cx="2263200" cy="5335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# of referrals =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8" name="Google Shape;218;p77"/>
          <p:cNvSpPr txBox="1"/>
          <p:nvPr/>
        </p:nvSpPr>
        <p:spPr>
          <a:xfrm>
            <a:off x="0" y="2291677"/>
            <a:ext cx="7298000" cy="45064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sng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Learnings</a:t>
            </a: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9" name="Google Shape;219;p77"/>
          <p:cNvSpPr txBox="1"/>
          <p:nvPr/>
        </p:nvSpPr>
        <p:spPr>
          <a:xfrm>
            <a:off x="7297833" y="583200"/>
            <a:ext cx="1110800" cy="16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CA" sz="1333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Hypothesis Validated</a:t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0" name="Google Shape;220;p77"/>
          <p:cNvSpPr txBox="1"/>
          <p:nvPr/>
        </p:nvSpPr>
        <p:spPr>
          <a:xfrm>
            <a:off x="8408633" y="583200"/>
            <a:ext cx="1110800" cy="16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CA" sz="1333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Hypothesis Invalidated</a:t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1" name="Google Shape;221;p77"/>
          <p:cNvSpPr txBox="1"/>
          <p:nvPr/>
        </p:nvSpPr>
        <p:spPr>
          <a:xfrm>
            <a:off x="9519433" y="583200"/>
            <a:ext cx="2673600" cy="16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CA" sz="1333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Notes:</a:t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2" name="Google Shape;222;p77"/>
          <p:cNvSpPr txBox="1"/>
          <p:nvPr/>
        </p:nvSpPr>
        <p:spPr>
          <a:xfrm>
            <a:off x="8408633" y="-8533"/>
            <a:ext cx="3783200" cy="533504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Industry : 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 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8"/>
          <p:cNvSpPr txBox="1"/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5" name="Google Shape;225;p7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6" name="Google Shape;226;p78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78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78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pic>
        <p:nvPicPr>
          <p:cNvPr descr="A drawing of a face&#10;&#10;Description automatically generated" id="229" name="Google Shape;229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94523" y="608311"/>
            <a:ext cx="1834771" cy="634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3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33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36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1" name="Google Shape;131;p3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28434" y="6201301"/>
            <a:ext cx="902533" cy="407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36"/>
          <p:cNvCxnSpPr/>
          <p:nvPr/>
        </p:nvCxnSpPr>
        <p:spPr>
          <a:xfrm flipH="1" rot="10800000">
            <a:off x="521367" y="6091867"/>
            <a:ext cx="11209600" cy="10000"/>
          </a:xfrm>
          <a:prstGeom prst="straightConnector1">
            <a:avLst/>
          </a:prstGeom>
          <a:noFill/>
          <a:ln cap="flat" cmpd="sng" w="9525">
            <a:solidFill>
              <a:srgbClr val="00599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"/>
          <p:cNvSpPr txBox="1"/>
          <p:nvPr>
            <p:ph idx="1" type="body"/>
          </p:nvPr>
        </p:nvSpPr>
        <p:spPr>
          <a:xfrm>
            <a:off x="1007390" y="2076773"/>
            <a:ext cx="92370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8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CA"/>
              <a:t>Include the following on your cover slide: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Name of your startup/team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Team members (names, titles, roles, etc.)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Photos of team members or technology are allowed </a:t>
            </a:r>
            <a:endParaRPr/>
          </a:p>
        </p:txBody>
      </p:sp>
      <p:sp>
        <p:nvSpPr>
          <p:cNvPr id="235" name="Google Shape;235;p7"/>
          <p:cNvSpPr txBox="1"/>
          <p:nvPr>
            <p:ph idx="2" type="subTitle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</a:pPr>
            <a:r>
              <a:rPr lang="en-CA"/>
              <a:t>COVER SLIDE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 txBox="1"/>
          <p:nvPr>
            <p:ph idx="1" type="body"/>
          </p:nvPr>
        </p:nvSpPr>
        <p:spPr>
          <a:xfrm>
            <a:off x="1007390" y="2076773"/>
            <a:ext cx="92370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Provide a succinct value proposition statement for your product/service that describes (100 words max.):</a:t>
            </a:r>
            <a:endParaRPr/>
          </a:p>
          <a:p>
            <a:pPr indent="-355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CA">
                <a:latin typeface="Arial"/>
                <a:ea typeface="Arial"/>
                <a:cs typeface="Arial"/>
                <a:sym typeface="Arial"/>
              </a:rPr>
              <a:t>your target customer </a:t>
            </a:r>
            <a:endParaRPr/>
          </a:p>
          <a:p>
            <a:pPr indent="-355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CA">
                <a:latin typeface="Arial"/>
                <a:ea typeface="Arial"/>
                <a:cs typeface="Arial"/>
                <a:sym typeface="Arial"/>
              </a:rPr>
              <a:t>their problems</a:t>
            </a:r>
            <a:endParaRPr/>
          </a:p>
          <a:p>
            <a:pPr indent="-355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CA">
                <a:latin typeface="Arial"/>
                <a:ea typeface="Arial"/>
                <a:cs typeface="Arial"/>
                <a:sym typeface="Arial"/>
              </a:rPr>
              <a:t>your product/service </a:t>
            </a:r>
            <a:endParaRPr/>
          </a:p>
          <a:p>
            <a:pPr indent="-355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CA">
                <a:latin typeface="Arial"/>
                <a:ea typeface="Arial"/>
                <a:cs typeface="Arial"/>
                <a:sym typeface="Arial"/>
              </a:rPr>
              <a:t>How it will benefit them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CA">
                <a:solidFill>
                  <a:srgbClr val="C2B38A"/>
                </a:solidFill>
              </a:rPr>
              <a:t>Highlight </a:t>
            </a:r>
            <a:r>
              <a:rPr lang="en-CA"/>
              <a:t>how your value proposition statement has changed based on the results of sprint #3</a:t>
            </a:r>
            <a:endParaRPr/>
          </a:p>
        </p:txBody>
      </p:sp>
      <p:sp>
        <p:nvSpPr>
          <p:cNvPr id="241" name="Google Shape;241;p11"/>
          <p:cNvSpPr txBox="1"/>
          <p:nvPr>
            <p:ph idx="2" type="subTitle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</a:pPr>
            <a:r>
              <a:rPr lang="en-CA"/>
              <a:t>VALUE PROPOSITION STATEMENT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>
            <p:ph idx="1" type="body"/>
          </p:nvPr>
        </p:nvSpPr>
        <p:spPr>
          <a:xfrm>
            <a:off x="1007390" y="1953474"/>
            <a:ext cx="4258230" cy="3742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b="1" lang="en-CA" sz="1800"/>
              <a:t>Revenue Streams: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9C865"/>
              </a:buClr>
              <a:buSzPts val="2200"/>
              <a:buChar char="•"/>
            </a:pPr>
            <a:r>
              <a:rPr lang="en-CA" sz="1800"/>
              <a:t>Type here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9C865"/>
              </a:buClr>
              <a:buSzPts val="2200"/>
              <a:buChar char="•"/>
            </a:pPr>
            <a:r>
              <a:rPr lang="en-CA" sz="1800"/>
              <a:t>Justification for revenue streams</a:t>
            </a:r>
            <a:endParaRPr/>
          </a:p>
          <a:p>
            <a:pPr indent="0" lvl="0" marL="8890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SzPts val="2200"/>
              <a:buNone/>
            </a:pPr>
            <a:r>
              <a:rPr b="1" lang="en-CA" sz="1800"/>
              <a:t>Pricing: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9C865"/>
              </a:buClr>
              <a:buSzPts val="2200"/>
              <a:buChar char="•"/>
            </a:pPr>
            <a:r>
              <a:rPr lang="en-CA" sz="1800"/>
              <a:t>Type here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9C865"/>
              </a:buClr>
              <a:buSzPts val="2200"/>
              <a:buChar char="•"/>
            </a:pPr>
            <a:r>
              <a:rPr lang="en-CA" sz="1800"/>
              <a:t>Justification for pricing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7" name="Google Shape;247;p26"/>
          <p:cNvSpPr txBox="1"/>
          <p:nvPr>
            <p:ph idx="2" type="subTitle"/>
          </p:nvPr>
        </p:nvSpPr>
        <p:spPr>
          <a:xfrm>
            <a:off x="1007390" y="374238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</a:pPr>
            <a:r>
              <a:rPr lang="en-CA"/>
              <a:t>REVENUE STREAMS AND PRICING</a:t>
            </a:r>
            <a:endParaRPr/>
          </a:p>
        </p:txBody>
      </p:sp>
      <p:sp>
        <p:nvSpPr>
          <p:cNvPr id="248" name="Google Shape;248;p26"/>
          <p:cNvSpPr txBox="1"/>
          <p:nvPr/>
        </p:nvSpPr>
        <p:spPr>
          <a:xfrm>
            <a:off x="1101012" y="1147663"/>
            <a:ext cx="901453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Describe your anticipated revenue streams and pricing</a:t>
            </a:r>
            <a:endParaRPr/>
          </a:p>
        </p:txBody>
      </p:sp>
      <p:grpSp>
        <p:nvGrpSpPr>
          <p:cNvPr id="249" name="Google Shape;249;p26"/>
          <p:cNvGrpSpPr/>
          <p:nvPr/>
        </p:nvGrpSpPr>
        <p:grpSpPr>
          <a:xfrm>
            <a:off x="7140450" y="1978144"/>
            <a:ext cx="3981690" cy="3737651"/>
            <a:chOff x="0" y="4721"/>
            <a:chExt cx="3981690" cy="3737651"/>
          </a:xfrm>
        </p:grpSpPr>
        <p:sp>
          <p:nvSpPr>
            <p:cNvPr id="250" name="Google Shape;250;p26"/>
            <p:cNvSpPr/>
            <p:nvPr/>
          </p:nvSpPr>
          <p:spPr>
            <a:xfrm>
              <a:off x="0" y="570322"/>
              <a:ext cx="3981690" cy="317205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C2B3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6"/>
            <p:cNvSpPr txBox="1"/>
            <p:nvPr/>
          </p:nvSpPr>
          <p:spPr>
            <a:xfrm>
              <a:off x="0" y="570322"/>
              <a:ext cx="3981690" cy="3172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309000" spcFirstLastPara="1" rIns="309000" wrap="square" tIns="7914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CA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Unit sale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CA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Usage fee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CA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Subscription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CA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Transaction fee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CA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Advertising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CA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License</a:t>
              </a: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199084" y="4721"/>
              <a:ext cx="2787183" cy="1121760"/>
            </a:xfrm>
            <a:prstGeom prst="roundRect">
              <a:avLst>
                <a:gd fmla="val 16667" name="adj"/>
              </a:avLst>
            </a:prstGeom>
            <a:solidFill>
              <a:srgbClr val="C2B38A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6"/>
            <p:cNvSpPr txBox="1"/>
            <p:nvPr/>
          </p:nvSpPr>
          <p:spPr>
            <a:xfrm>
              <a:off x="253844" y="59481"/>
              <a:ext cx="2677663" cy="1012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05325" spcFirstLastPara="1" rIns="1053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CA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Revenue Streams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4"/>
          <p:cNvCxnSpPr/>
          <p:nvPr/>
        </p:nvCxnSpPr>
        <p:spPr>
          <a:xfrm>
            <a:off x="6096000" y="858400"/>
            <a:ext cx="0" cy="45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4"/>
          <p:cNvSpPr txBox="1"/>
          <p:nvPr>
            <p:ph idx="3" type="body"/>
          </p:nvPr>
        </p:nvSpPr>
        <p:spPr>
          <a:xfrm>
            <a:off x="6528391" y="2076773"/>
            <a:ext cx="5029403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CA"/>
              <a:t>For Example: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Tools used for outreach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Events attended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Updates to invitation message or interview script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0" name="Google Shape;260;p4"/>
          <p:cNvSpPr txBox="1"/>
          <p:nvPr>
            <p:ph idx="4294967295" type="ctrTitle"/>
          </p:nvPr>
        </p:nvSpPr>
        <p:spPr>
          <a:xfrm>
            <a:off x="340243" y="582871"/>
            <a:ext cx="542260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CA" sz="2800" u="none" cap="none" strike="noStrike">
                <a:solidFill>
                  <a:srgbClr val="C2B38A"/>
                </a:solidFill>
                <a:latin typeface="Arial"/>
                <a:ea typeface="Arial"/>
                <a:cs typeface="Arial"/>
                <a:sym typeface="Arial"/>
              </a:rPr>
              <a:t>Objectives for Sprint #3</a:t>
            </a:r>
            <a:endParaRPr b="1" i="0" sz="2800" u="none" cap="none" strike="noStrike">
              <a:solidFill>
                <a:srgbClr val="C2B3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"/>
          <p:cNvSpPr txBox="1"/>
          <p:nvPr>
            <p:ph idx="4294967295" type="title"/>
          </p:nvPr>
        </p:nvSpPr>
        <p:spPr>
          <a:xfrm>
            <a:off x="6429154" y="577445"/>
            <a:ext cx="5422599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CA" sz="2800">
                <a:solidFill>
                  <a:srgbClr val="C2B38A"/>
                </a:solidFill>
                <a:latin typeface="Arial"/>
                <a:ea typeface="Arial"/>
                <a:cs typeface="Arial"/>
                <a:sym typeface="Arial"/>
              </a:rPr>
              <a:t>What I did to Achieve Them</a:t>
            </a:r>
            <a:endParaRPr b="1" sz="2800">
              <a:solidFill>
                <a:srgbClr val="C2B3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"/>
          <p:cNvSpPr txBox="1"/>
          <p:nvPr>
            <p:ph idx="1" type="body"/>
          </p:nvPr>
        </p:nvSpPr>
        <p:spPr>
          <a:xfrm>
            <a:off x="1008063" y="2076450"/>
            <a:ext cx="4432300" cy="3425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CA"/>
              <a:t>For Example: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Hypothesis to be tested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Experiments or key questions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Outreach plan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"/>
          <p:cNvSpPr txBox="1"/>
          <p:nvPr>
            <p:ph idx="2" type="subTitle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</a:pPr>
            <a:r>
              <a:rPr lang="en-CA"/>
              <a:t>NUMBER OF INTERVIEWS</a:t>
            </a:r>
            <a:endParaRPr/>
          </a:p>
        </p:txBody>
      </p:sp>
      <p:graphicFrame>
        <p:nvGraphicFramePr>
          <p:cNvPr id="268" name="Google Shape;268;p5"/>
          <p:cNvGraphicFramePr/>
          <p:nvPr/>
        </p:nvGraphicFramePr>
        <p:xfrm>
          <a:off x="1618149" y="21904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{4DA932A5-BF7F-4CDB-98C7-29AFDF06D564}</a:tableStyleId>
              </a:tblPr>
              <a:tblGrid>
                <a:gridCol w="1561475"/>
                <a:gridCol w="1333000"/>
                <a:gridCol w="1209175"/>
                <a:gridCol w="1209175"/>
                <a:gridCol w="1209175"/>
                <a:gridCol w="1209175"/>
                <a:gridCol w="1209175"/>
              </a:tblGrid>
              <a:tr h="166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1900" marB="121900" marR="121900" marL="12190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CA" sz="1300" u="none" cap="none" strike="noStrike">
                          <a:solidFill>
                            <a:srgbClr val="52525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How many people have you contacted?</a:t>
                      </a:r>
                      <a:endParaRPr b="1" sz="1300" u="none" cap="none" strike="noStrike">
                        <a:solidFill>
                          <a:srgbClr val="52525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CA" sz="1300" u="none" cap="none" strike="noStrike">
                          <a:solidFill>
                            <a:srgbClr val="52525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How many people have answered you?</a:t>
                      </a:r>
                      <a:endParaRPr b="1" sz="1300" u="none" cap="none" strike="noStrike">
                        <a:solidFill>
                          <a:srgbClr val="52525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CA" sz="1300" u="none" cap="none" strike="noStrike">
                          <a:solidFill>
                            <a:srgbClr val="52525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Calculate your response rate (%)</a:t>
                      </a:r>
                      <a:endParaRPr b="1" sz="1300" u="none" cap="none" strike="noStrike">
                        <a:solidFill>
                          <a:srgbClr val="52525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CA" sz="13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interviews completed</a:t>
                      </a:r>
                      <a:endParaRPr b="1" sz="13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2B3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CA" sz="1300" u="none" cap="none" strike="noStrike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interviews scheduled but not yet completed</a:t>
                      </a:r>
                      <a:endParaRPr b="1" sz="1300" u="none" cap="none" strike="noStrike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1900" marB="121900" marR="121900" marL="1219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CA" sz="1300" u="none" cap="none" strike="noStrike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references obtained</a:t>
                      </a:r>
                      <a:endParaRPr b="1" sz="1300" u="none" cap="none" strike="noStrike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1900" marB="121900" marR="121900" marL="121900" anchor="ctr"/>
                </a:tc>
              </a:tr>
              <a:tr h="105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CA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New Interviews (since the last sprint)</a:t>
                      </a:r>
                      <a:endParaRPr b="1" sz="2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1900" marB="121900" marR="121900" marL="1219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>
                    <a:solidFill>
                      <a:srgbClr val="C2B3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/>
                </a:tc>
              </a:tr>
              <a:tr h="87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CA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=</a:t>
                      </a:r>
                      <a:endParaRPr b="1" sz="2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1900" marB="121900" marR="121900" marL="1219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>
                    <a:solidFill>
                      <a:srgbClr val="C2B3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"/>
          <p:cNvSpPr txBox="1"/>
          <p:nvPr>
            <p:ph idx="1" type="body"/>
          </p:nvPr>
        </p:nvSpPr>
        <p:spPr>
          <a:xfrm>
            <a:off x="1007390" y="1978090"/>
            <a:ext cx="10357296" cy="4180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2B38A"/>
              </a:buClr>
              <a:buSzPts val="2200"/>
              <a:buChar char="•"/>
            </a:pPr>
            <a:r>
              <a:rPr lang="en-CA" sz="1800"/>
              <a:t>Complete at least one of the following hypothesis test learning slides for the interviews completed during sprint #3: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3B38A"/>
              </a:buClr>
              <a:buSzPts val="2000"/>
              <a:buFont typeface="Courier New"/>
              <a:buChar char="o"/>
            </a:pPr>
            <a:r>
              <a:rPr lang="en-CA" sz="1600"/>
              <a:t>Identify your customer segment (be as precise as possible)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3B38A"/>
              </a:buClr>
              <a:buSzPts val="2000"/>
              <a:buFont typeface="Courier New"/>
              <a:buChar char="o"/>
            </a:pPr>
            <a:r>
              <a:rPr lang="en-CA" sz="1600"/>
              <a:t>Identify the application area or industry related to the customer segment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3B38A"/>
              </a:buClr>
              <a:buSzPts val="2000"/>
              <a:buFont typeface="Courier New"/>
              <a:buChar char="o"/>
            </a:pPr>
            <a:r>
              <a:rPr lang="en-CA" sz="1600"/>
              <a:t>Provide the number of interviews conducted related specifically to testing this hypothesis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3B38A"/>
              </a:buClr>
              <a:buSzPts val="2000"/>
              <a:buFont typeface="Courier New"/>
              <a:buChar char="o"/>
            </a:pPr>
            <a:r>
              <a:rPr lang="en-CA" sz="1600"/>
              <a:t>Describe the hypothesis that was tested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3B38A"/>
              </a:buClr>
              <a:buSzPts val="2000"/>
              <a:buFont typeface="Courier New"/>
              <a:buChar char="o"/>
            </a:pPr>
            <a:r>
              <a:rPr lang="en-CA" sz="1600"/>
              <a:t>Indicate using a circle whether the hypothesis was validated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3B38A"/>
              </a:buClr>
              <a:buSzPts val="2000"/>
              <a:buFont typeface="Courier New"/>
              <a:buChar char="o"/>
            </a:pPr>
            <a:r>
              <a:rPr lang="en-CA" sz="1600"/>
              <a:t>Discuss your learnings and any insights gained; feel free to add quotes directly from your interviews 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3B38A"/>
              </a:buClr>
              <a:buSzPts val="2000"/>
              <a:buFont typeface="Courier New"/>
              <a:buChar char="o"/>
            </a:pPr>
            <a:r>
              <a:rPr lang="en-CA" sz="1600"/>
              <a:t>Discuss the impact of what you have learned on your next steps (e.g. new hypotheses, different customer segments, etc.)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2200"/>
              <a:buChar char="•"/>
            </a:pPr>
            <a:r>
              <a:rPr lang="en-CA" sz="1800"/>
              <a:t>An example is provided of what is expected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2200"/>
              <a:buChar char="•"/>
            </a:pPr>
            <a:r>
              <a:rPr lang="en-CA" sz="1800"/>
              <a:t>Make a copy of the blank template before completing if you plan to present more than one hypothesis</a:t>
            </a:r>
            <a:endParaRPr/>
          </a:p>
        </p:txBody>
      </p:sp>
      <p:sp>
        <p:nvSpPr>
          <p:cNvPr id="274" name="Google Shape;274;p8"/>
          <p:cNvSpPr txBox="1"/>
          <p:nvPr>
            <p:ph idx="2" type="subTitle"/>
          </p:nvPr>
        </p:nvSpPr>
        <p:spPr>
          <a:xfrm>
            <a:off x="1007389" y="1083370"/>
            <a:ext cx="9974741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</a:pPr>
            <a:r>
              <a:rPr lang="en-CA"/>
              <a:t>INSTRUCTIONS FOR HYPOTHESIS SLIDES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 txBox="1"/>
          <p:nvPr/>
        </p:nvSpPr>
        <p:spPr>
          <a:xfrm>
            <a:off x="7642667" y="1365167"/>
            <a:ext cx="386800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867" u="none" cap="none" strike="noStrik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✓</a:t>
            </a:r>
            <a:endParaRPr b="1" i="0" sz="1867" u="none" cap="none" strike="noStrike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8791800" y="1365167"/>
            <a:ext cx="386800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86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b="1" i="0" sz="1867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7767500" y="0"/>
            <a:ext cx="664800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2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82" name="Google Shape;282;p9"/>
          <p:cNvSpPr txBox="1"/>
          <p:nvPr/>
        </p:nvSpPr>
        <p:spPr>
          <a:xfrm>
            <a:off x="96733" y="977133"/>
            <a:ext cx="71484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We believe that nurses struggle to measure the patient’s vital signs due to the bulkiness of hospital equipment.  </a:t>
            </a:r>
            <a:endParaRPr b="0" i="1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9607700" y="977133"/>
            <a:ext cx="25172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For this customer segment the </a:t>
            </a:r>
            <a:r>
              <a:rPr b="1" i="1" lang="en-CA" sz="18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user </a:t>
            </a:r>
            <a:r>
              <a:rPr b="0" i="1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of my solution is not the same as my </a:t>
            </a:r>
            <a:r>
              <a:rPr b="1" i="1" lang="en-CA" sz="18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customer</a:t>
            </a:r>
            <a:endParaRPr b="1" i="1" sz="18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96733" y="2793733"/>
            <a:ext cx="7148400" cy="3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239993" lvl="0" marL="23999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Light"/>
              <a:buAutoNum type="arabicPeriod"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Nurses approx spend the first 10 minutes of their interaction with a patient moving around equipment to be able to take a patient's vital signs.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39993" lvl="0" marL="23999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Light"/>
              <a:buAutoNum type="arabicPeriod"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The equipment currently available only allows the nurse to check the patient’s vital sign directly from the equipment connected to the patient.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39993" lvl="0" marL="23999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Light"/>
              <a:buAutoNum type="arabicPeriod"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One nurse said: </a:t>
            </a:r>
            <a:r>
              <a:rPr b="0" i="1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“when I come see a patient the first thing I need to do is take their vital signs, usually I need to check the equipment and I make sure I have easy access to the patient. That always takes some time! It is very annoying… and some of the equipment we have here is quite outdated…”</a:t>
            </a:r>
            <a:endParaRPr b="0" i="1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39993" lvl="0" marL="23999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Light"/>
              <a:buAutoNum type="arabicPeriod"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Nurses are not the decision maker for the solution I am building. 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7351400" y="2700967"/>
            <a:ext cx="4773600" cy="21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I will contact 20 hospital administrators to validate if the problem is important enough for them as it is for the nurses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86" name="Google Shape;286;p9"/>
          <p:cNvSpPr txBox="1"/>
          <p:nvPr/>
        </p:nvSpPr>
        <p:spPr>
          <a:xfrm>
            <a:off x="9607700" y="0"/>
            <a:ext cx="2517200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Healthcare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2335349" y="65316"/>
            <a:ext cx="3305600" cy="46653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85000" lnSpcReduction="200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Nurses in medium-size hospitals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7418267" y="1063567"/>
            <a:ext cx="835600" cy="835200"/>
          </a:xfrm>
          <a:prstGeom prst="ellipse">
            <a:avLst/>
          </a:prstGeom>
          <a:noFill/>
          <a:ln cap="flat" cmpd="sng" w="28575">
            <a:solidFill>
              <a:srgbClr val="0059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67" u="none" cap="none" strike="noStrike">
              <a:solidFill>
                <a:srgbClr val="888888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7"/>
          <p:cNvSpPr txBox="1"/>
          <p:nvPr/>
        </p:nvSpPr>
        <p:spPr>
          <a:xfrm>
            <a:off x="7642667" y="1365167"/>
            <a:ext cx="386800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867" u="none" cap="none" strike="noStrik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✓</a:t>
            </a:r>
            <a:endParaRPr b="1" i="0" sz="1867" u="none" cap="none" strike="noStrike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27"/>
          <p:cNvSpPr txBox="1"/>
          <p:nvPr/>
        </p:nvSpPr>
        <p:spPr>
          <a:xfrm>
            <a:off x="8791800" y="1365167"/>
            <a:ext cx="386800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86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b="1" i="0" sz="1867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27"/>
          <p:cNvSpPr txBox="1"/>
          <p:nvPr/>
        </p:nvSpPr>
        <p:spPr>
          <a:xfrm>
            <a:off x="7767500" y="0"/>
            <a:ext cx="664800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n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96733" y="977133"/>
            <a:ext cx="71484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Add hypothesis here</a:t>
            </a:r>
            <a:endParaRPr b="0" i="1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97" name="Google Shape;297;p27"/>
          <p:cNvSpPr txBox="1"/>
          <p:nvPr/>
        </p:nvSpPr>
        <p:spPr>
          <a:xfrm>
            <a:off x="9607700" y="977133"/>
            <a:ext cx="25172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Type here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98" name="Google Shape;298;p27"/>
          <p:cNvSpPr txBox="1"/>
          <p:nvPr/>
        </p:nvSpPr>
        <p:spPr>
          <a:xfrm>
            <a:off x="96733" y="2793733"/>
            <a:ext cx="7148400" cy="38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239993" lvl="0" marL="23999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Light"/>
              <a:buAutoNum type="arabicPeriod"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…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39993" lvl="0" marL="23999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Light"/>
              <a:buAutoNum type="arabicPeriod"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…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39993" lvl="0" marL="23999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Light"/>
              <a:buAutoNum type="arabicPeriod"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…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99" name="Google Shape;299;p27"/>
          <p:cNvSpPr txBox="1"/>
          <p:nvPr/>
        </p:nvSpPr>
        <p:spPr>
          <a:xfrm>
            <a:off x="7351400" y="2700967"/>
            <a:ext cx="4773600" cy="21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Discuss next steps here</a:t>
            </a:r>
            <a:endParaRPr b="0" i="0" sz="2800" u="none" cap="none" strike="noStrike">
              <a:solidFill>
                <a:srgbClr val="202124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0" name="Google Shape;300;p27"/>
          <p:cNvSpPr txBox="1"/>
          <p:nvPr/>
        </p:nvSpPr>
        <p:spPr>
          <a:xfrm>
            <a:off x="9607700" y="0"/>
            <a:ext cx="2517200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Type here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8018875" y="500250"/>
            <a:ext cx="835600" cy="835200"/>
          </a:xfrm>
          <a:prstGeom prst="ellipse">
            <a:avLst/>
          </a:prstGeom>
          <a:noFill/>
          <a:ln cap="flat" cmpd="sng" w="28575">
            <a:solidFill>
              <a:srgbClr val="0059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67" u="none" cap="none" strike="noStrike">
              <a:solidFill>
                <a:srgbClr val="888888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02" name="Google Shape;302;p27"/>
          <p:cNvSpPr txBox="1"/>
          <p:nvPr/>
        </p:nvSpPr>
        <p:spPr>
          <a:xfrm>
            <a:off x="2341984" y="0"/>
            <a:ext cx="3494916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Type here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"/>
          <p:cNvSpPr txBox="1"/>
          <p:nvPr>
            <p:ph idx="1" type="body"/>
          </p:nvPr>
        </p:nvSpPr>
        <p:spPr>
          <a:xfrm>
            <a:off x="1007390" y="1978090"/>
            <a:ext cx="10357296" cy="4180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2B38A"/>
              </a:buClr>
              <a:buSzPts val="2200"/>
              <a:buChar char="•"/>
            </a:pPr>
            <a:r>
              <a:rPr lang="en-CA" sz="1800"/>
              <a:t>Using the template on the next slide, provide an updated version of your business model canvas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2B38A"/>
              </a:buClr>
              <a:buSzPts val="2200"/>
              <a:buChar char="•"/>
            </a:pPr>
            <a:r>
              <a:rPr lang="en-CA" sz="1800"/>
              <a:t>Updates should be based on the interview results from the last sprint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2200"/>
              <a:buChar char="•"/>
            </a:pPr>
            <a:r>
              <a:rPr lang="en-CA" sz="1800"/>
              <a:t>Focus on the sections of your canvas related to the hypotheses you tested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2200"/>
              <a:buChar char="•"/>
            </a:pPr>
            <a:r>
              <a:rPr b="1" lang="en-CA" sz="1800">
                <a:solidFill>
                  <a:srgbClr val="C2B38A"/>
                </a:solidFill>
              </a:rPr>
              <a:t>Highlight </a:t>
            </a:r>
            <a:r>
              <a:rPr lang="en-CA" sz="1800"/>
              <a:t>areas that have changed from the last iteration of your canvas</a:t>
            </a:r>
            <a:endParaRPr/>
          </a:p>
        </p:txBody>
      </p:sp>
      <p:sp>
        <p:nvSpPr>
          <p:cNvPr id="308" name="Google Shape;308;p28"/>
          <p:cNvSpPr txBox="1"/>
          <p:nvPr>
            <p:ph idx="2" type="subTitle"/>
          </p:nvPr>
        </p:nvSpPr>
        <p:spPr>
          <a:xfrm>
            <a:off x="1007389" y="1083370"/>
            <a:ext cx="9974741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</a:pPr>
            <a:r>
              <a:rPr lang="en-CA"/>
              <a:t>INSTRUCTIONS FOR BMC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abf134899d_0_100"/>
          <p:cNvSpPr txBox="1"/>
          <p:nvPr/>
        </p:nvSpPr>
        <p:spPr>
          <a:xfrm>
            <a:off x="60960" y="950975"/>
            <a:ext cx="2316800" cy="28768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abf134899d_0_100"/>
          <p:cNvSpPr txBox="1"/>
          <p:nvPr/>
        </p:nvSpPr>
        <p:spPr>
          <a:xfrm>
            <a:off x="7376160" y="950976"/>
            <a:ext cx="2316800" cy="16092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/>
          </a:p>
        </p:txBody>
      </p:sp>
      <p:sp>
        <p:nvSpPr>
          <p:cNvPr id="316" name="Google Shape;316;gabf134899d_0_100"/>
          <p:cNvSpPr txBox="1"/>
          <p:nvPr/>
        </p:nvSpPr>
        <p:spPr>
          <a:xfrm>
            <a:off x="7376160" y="2980944"/>
            <a:ext cx="2316800" cy="16724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33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abf134899d_0_100"/>
          <p:cNvSpPr txBox="1"/>
          <p:nvPr/>
        </p:nvSpPr>
        <p:spPr>
          <a:xfrm>
            <a:off x="4937760" y="950976"/>
            <a:ext cx="2316800" cy="22292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/>
          </a:p>
        </p:txBody>
      </p:sp>
      <p:sp>
        <p:nvSpPr>
          <p:cNvPr id="318" name="Google Shape;318;gabf134899d_0_100"/>
          <p:cNvSpPr txBox="1"/>
          <p:nvPr/>
        </p:nvSpPr>
        <p:spPr>
          <a:xfrm>
            <a:off x="2499360" y="2980944"/>
            <a:ext cx="2316800" cy="12152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/>
          </a:p>
        </p:txBody>
      </p:sp>
      <p:sp>
        <p:nvSpPr>
          <p:cNvPr id="319" name="Google Shape;319;gabf134899d_0_100"/>
          <p:cNvSpPr txBox="1"/>
          <p:nvPr/>
        </p:nvSpPr>
        <p:spPr>
          <a:xfrm>
            <a:off x="9814560" y="950976"/>
            <a:ext cx="2316800" cy="19000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/>
          </a:p>
        </p:txBody>
      </p:sp>
      <p:sp>
        <p:nvSpPr>
          <p:cNvPr id="320" name="Google Shape;320;gabf134899d_0_100"/>
          <p:cNvSpPr txBox="1"/>
          <p:nvPr/>
        </p:nvSpPr>
        <p:spPr>
          <a:xfrm>
            <a:off x="2499360" y="1014983"/>
            <a:ext cx="2316800" cy="11400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/>
          </a:p>
        </p:txBody>
      </p:sp>
      <p:sp>
        <p:nvSpPr>
          <p:cNvPr id="321" name="Google Shape;321;gabf134899d_0_100"/>
          <p:cNvSpPr txBox="1"/>
          <p:nvPr/>
        </p:nvSpPr>
        <p:spPr>
          <a:xfrm>
            <a:off x="7376160" y="2850976"/>
            <a:ext cx="2316800" cy="16092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/>
          </a:p>
        </p:txBody>
      </p:sp>
      <p:sp>
        <p:nvSpPr>
          <p:cNvPr id="322" name="Google Shape;322;gabf134899d_0_100"/>
          <p:cNvSpPr txBox="1"/>
          <p:nvPr/>
        </p:nvSpPr>
        <p:spPr>
          <a:xfrm>
            <a:off x="60960" y="4864777"/>
            <a:ext cx="2316800" cy="12152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/>
          </a:p>
        </p:txBody>
      </p:sp>
      <p:sp>
        <p:nvSpPr>
          <p:cNvPr id="323" name="Google Shape;323;gabf134899d_0_100"/>
          <p:cNvSpPr txBox="1"/>
          <p:nvPr/>
        </p:nvSpPr>
        <p:spPr>
          <a:xfrm>
            <a:off x="6173393" y="4864777"/>
            <a:ext cx="2316800" cy="12152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/>
          </a:p>
        </p:txBody>
      </p:sp>
      <p:sp>
        <p:nvSpPr>
          <p:cNvPr id="324" name="Google Shape;324;gabf134899d_0_100"/>
          <p:cNvSpPr txBox="1"/>
          <p:nvPr/>
        </p:nvSpPr>
        <p:spPr>
          <a:xfrm>
            <a:off x="3829050" y="152400"/>
            <a:ext cx="29241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none" cap="none" strike="noStrik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rPr>
              <a:t>Type name </a:t>
            </a:r>
            <a:endParaRPr/>
          </a:p>
        </p:txBody>
      </p:sp>
      <p:sp>
        <p:nvSpPr>
          <p:cNvPr id="325" name="Google Shape;325;gabf134899d_0_100"/>
          <p:cNvSpPr txBox="1"/>
          <p:nvPr/>
        </p:nvSpPr>
        <p:spPr>
          <a:xfrm>
            <a:off x="11115675" y="152399"/>
            <a:ext cx="101568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none" cap="none" strike="noStrik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rPr>
              <a:t>Type #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2021-01-11T22:00:44Z</dcterms:created>
  <dc:creator>Han Sol (Grace) Lee</dc:creator>
</cp:coreProperties>
</file>