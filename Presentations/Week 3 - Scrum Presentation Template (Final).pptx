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Master+xml" PartName="/ppt/slideMasters/slideMaster5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6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58" r:id="rId5"/>
    <p:sldMasterId id="2147483668" r:id="rId6"/>
    <p:sldMasterId id="2147483683" r:id="rId7"/>
    <p:sldMasterId id="2147483700" r:id="rId8"/>
  </p:sldMasterIdLst>
  <p:notesMasterIdLst>
    <p:notesMasterId r:id="rId9"/>
  </p:notes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</p:sldIdLst>
  <p:sldSz cy="6858000" cx="12192000"/>
  <p:notesSz cx="6858000" cy="9144000"/>
  <p:embeddedFontLst>
    <p:embeddedFont>
      <p:font typeface="Roboto Medium"/>
      <p:regular r:id="rId21"/>
      <p:bold r:id="rId22"/>
      <p:italic r:id="rId23"/>
      <p:boldItalic r:id="rId24"/>
    </p:embeddedFont>
    <p:embeddedFont>
      <p:font typeface="Roboto"/>
      <p:regular r:id="rId25"/>
      <p:bold r:id="rId26"/>
      <p:italic r:id="rId27"/>
      <p:boldItalic r:id="rId28"/>
    </p:embeddedFont>
    <p:embeddedFont>
      <p:font typeface="Caveat"/>
      <p:regular r:id="rId29"/>
      <p:bold r:id="rId30"/>
    </p:embeddedFont>
    <p:embeddedFont>
      <p:font typeface="Roboto Light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5" roundtripDataSignature="AMtx7mgKBDcD32FoKQKLWLVvgBHckINUG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B4CD1A3-3C9F-4257-A0C2-04D6E42DDC84}">
  <a:tblStyle styleId="{EB4CD1A3-3C9F-4257-A0C2-04D6E42DDC84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1.xml"/><Relationship Id="rId22" Type="http://schemas.openxmlformats.org/officeDocument/2006/relationships/font" Target="fonts/RobotoMedium-bold.fntdata"/><Relationship Id="rId21" Type="http://schemas.openxmlformats.org/officeDocument/2006/relationships/font" Target="fonts/RobotoMedium-regular.fntdata"/><Relationship Id="rId24" Type="http://schemas.openxmlformats.org/officeDocument/2006/relationships/font" Target="fonts/RobotoMedium-boldItalic.fntdata"/><Relationship Id="rId23" Type="http://schemas.openxmlformats.org/officeDocument/2006/relationships/font" Target="fonts/RobotoMedium-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26" Type="http://schemas.openxmlformats.org/officeDocument/2006/relationships/font" Target="fonts/Roboto-bold.fntdata"/><Relationship Id="rId25" Type="http://schemas.openxmlformats.org/officeDocument/2006/relationships/font" Target="fonts/Roboto-regular.fntdata"/><Relationship Id="rId28" Type="http://schemas.openxmlformats.org/officeDocument/2006/relationships/font" Target="fonts/Roboto-boldItalic.fntdata"/><Relationship Id="rId27" Type="http://schemas.openxmlformats.org/officeDocument/2006/relationships/font" Target="fonts/Roboto-italic.fntdata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29" Type="http://schemas.openxmlformats.org/officeDocument/2006/relationships/font" Target="fonts/Caveat-regular.fntdata"/><Relationship Id="rId7" Type="http://schemas.openxmlformats.org/officeDocument/2006/relationships/slideMaster" Target="slideMasters/slideMaster4.xml"/><Relationship Id="rId8" Type="http://schemas.openxmlformats.org/officeDocument/2006/relationships/slideMaster" Target="slideMasters/slideMaster5.xml"/><Relationship Id="rId31" Type="http://schemas.openxmlformats.org/officeDocument/2006/relationships/font" Target="fonts/RobotoLight-regular.fntdata"/><Relationship Id="rId30" Type="http://schemas.openxmlformats.org/officeDocument/2006/relationships/font" Target="fonts/Caveat-bold.fntdata"/><Relationship Id="rId11" Type="http://schemas.openxmlformats.org/officeDocument/2006/relationships/slide" Target="slides/slide2.xml"/><Relationship Id="rId33" Type="http://schemas.openxmlformats.org/officeDocument/2006/relationships/font" Target="fonts/RobotoLight-italic.fntdata"/><Relationship Id="rId10" Type="http://schemas.openxmlformats.org/officeDocument/2006/relationships/slide" Target="slides/slide1.xml"/><Relationship Id="rId32" Type="http://schemas.openxmlformats.org/officeDocument/2006/relationships/font" Target="fonts/RobotoLight-bold.fntdata"/><Relationship Id="rId13" Type="http://schemas.openxmlformats.org/officeDocument/2006/relationships/slide" Target="slides/slide4.xml"/><Relationship Id="rId35" Type="http://customschemas.google.com/relationships/presentationmetadata" Target="metadata"/><Relationship Id="rId12" Type="http://schemas.openxmlformats.org/officeDocument/2006/relationships/slide" Target="slides/slide3.xml"/><Relationship Id="rId34" Type="http://schemas.openxmlformats.org/officeDocument/2006/relationships/font" Target="fonts/RobotoLight-boldItalic.fntdata"/><Relationship Id="rId15" Type="http://schemas.openxmlformats.org/officeDocument/2006/relationships/slide" Target="slides/slide6.xml"/><Relationship Id="rId14" Type="http://schemas.openxmlformats.org/officeDocument/2006/relationships/slide" Target="slides/slide5.xml"/><Relationship Id="rId17" Type="http://schemas.openxmlformats.org/officeDocument/2006/relationships/slide" Target="slides/slide8.xml"/><Relationship Id="rId16" Type="http://schemas.openxmlformats.org/officeDocument/2006/relationships/slide" Target="slides/slide7.xml"/><Relationship Id="rId19" Type="http://schemas.openxmlformats.org/officeDocument/2006/relationships/slide" Target="slides/slide10.xml"/><Relationship Id="rId18" Type="http://schemas.openxmlformats.org/officeDocument/2006/relationships/slide" Target="slides/slide9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CA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youtube.com/watch?v=f-8v_RgwGe0" TargetMode="Externa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26:notes"/>
          <p:cNvSpPr txBox="1"/>
          <p:nvPr>
            <p:ph idx="1" type="body"/>
          </p:nvPr>
        </p:nvSpPr>
        <p:spPr>
          <a:xfrm>
            <a:off x="701040" y="4473893"/>
            <a:ext cx="5608200" cy="36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550" lIns="93150" spcFirstLastPara="1" rIns="93150" wrap="square" tIns="465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8" name="Google Shape;358;p26:notes"/>
          <p:cNvSpPr/>
          <p:nvPr>
            <p:ph idx="2" type="sldImg"/>
          </p:nvPr>
        </p:nvSpPr>
        <p:spPr>
          <a:xfrm>
            <a:off x="717550" y="1162050"/>
            <a:ext cx="5575300" cy="3136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6" name="Google Shape;36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5" name="Google Shape;37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1" name="Google Shape;38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7" name="Google Shape;38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CA"/>
              <a:t>Watch the video that inspired this example: </a:t>
            </a:r>
            <a:r>
              <a:rPr b="1" lang="en-CA" u="sng">
                <a:solidFill>
                  <a:schemeClr val="hlink"/>
                </a:solidFill>
                <a:hlinkClick r:id="rId2"/>
              </a:rPr>
              <a:t>https://www.youtube.com/watch?v=f-8v_RgwGe0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2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1" name="Google Shape;401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2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5" name="Google Shape;415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abf134899d_0_10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1" name="Google Shape;421;gabf134899d_0_10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2" name="Google Shape;422;gabf134899d_0_10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CA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2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8" name="Google Shape;438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0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Relationship Id="rId3" Type="http://schemas.openxmlformats.org/officeDocument/2006/relationships/image" Target="../media/image10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5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1.jp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0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4.png"/><Relationship Id="rId3" Type="http://schemas.openxmlformats.org/officeDocument/2006/relationships/image" Target="../media/image10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0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2.png"/><Relationship Id="rId3" Type="http://schemas.openxmlformats.org/officeDocument/2006/relationships/image" Target="../media/image10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">
  <p:cSld name="Content">
    <p:bg>
      <p:bgPr>
        <a:solidFill>
          <a:srgbClr val="F5F8F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1"/>
          <p:cNvSpPr txBox="1"/>
          <p:nvPr>
            <p:ph idx="1" type="body"/>
          </p:nvPr>
        </p:nvSpPr>
        <p:spPr>
          <a:xfrm>
            <a:off x="1007390" y="2076773"/>
            <a:ext cx="9237000" cy="34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83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sz="2200">
                <a:latin typeface="Arial"/>
                <a:ea typeface="Arial"/>
                <a:cs typeface="Arial"/>
                <a:sym typeface="Arial"/>
              </a:defRPr>
            </a:lvl1pPr>
            <a:lvl2pPr indent="-355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" name="Google Shape;17;p31"/>
          <p:cNvSpPr txBox="1"/>
          <p:nvPr>
            <p:ph idx="2" type="subTitle"/>
          </p:nvPr>
        </p:nvSpPr>
        <p:spPr>
          <a:xfrm>
            <a:off x="1007390" y="1083370"/>
            <a:ext cx="92370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3B38A"/>
              </a:buClr>
              <a:buSzPts val="3600"/>
              <a:buNone/>
              <a:defRPr b="1" sz="3600">
                <a:solidFill>
                  <a:srgbClr val="C3B38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cxnSp>
        <p:nvCxnSpPr>
          <p:cNvPr id="18" name="Google Shape;18;p31"/>
          <p:cNvCxnSpPr/>
          <p:nvPr/>
        </p:nvCxnSpPr>
        <p:spPr>
          <a:xfrm rot="10800000">
            <a:off x="1290300" y="6642754"/>
            <a:ext cx="10901700" cy="0"/>
          </a:xfrm>
          <a:prstGeom prst="straightConnector1">
            <a:avLst/>
          </a:prstGeom>
          <a:noFill/>
          <a:ln cap="flat" cmpd="sng" w="12700">
            <a:solidFill>
              <a:srgbClr val="3E3E3E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Icon&#10;&#10;Description automatically generated" id="19" name="Google Shape;19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42736" y="6291266"/>
            <a:ext cx="920907" cy="3757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lumns">
  <p:cSld name="Columns">
    <p:bg>
      <p:bgPr>
        <a:solidFill>
          <a:srgbClr val="F5F8FA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4"/>
          <p:cNvSpPr txBox="1"/>
          <p:nvPr>
            <p:ph idx="1" type="body"/>
          </p:nvPr>
        </p:nvSpPr>
        <p:spPr>
          <a:xfrm>
            <a:off x="1007390" y="2076773"/>
            <a:ext cx="4432500" cy="34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83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sz="2200">
                <a:latin typeface="Arial"/>
                <a:ea typeface="Arial"/>
                <a:cs typeface="Arial"/>
                <a:sym typeface="Arial"/>
              </a:defRPr>
            </a:lvl1pPr>
            <a:lvl2pPr indent="-3683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sz="2200"/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" name="Google Shape;22;p34"/>
          <p:cNvSpPr txBox="1"/>
          <p:nvPr>
            <p:ph idx="2" type="subTitle"/>
          </p:nvPr>
        </p:nvSpPr>
        <p:spPr>
          <a:xfrm>
            <a:off x="1007390" y="1083370"/>
            <a:ext cx="92370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3B38A"/>
              </a:buClr>
              <a:buSzPts val="3600"/>
              <a:buNone/>
              <a:defRPr b="1" sz="3600">
                <a:solidFill>
                  <a:srgbClr val="C3B38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cxnSp>
        <p:nvCxnSpPr>
          <p:cNvPr id="23" name="Google Shape;23;p34"/>
          <p:cNvCxnSpPr/>
          <p:nvPr/>
        </p:nvCxnSpPr>
        <p:spPr>
          <a:xfrm rot="10800000">
            <a:off x="1290300" y="6642754"/>
            <a:ext cx="10901700" cy="0"/>
          </a:xfrm>
          <a:prstGeom prst="straightConnector1">
            <a:avLst/>
          </a:prstGeom>
          <a:noFill/>
          <a:ln cap="flat" cmpd="sng" w="12700">
            <a:solidFill>
              <a:srgbClr val="3E3E3E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4" name="Google Shape;24;p34"/>
          <p:cNvSpPr txBox="1"/>
          <p:nvPr>
            <p:ph idx="3" type="body"/>
          </p:nvPr>
        </p:nvSpPr>
        <p:spPr>
          <a:xfrm>
            <a:off x="5811865" y="2076773"/>
            <a:ext cx="4432500" cy="34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83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sz="2200">
                <a:latin typeface="Arial"/>
                <a:ea typeface="Arial"/>
                <a:cs typeface="Arial"/>
                <a:sym typeface="Arial"/>
              </a:defRPr>
            </a:lvl1pPr>
            <a:lvl2pPr indent="-3683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sz="2200"/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descr="Icon&#10;&#10;Description automatically generated" id="25" name="Google Shape;25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42736" y="6291266"/>
            <a:ext cx="920907" cy="3757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bg>
      <p:bgPr>
        <a:solidFill>
          <a:srgbClr val="F5F8FA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picture containing text&#10;&#10;Description automatically generated" id="27" name="Google Shape;27;p4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37428" y="1735734"/>
            <a:ext cx="11722136" cy="391519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2"/>
          <p:cNvSpPr txBox="1"/>
          <p:nvPr>
            <p:ph idx="1" type="body"/>
          </p:nvPr>
        </p:nvSpPr>
        <p:spPr>
          <a:xfrm>
            <a:off x="3505199" y="2294503"/>
            <a:ext cx="5181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42"/>
          <p:cNvSpPr txBox="1"/>
          <p:nvPr>
            <p:ph idx="2" type="subTitle"/>
          </p:nvPr>
        </p:nvSpPr>
        <p:spPr>
          <a:xfrm>
            <a:off x="3505199" y="1404129"/>
            <a:ext cx="5181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b="1" sz="3600"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30" name="Google Shape;30;p42"/>
          <p:cNvSpPr txBox="1"/>
          <p:nvPr>
            <p:ph idx="3" type="body"/>
          </p:nvPr>
        </p:nvSpPr>
        <p:spPr>
          <a:xfrm>
            <a:off x="3505199" y="3164668"/>
            <a:ext cx="5181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42"/>
          <p:cNvSpPr txBox="1"/>
          <p:nvPr>
            <p:ph idx="4" type="body"/>
          </p:nvPr>
        </p:nvSpPr>
        <p:spPr>
          <a:xfrm>
            <a:off x="3505199" y="4028596"/>
            <a:ext cx="5181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42"/>
          <p:cNvSpPr txBox="1"/>
          <p:nvPr>
            <p:ph idx="5" type="body"/>
          </p:nvPr>
        </p:nvSpPr>
        <p:spPr>
          <a:xfrm>
            <a:off x="3505199" y="4892524"/>
            <a:ext cx="5181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descr="Icon&#10;&#10;Description automatically generated" id="33" name="Google Shape;33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2736" y="6291266"/>
            <a:ext cx="920907" cy="3757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pact Statement Slide">
  <p:cSld name="Impact Statement Slide">
    <p:bg>
      <p:bgPr>
        <a:solidFill>
          <a:srgbClr val="3E3E3E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43"/>
          <p:cNvSpPr txBox="1"/>
          <p:nvPr>
            <p:ph idx="1" type="subTitle"/>
          </p:nvPr>
        </p:nvSpPr>
        <p:spPr>
          <a:xfrm>
            <a:off x="6339236" y="2369395"/>
            <a:ext cx="4928100" cy="21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pic>
        <p:nvPicPr>
          <p:cNvPr descr="Logo, icon&#10;&#10;Description automatically generated" id="36" name="Google Shape;36;p4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63056" y="6291264"/>
            <a:ext cx="899319" cy="366987"/>
          </a:xfrm>
          <a:prstGeom prst="rect">
            <a:avLst/>
          </a:prstGeom>
          <a:noFill/>
          <a:ln>
            <a:noFill/>
          </a:ln>
        </p:spPr>
      </p:pic>
      <p:pic>
        <p:nvPicPr>
          <p:cNvPr id="37" name="Google Shape;37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-2083123" y="2369396"/>
            <a:ext cx="11460803" cy="114608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pact Statement Slide_3">
  <p:cSld name="Impact Statement Slide_3">
    <p:bg>
      <p:bgPr>
        <a:solidFill>
          <a:srgbClr val="F5F8FA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44"/>
          <p:cNvSpPr txBox="1"/>
          <p:nvPr>
            <p:ph idx="1" type="subTitle"/>
          </p:nvPr>
        </p:nvSpPr>
        <p:spPr>
          <a:xfrm>
            <a:off x="6405967" y="2383048"/>
            <a:ext cx="4928100" cy="21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E3E3E"/>
              </a:buClr>
              <a:buSzPts val="3600"/>
              <a:buNone/>
              <a:defRPr b="1" sz="3600">
                <a:solidFill>
                  <a:srgbClr val="3E3E3E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pic>
        <p:nvPicPr>
          <p:cNvPr id="40" name="Google Shape;40;p4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10800000">
            <a:off x="-2083123" y="2369396"/>
            <a:ext cx="11460803" cy="114608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and content">
  <p:cSld name="Image and content">
    <p:bg>
      <p:bgPr>
        <a:solidFill>
          <a:srgbClr val="F5F8FA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45"/>
          <p:cNvSpPr txBox="1"/>
          <p:nvPr>
            <p:ph idx="1" type="body"/>
          </p:nvPr>
        </p:nvSpPr>
        <p:spPr>
          <a:xfrm>
            <a:off x="1007391" y="2076773"/>
            <a:ext cx="4448100" cy="34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83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sz="2200">
                <a:latin typeface="Arial"/>
                <a:ea typeface="Arial"/>
                <a:cs typeface="Arial"/>
                <a:sym typeface="Arial"/>
              </a:defRPr>
            </a:lvl1pPr>
            <a:lvl2pPr indent="-3683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sz="2200"/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" name="Google Shape;43;p45"/>
          <p:cNvSpPr txBox="1"/>
          <p:nvPr>
            <p:ph idx="2" type="subTitle"/>
          </p:nvPr>
        </p:nvSpPr>
        <p:spPr>
          <a:xfrm>
            <a:off x="1007391" y="1083370"/>
            <a:ext cx="44481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3B38A"/>
              </a:buClr>
              <a:buSzPts val="3600"/>
              <a:buNone/>
              <a:defRPr b="1" sz="3600">
                <a:solidFill>
                  <a:srgbClr val="C3B38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cxnSp>
        <p:nvCxnSpPr>
          <p:cNvPr id="44" name="Google Shape;44;p45"/>
          <p:cNvCxnSpPr/>
          <p:nvPr/>
        </p:nvCxnSpPr>
        <p:spPr>
          <a:xfrm rot="10800000">
            <a:off x="1290300" y="6642754"/>
            <a:ext cx="10901700" cy="0"/>
          </a:xfrm>
          <a:prstGeom prst="straightConnector1">
            <a:avLst/>
          </a:prstGeom>
          <a:noFill/>
          <a:ln cap="flat" cmpd="sng" w="12700">
            <a:solidFill>
              <a:srgbClr val="3E3E3E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5" name="Google Shape;45;p45"/>
          <p:cNvSpPr/>
          <p:nvPr>
            <p:ph idx="3" type="clipArt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sp>
      <p:pic>
        <p:nvPicPr>
          <p:cNvPr descr="Icon&#10;&#10;Description automatically generated" id="46" name="Google Shape;46;p4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42736" y="6291266"/>
            <a:ext cx="920907" cy="3757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bg>
      <p:bgPr>
        <a:solidFill>
          <a:srgbClr val="3E3E3E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8" name="Google Shape;48;p46"/>
          <p:cNvCxnSpPr/>
          <p:nvPr/>
        </p:nvCxnSpPr>
        <p:spPr>
          <a:xfrm rot="10800000">
            <a:off x="530883" y="5904855"/>
            <a:ext cx="4196100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9" name="Google Shape;49;p46"/>
          <p:cNvSpPr txBox="1"/>
          <p:nvPr>
            <p:ph idx="1" type="subTitle"/>
          </p:nvPr>
        </p:nvSpPr>
        <p:spPr>
          <a:xfrm>
            <a:off x="546314" y="3721641"/>
            <a:ext cx="6197700" cy="7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0" sz="2400"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50" name="Google Shape;50;p46"/>
          <p:cNvSpPr txBox="1"/>
          <p:nvPr>
            <p:ph idx="2" type="body"/>
          </p:nvPr>
        </p:nvSpPr>
        <p:spPr>
          <a:xfrm>
            <a:off x="10380125" y="5455402"/>
            <a:ext cx="1571700" cy="3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descr="A picture containing text, clipart&#10;&#10;Description automatically generated" id="51" name="Google Shape;51;p4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46314" y="2093184"/>
            <a:ext cx="2649775" cy="10431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, icon&#10;&#10;Description automatically generated" id="52" name="Google Shape;52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75210" y="-2075233"/>
            <a:ext cx="9961288" cy="9961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 type="title">
  <p:cSld name="TITLE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47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55" name="Google Shape;55;p47"/>
          <p:cNvSpPr txBox="1"/>
          <p:nvPr>
            <p:ph idx="1" type="subTitle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56" name="Google Shape;56;p47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57" name="Google Shape;57;p47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58" name="Google Shape;58;p4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8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48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4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">
  <p:cSld name="Content">
    <p:bg>
      <p:bgPr>
        <a:solidFill>
          <a:srgbClr val="F5F8FA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3"/>
          <p:cNvSpPr txBox="1"/>
          <p:nvPr>
            <p:ph idx="1" type="body"/>
          </p:nvPr>
        </p:nvSpPr>
        <p:spPr>
          <a:xfrm>
            <a:off x="1007390" y="2076773"/>
            <a:ext cx="9237000" cy="34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83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sz="2200">
                <a:latin typeface="Arial"/>
                <a:ea typeface="Arial"/>
                <a:cs typeface="Arial"/>
                <a:sym typeface="Arial"/>
              </a:defRPr>
            </a:lvl1pPr>
            <a:lvl2pPr indent="-355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3"/>
          <p:cNvSpPr txBox="1"/>
          <p:nvPr>
            <p:ph idx="2" type="subTitle"/>
          </p:nvPr>
        </p:nvSpPr>
        <p:spPr>
          <a:xfrm>
            <a:off x="1007390" y="1083370"/>
            <a:ext cx="92370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3B38A"/>
              </a:buClr>
              <a:buSzPts val="3600"/>
              <a:buNone/>
              <a:defRPr b="1" sz="3600">
                <a:solidFill>
                  <a:srgbClr val="C3B38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cxnSp>
        <p:nvCxnSpPr>
          <p:cNvPr id="72" name="Google Shape;72;p33"/>
          <p:cNvCxnSpPr/>
          <p:nvPr/>
        </p:nvCxnSpPr>
        <p:spPr>
          <a:xfrm rot="10800000">
            <a:off x="1290300" y="6642754"/>
            <a:ext cx="10901700" cy="0"/>
          </a:xfrm>
          <a:prstGeom prst="straightConnector1">
            <a:avLst/>
          </a:prstGeom>
          <a:noFill/>
          <a:ln cap="flat" cmpd="sng" w="12700">
            <a:solidFill>
              <a:srgbClr val="3E3E3E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Icon&#10;&#10;Description automatically generated" id="73" name="Google Shape;73;p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42736" y="6291266"/>
            <a:ext cx="920907" cy="3757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bg>
      <p:bgPr>
        <a:solidFill>
          <a:srgbClr val="F5F8FA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picture containing text&#10;&#10;Description automatically generated" id="75" name="Google Shape;75;p8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37428" y="1735734"/>
            <a:ext cx="11722136" cy="3915194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83"/>
          <p:cNvSpPr txBox="1"/>
          <p:nvPr>
            <p:ph idx="1" type="body"/>
          </p:nvPr>
        </p:nvSpPr>
        <p:spPr>
          <a:xfrm>
            <a:off x="3505199" y="2294503"/>
            <a:ext cx="5181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83"/>
          <p:cNvSpPr txBox="1"/>
          <p:nvPr>
            <p:ph idx="2" type="subTitle"/>
          </p:nvPr>
        </p:nvSpPr>
        <p:spPr>
          <a:xfrm>
            <a:off x="3505199" y="1404129"/>
            <a:ext cx="5181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b="1" sz="3600"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78" name="Google Shape;78;p83"/>
          <p:cNvSpPr txBox="1"/>
          <p:nvPr>
            <p:ph idx="3" type="body"/>
          </p:nvPr>
        </p:nvSpPr>
        <p:spPr>
          <a:xfrm>
            <a:off x="3505199" y="3164668"/>
            <a:ext cx="5181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9" name="Google Shape;79;p83"/>
          <p:cNvSpPr txBox="1"/>
          <p:nvPr>
            <p:ph idx="4" type="body"/>
          </p:nvPr>
        </p:nvSpPr>
        <p:spPr>
          <a:xfrm>
            <a:off x="3505199" y="4028596"/>
            <a:ext cx="5181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0" name="Google Shape;80;p83"/>
          <p:cNvSpPr txBox="1"/>
          <p:nvPr>
            <p:ph idx="5" type="body"/>
          </p:nvPr>
        </p:nvSpPr>
        <p:spPr>
          <a:xfrm>
            <a:off x="3505199" y="4892524"/>
            <a:ext cx="5181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descr="Icon&#10;&#10;Description automatically generated" id="81" name="Google Shape;81;p8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2736" y="6291266"/>
            <a:ext cx="920907" cy="3757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bg>
      <p:bgPr>
        <a:solidFill>
          <a:srgbClr val="3E3E3E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picture containing text&#10;&#10;Description automatically generated" id="83" name="Google Shape;83;p8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375837" y="1334357"/>
            <a:ext cx="12567836" cy="4189279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84"/>
          <p:cNvSpPr txBox="1"/>
          <p:nvPr>
            <p:ph idx="1" type="subTitle"/>
          </p:nvPr>
        </p:nvSpPr>
        <p:spPr>
          <a:xfrm>
            <a:off x="2790124" y="3162020"/>
            <a:ext cx="6611700" cy="5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pic>
        <p:nvPicPr>
          <p:cNvPr descr="A black and white logo&#10;&#10;Description automatically generated with low confidence" id="85" name="Google Shape;85;p8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3057" y="6291264"/>
            <a:ext cx="899319" cy="3669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pact Statement Slide">
  <p:cSld name="Impact Statement Slide">
    <p:bg>
      <p:bgPr>
        <a:solidFill>
          <a:srgbClr val="3E3E3E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85"/>
          <p:cNvSpPr txBox="1"/>
          <p:nvPr>
            <p:ph idx="1" type="subTitle"/>
          </p:nvPr>
        </p:nvSpPr>
        <p:spPr>
          <a:xfrm>
            <a:off x="6339236" y="2369395"/>
            <a:ext cx="4928100" cy="21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pic>
        <p:nvPicPr>
          <p:cNvPr descr="Logo, icon&#10;&#10;Description automatically generated" id="88" name="Google Shape;88;p8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63056" y="6291264"/>
            <a:ext cx="899319" cy="366987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8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-2083123" y="2369396"/>
            <a:ext cx="11460803" cy="114608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pact Statement Slide_3">
  <p:cSld name="Impact Statement Slide_3">
    <p:bg>
      <p:bgPr>
        <a:solidFill>
          <a:srgbClr val="F5F8FA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86"/>
          <p:cNvSpPr txBox="1"/>
          <p:nvPr>
            <p:ph idx="1" type="subTitle"/>
          </p:nvPr>
        </p:nvSpPr>
        <p:spPr>
          <a:xfrm>
            <a:off x="6405967" y="2383048"/>
            <a:ext cx="4928100" cy="21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E3E3E"/>
              </a:buClr>
              <a:buSzPts val="3600"/>
              <a:buNone/>
              <a:defRPr b="1" sz="3600">
                <a:solidFill>
                  <a:srgbClr val="3E3E3E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pic>
        <p:nvPicPr>
          <p:cNvPr id="92" name="Google Shape;92;p8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10800000">
            <a:off x="-2083123" y="2369396"/>
            <a:ext cx="11460803" cy="114608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and content">
  <p:cSld name="Image and content">
    <p:bg>
      <p:bgPr>
        <a:solidFill>
          <a:srgbClr val="F5F8FA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87"/>
          <p:cNvSpPr txBox="1"/>
          <p:nvPr>
            <p:ph idx="1" type="body"/>
          </p:nvPr>
        </p:nvSpPr>
        <p:spPr>
          <a:xfrm>
            <a:off x="1007391" y="2076773"/>
            <a:ext cx="4448100" cy="34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83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sz="2200">
                <a:latin typeface="Arial"/>
                <a:ea typeface="Arial"/>
                <a:cs typeface="Arial"/>
                <a:sym typeface="Arial"/>
              </a:defRPr>
            </a:lvl1pPr>
            <a:lvl2pPr indent="-3683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sz="2200"/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5" name="Google Shape;95;p87"/>
          <p:cNvSpPr txBox="1"/>
          <p:nvPr>
            <p:ph idx="2" type="subTitle"/>
          </p:nvPr>
        </p:nvSpPr>
        <p:spPr>
          <a:xfrm>
            <a:off x="1007391" y="1083370"/>
            <a:ext cx="44481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3B38A"/>
              </a:buClr>
              <a:buSzPts val="3600"/>
              <a:buNone/>
              <a:defRPr b="1" sz="3600">
                <a:solidFill>
                  <a:srgbClr val="C3B38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cxnSp>
        <p:nvCxnSpPr>
          <p:cNvPr id="96" name="Google Shape;96;p87"/>
          <p:cNvCxnSpPr/>
          <p:nvPr/>
        </p:nvCxnSpPr>
        <p:spPr>
          <a:xfrm rot="10800000">
            <a:off x="1290300" y="6642754"/>
            <a:ext cx="10901700" cy="0"/>
          </a:xfrm>
          <a:prstGeom prst="straightConnector1">
            <a:avLst/>
          </a:prstGeom>
          <a:noFill/>
          <a:ln cap="flat" cmpd="sng" w="12700">
            <a:solidFill>
              <a:srgbClr val="3E3E3E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7" name="Google Shape;97;p87"/>
          <p:cNvSpPr/>
          <p:nvPr>
            <p:ph idx="3" type="clipArt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sp>
      <p:pic>
        <p:nvPicPr>
          <p:cNvPr descr="Icon&#10;&#10;Description automatically generated" id="98" name="Google Shape;98;p8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42736" y="6291266"/>
            <a:ext cx="920907" cy="3757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bg>
      <p:bgPr>
        <a:solidFill>
          <a:srgbClr val="3E3E3E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0" name="Google Shape;100;p88"/>
          <p:cNvCxnSpPr/>
          <p:nvPr/>
        </p:nvCxnSpPr>
        <p:spPr>
          <a:xfrm rot="10800000">
            <a:off x="530883" y="5904855"/>
            <a:ext cx="4196100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1" name="Google Shape;101;p88"/>
          <p:cNvSpPr txBox="1"/>
          <p:nvPr>
            <p:ph idx="1" type="subTitle"/>
          </p:nvPr>
        </p:nvSpPr>
        <p:spPr>
          <a:xfrm>
            <a:off x="546314" y="3721641"/>
            <a:ext cx="6197700" cy="7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0" sz="2400"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02" name="Google Shape;102;p88"/>
          <p:cNvSpPr txBox="1"/>
          <p:nvPr>
            <p:ph idx="2" type="body"/>
          </p:nvPr>
        </p:nvSpPr>
        <p:spPr>
          <a:xfrm>
            <a:off x="10380125" y="5455402"/>
            <a:ext cx="1571700" cy="3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descr="A picture containing text, clipart&#10;&#10;Description automatically generated" id="103" name="Google Shape;103;p8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46314" y="2093184"/>
            <a:ext cx="2649775" cy="10431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, icon&#10;&#10;Description automatically generated" id="104" name="Google Shape;104;p8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75210" y="-2075233"/>
            <a:ext cx="9961288" cy="9961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 type="title">
  <p:cSld name="TITLE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89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07" name="Google Shape;107;p89"/>
          <p:cNvSpPr txBox="1"/>
          <p:nvPr>
            <p:ph idx="1" type="subTitle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08" name="Google Shape;108;p89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09" name="Google Shape;109;p89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10" name="Google Shape;110;p8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90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90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9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 1">
  <p:cSld name="Blank 1 1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6"/>
          <p:cNvSpPr txBox="1"/>
          <p:nvPr/>
        </p:nvSpPr>
        <p:spPr>
          <a:xfrm>
            <a:off x="7297833" y="2291733"/>
            <a:ext cx="4894000" cy="4506400"/>
          </a:xfrm>
          <a:prstGeom prst="rect">
            <a:avLst/>
          </a:prstGeom>
          <a:solidFill>
            <a:srgbClr val="F9CB9C"/>
          </a:solidFill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</a:pPr>
            <a:r>
              <a:rPr b="0" i="0" lang="en-CA" sz="1867" u="sng" cap="none" strike="noStrike"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Next Steps</a:t>
            </a:r>
            <a:r>
              <a:rPr b="0" i="0" lang="en-CA" sz="1867" u="none" cap="none" strike="noStrike"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:</a:t>
            </a:r>
            <a:endParaRPr b="0" i="0" sz="1867" u="none" cap="none" strike="noStrike"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20" name="Google Shape;120;p36"/>
          <p:cNvSpPr txBox="1"/>
          <p:nvPr/>
        </p:nvSpPr>
        <p:spPr>
          <a:xfrm>
            <a:off x="0" y="586017"/>
            <a:ext cx="7298000" cy="1650400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</a:pPr>
            <a:r>
              <a:rPr b="0" i="0" lang="en-CA" sz="1867" u="sng" cap="none" strike="noStrike"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Hypothesis</a:t>
            </a:r>
            <a:r>
              <a:rPr b="0" i="0" lang="en-CA" sz="1867" u="none" cap="none" strike="noStrike"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:</a:t>
            </a:r>
            <a:endParaRPr b="0" i="0" sz="1867" u="none" cap="none" strike="noStrike"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21" name="Google Shape;121;p36"/>
          <p:cNvSpPr txBox="1"/>
          <p:nvPr/>
        </p:nvSpPr>
        <p:spPr>
          <a:xfrm>
            <a:off x="5850833" y="-8467"/>
            <a:ext cx="3266800" cy="53350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</a:pPr>
            <a:r>
              <a:rPr b="0" i="0" lang="en-CA" sz="1867" u="none" cap="none" strike="noStrike"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# of Interviews = </a:t>
            </a:r>
            <a:endParaRPr b="0" i="0" sz="1867" u="none" cap="none" strike="noStrike"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22" name="Google Shape;122;p36"/>
          <p:cNvSpPr txBox="1"/>
          <p:nvPr/>
        </p:nvSpPr>
        <p:spPr>
          <a:xfrm>
            <a:off x="0" y="-2800"/>
            <a:ext cx="5850800" cy="533504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</a:pPr>
            <a:r>
              <a:rPr b="0" i="0" lang="en-CA" sz="1867" u="none" cap="none" strike="noStrike"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Customer Segment:  </a:t>
            </a:r>
            <a:endParaRPr b="0" i="0" sz="1867" u="none" cap="none" strike="noStrike"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23" name="Google Shape;123;p36"/>
          <p:cNvSpPr txBox="1"/>
          <p:nvPr/>
        </p:nvSpPr>
        <p:spPr>
          <a:xfrm>
            <a:off x="0" y="2291677"/>
            <a:ext cx="7298000" cy="4506400"/>
          </a:xfrm>
          <a:prstGeom prst="rect">
            <a:avLst/>
          </a:prstGeom>
          <a:solidFill>
            <a:srgbClr val="A4C2F4"/>
          </a:solidFill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50799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</a:pPr>
            <a:r>
              <a:rPr b="0" i="0" lang="en-CA" sz="1867" u="sng" cap="none" strike="noStrike"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Learnings or Insights</a:t>
            </a:r>
            <a:r>
              <a:rPr b="0" i="0" lang="en-CA" sz="1867" u="none" cap="none" strike="noStrike"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 :</a:t>
            </a:r>
            <a:endParaRPr b="0" i="0" sz="1867" u="none" cap="none" strike="noStrike"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24" name="Google Shape;124;p36"/>
          <p:cNvSpPr txBox="1"/>
          <p:nvPr/>
        </p:nvSpPr>
        <p:spPr>
          <a:xfrm>
            <a:off x="7297833" y="583200"/>
            <a:ext cx="1110800" cy="16504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</a:pPr>
            <a:r>
              <a:t/>
            </a:r>
            <a:endParaRPr b="0" i="0" sz="1333" u="none" cap="none" strike="noStrike"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</a:pPr>
            <a:r>
              <a:t/>
            </a:r>
            <a:endParaRPr b="0" i="0" sz="1333" u="none" cap="none" strike="noStrike"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</a:pPr>
            <a:r>
              <a:t/>
            </a:r>
            <a:endParaRPr b="0" i="0" sz="1333" u="none" cap="none" strike="noStrike"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</a:pPr>
            <a:r>
              <a:rPr b="0" i="0" lang="en-CA" sz="1333" u="none" cap="none" strike="noStrike"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Validated</a:t>
            </a:r>
            <a:endParaRPr b="0" i="0" sz="1333" u="none" cap="none" strike="noStrike"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25" name="Google Shape;125;p36"/>
          <p:cNvSpPr txBox="1"/>
          <p:nvPr/>
        </p:nvSpPr>
        <p:spPr>
          <a:xfrm>
            <a:off x="8408633" y="583200"/>
            <a:ext cx="1110800" cy="16504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</a:pPr>
            <a:r>
              <a:t/>
            </a:r>
            <a:endParaRPr b="0" i="0" sz="1333" u="none" cap="none" strike="noStrike"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</a:pPr>
            <a:r>
              <a:t/>
            </a:r>
            <a:endParaRPr b="0" i="0" sz="1333" u="none" cap="none" strike="noStrike"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</a:pPr>
            <a:r>
              <a:t/>
            </a:r>
            <a:endParaRPr b="0" i="0" sz="1333" u="none" cap="none" strike="noStrike"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</a:pPr>
            <a:r>
              <a:rPr b="0" i="0" lang="en-CA" sz="1333" u="none" cap="none" strike="noStrike"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Invalidated</a:t>
            </a:r>
            <a:endParaRPr b="0" i="0" sz="2800" u="none" cap="none" strike="noStrike">
              <a:solidFill>
                <a:srgbClr val="202124"/>
              </a:solidFill>
              <a:highlight>
                <a:srgbClr val="F8F9FA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</a:pPr>
            <a:r>
              <a:t/>
            </a:r>
            <a:endParaRPr b="0" i="0" sz="1333" u="none" cap="none" strike="noStrike"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26" name="Google Shape;126;p36"/>
          <p:cNvSpPr txBox="1"/>
          <p:nvPr/>
        </p:nvSpPr>
        <p:spPr>
          <a:xfrm>
            <a:off x="9519433" y="583200"/>
            <a:ext cx="2673600" cy="16504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</a:pPr>
            <a:r>
              <a:rPr b="0" i="0" lang="en-CA" sz="1333" u="none" cap="none" strike="noStrike"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Comments:</a:t>
            </a:r>
            <a:endParaRPr b="0" i="0" sz="1333" u="none" cap="none" strike="noStrike"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27" name="Google Shape;127;p36"/>
          <p:cNvSpPr txBox="1"/>
          <p:nvPr/>
        </p:nvSpPr>
        <p:spPr>
          <a:xfrm>
            <a:off x="8408633" y="-8533"/>
            <a:ext cx="3783200" cy="533504"/>
          </a:xfrm>
          <a:prstGeom prst="rect">
            <a:avLst/>
          </a:prstGeom>
          <a:solidFill>
            <a:srgbClr val="B7B7B7"/>
          </a:solidFill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</a:pPr>
            <a:r>
              <a:rPr b="0" i="0" lang="en-CA" sz="1867" u="none" cap="none" strike="noStrike"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Industry: </a:t>
            </a:r>
            <a:endParaRPr b="0" i="0" sz="1867" u="none" cap="none" strike="noStrike"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28" name="Google Shape;128;p36"/>
          <p:cNvSpPr txBox="1"/>
          <p:nvPr/>
        </p:nvSpPr>
        <p:spPr>
          <a:xfrm rot="-1372322">
            <a:off x="197653" y="3498875"/>
            <a:ext cx="7648567" cy="1702862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466"/>
              <a:buFont typeface="Arial"/>
              <a:buNone/>
            </a:pPr>
            <a:r>
              <a:rPr b="0" i="0" lang="en-CA" sz="9466" u="none" cap="none" strike="noStrik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rPr>
              <a:t>EXAMPLE</a:t>
            </a:r>
            <a:endParaRPr b="0" i="0" sz="9466" u="none" cap="none" strike="noStrike">
              <a:solidFill>
                <a:srgbClr val="9E9E9E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 1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7"/>
          <p:cNvSpPr txBox="1"/>
          <p:nvPr/>
        </p:nvSpPr>
        <p:spPr>
          <a:xfrm>
            <a:off x="7297833" y="2291733"/>
            <a:ext cx="4894000" cy="4506400"/>
          </a:xfrm>
          <a:prstGeom prst="rect">
            <a:avLst/>
          </a:prstGeom>
          <a:solidFill>
            <a:srgbClr val="F9CB9C"/>
          </a:solidFill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</a:pPr>
            <a:r>
              <a:rPr b="0" i="0" lang="en-CA" sz="1867" u="sng" cap="none" strike="noStrike"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Next Steps</a:t>
            </a:r>
            <a:r>
              <a:rPr b="0" i="0" lang="en-CA" sz="1867" u="none" cap="none" strike="noStrike"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:</a:t>
            </a:r>
            <a:endParaRPr b="0" i="0" sz="1867" u="none" cap="none" strike="noStrike"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31" name="Google Shape;131;p37"/>
          <p:cNvSpPr txBox="1"/>
          <p:nvPr/>
        </p:nvSpPr>
        <p:spPr>
          <a:xfrm>
            <a:off x="0" y="586017"/>
            <a:ext cx="7298000" cy="1650400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</a:pPr>
            <a:r>
              <a:rPr b="0" i="0" lang="en-CA" sz="1867" u="sng" cap="none" strike="noStrike"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Hypothesis</a:t>
            </a:r>
            <a:r>
              <a:rPr b="0" i="0" lang="en-CA" sz="1867" u="none" cap="none" strike="noStrike"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:</a:t>
            </a:r>
            <a:endParaRPr b="0" i="0" sz="1867" u="none" cap="none" strike="noStrike"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32" name="Google Shape;132;p37"/>
          <p:cNvSpPr txBox="1"/>
          <p:nvPr/>
        </p:nvSpPr>
        <p:spPr>
          <a:xfrm>
            <a:off x="5850833" y="-8467"/>
            <a:ext cx="3266800" cy="53350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</a:pPr>
            <a:r>
              <a:rPr b="0" i="0" lang="en-CA" sz="1867" u="none" cap="none" strike="noStrike"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# of Interviews= </a:t>
            </a:r>
            <a:endParaRPr b="0" i="0" sz="1867" u="none" cap="none" strike="noStrike"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33" name="Google Shape;133;p37"/>
          <p:cNvSpPr txBox="1"/>
          <p:nvPr/>
        </p:nvSpPr>
        <p:spPr>
          <a:xfrm>
            <a:off x="0" y="-2800"/>
            <a:ext cx="5850800" cy="533504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</a:pPr>
            <a:r>
              <a:rPr b="0" i="0" lang="en-CA" sz="1867" u="none" cap="none" strike="noStrike"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Customer Segment:  </a:t>
            </a:r>
            <a:endParaRPr b="0" i="0" sz="1867" u="none" cap="none" strike="noStrike"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34" name="Google Shape;134;p37"/>
          <p:cNvSpPr txBox="1"/>
          <p:nvPr/>
        </p:nvSpPr>
        <p:spPr>
          <a:xfrm>
            <a:off x="0" y="2291677"/>
            <a:ext cx="7298000" cy="4506400"/>
          </a:xfrm>
          <a:prstGeom prst="rect">
            <a:avLst/>
          </a:prstGeom>
          <a:solidFill>
            <a:srgbClr val="A4C2F4"/>
          </a:solidFill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50799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</a:pPr>
            <a:r>
              <a:rPr b="0" i="0" lang="en-CA" sz="1867" u="sng" cap="none" strike="noStrike"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Learning or insights</a:t>
            </a:r>
            <a:r>
              <a:rPr b="0" i="0" lang="en-CA" sz="1867" u="none" cap="none" strike="noStrike"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:</a:t>
            </a:r>
            <a:endParaRPr b="0" i="0" sz="1867" u="none" cap="none" strike="noStrike"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35" name="Google Shape;135;p37"/>
          <p:cNvSpPr txBox="1"/>
          <p:nvPr/>
        </p:nvSpPr>
        <p:spPr>
          <a:xfrm>
            <a:off x="7297833" y="583200"/>
            <a:ext cx="1110800" cy="16504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</a:pPr>
            <a:r>
              <a:t/>
            </a:r>
            <a:endParaRPr b="0" i="0" sz="1333" u="none" cap="none" strike="noStrike"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</a:pPr>
            <a:r>
              <a:t/>
            </a:r>
            <a:endParaRPr b="0" i="0" sz="1333" u="none" cap="none" strike="noStrike"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</a:pPr>
            <a:r>
              <a:t/>
            </a:r>
            <a:endParaRPr b="0" i="0" sz="1333" u="none" cap="none" strike="noStrike"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</a:pPr>
            <a:r>
              <a:rPr b="0" i="0" lang="en-CA" sz="1333" u="none" cap="none" strike="noStrike"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Validated</a:t>
            </a:r>
            <a:endParaRPr b="0" i="0" sz="1333" u="none" cap="none" strike="noStrike"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36" name="Google Shape;136;p37"/>
          <p:cNvSpPr txBox="1"/>
          <p:nvPr/>
        </p:nvSpPr>
        <p:spPr>
          <a:xfrm>
            <a:off x="8408633" y="583200"/>
            <a:ext cx="1110800" cy="16504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</a:pPr>
            <a:r>
              <a:t/>
            </a:r>
            <a:endParaRPr b="0" i="0" sz="1333" u="none" cap="none" strike="noStrike"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</a:pPr>
            <a:r>
              <a:t/>
            </a:r>
            <a:endParaRPr b="0" i="0" sz="1333" u="none" cap="none" strike="noStrike"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</a:pPr>
            <a:r>
              <a:t/>
            </a:r>
            <a:endParaRPr b="0" i="0" sz="1333" u="none" cap="none" strike="noStrike"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</a:pPr>
            <a:r>
              <a:rPr b="0" i="0" lang="en-CA" sz="1333" u="none" cap="none" strike="noStrike"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Invalidated</a:t>
            </a:r>
            <a:endParaRPr b="0" i="0" sz="2800" u="none" cap="none" strike="noStrike">
              <a:solidFill>
                <a:srgbClr val="202124"/>
              </a:solidFill>
              <a:highlight>
                <a:srgbClr val="F8F9FA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</a:pPr>
            <a:r>
              <a:t/>
            </a:r>
            <a:endParaRPr b="0" i="0" sz="1333" u="none" cap="none" strike="noStrike"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37" name="Google Shape;137;p37"/>
          <p:cNvSpPr txBox="1"/>
          <p:nvPr/>
        </p:nvSpPr>
        <p:spPr>
          <a:xfrm>
            <a:off x="9519433" y="583200"/>
            <a:ext cx="2673600" cy="16504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</a:pPr>
            <a:r>
              <a:rPr b="0" i="0" lang="en-CA" sz="1333" u="none" cap="none" strike="noStrike"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Comments:</a:t>
            </a:r>
            <a:endParaRPr b="0" i="0" sz="1333" u="none" cap="none" strike="noStrike"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38" name="Google Shape;138;p37"/>
          <p:cNvSpPr txBox="1"/>
          <p:nvPr/>
        </p:nvSpPr>
        <p:spPr>
          <a:xfrm>
            <a:off x="8408633" y="-8533"/>
            <a:ext cx="3783200" cy="533504"/>
          </a:xfrm>
          <a:prstGeom prst="rect">
            <a:avLst/>
          </a:prstGeom>
          <a:solidFill>
            <a:srgbClr val="B7B7B7"/>
          </a:solidFill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</a:pPr>
            <a:r>
              <a:rPr b="0" i="0" lang="en-CA" sz="1867" u="none" cap="none" strike="noStrike"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Industry: </a:t>
            </a:r>
            <a:endParaRPr b="0" i="0" sz="1867" u="none" cap="none" strike="noStrike"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56"/>
          <p:cNvSpPr txBox="1"/>
          <p:nvPr>
            <p:ph type="ctrTitle"/>
          </p:nvPr>
        </p:nvSpPr>
        <p:spPr>
          <a:xfrm>
            <a:off x="415611" y="992767"/>
            <a:ext cx="11360800" cy="2736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/>
        </p:txBody>
      </p:sp>
      <p:sp>
        <p:nvSpPr>
          <p:cNvPr id="141" name="Google Shape;141;p56"/>
          <p:cNvSpPr txBox="1"/>
          <p:nvPr>
            <p:ph idx="1" type="subTitle"/>
          </p:nvPr>
        </p:nvSpPr>
        <p:spPr>
          <a:xfrm>
            <a:off x="415600" y="3778833"/>
            <a:ext cx="11360800" cy="105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/>
        </p:txBody>
      </p:sp>
      <p:sp>
        <p:nvSpPr>
          <p:cNvPr id="142" name="Google Shape;142;p56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7"/>
          <p:cNvSpPr txBox="1"/>
          <p:nvPr>
            <p:ph type="title"/>
          </p:nvPr>
        </p:nvSpPr>
        <p:spPr>
          <a:xfrm>
            <a:off x="415600" y="2867800"/>
            <a:ext cx="11360800" cy="112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/>
        </p:txBody>
      </p:sp>
      <p:sp>
        <p:nvSpPr>
          <p:cNvPr id="145" name="Google Shape;145;p57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58"/>
          <p:cNvSpPr txBox="1"/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8" name="Google Shape;148;p58"/>
          <p:cNvSpPr txBox="1"/>
          <p:nvPr>
            <p:ph idx="1" type="body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49" name="Google Shape;149;p58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>
  <p:cSld name="Title and body 1"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59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  <p:cxnSp>
        <p:nvCxnSpPr>
          <p:cNvPr id="152" name="Google Shape;152;p59"/>
          <p:cNvCxnSpPr/>
          <p:nvPr/>
        </p:nvCxnSpPr>
        <p:spPr>
          <a:xfrm>
            <a:off x="6233200" y="1352500"/>
            <a:ext cx="0" cy="4665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3" name="Google Shape;153;p59"/>
          <p:cNvSpPr txBox="1"/>
          <p:nvPr/>
        </p:nvSpPr>
        <p:spPr>
          <a:xfrm>
            <a:off x="3519000" y="333267"/>
            <a:ext cx="5428400" cy="6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</a:pPr>
            <a:r>
              <a:rPr b="1" i="0" lang="en-CA" sz="1867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In one sentence tell us …</a:t>
            </a:r>
            <a:endParaRPr b="1" i="0" sz="1867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4" name="Google Shape;154;p59"/>
          <p:cNvSpPr txBox="1"/>
          <p:nvPr/>
        </p:nvSpPr>
        <p:spPr>
          <a:xfrm>
            <a:off x="703000" y="818900"/>
            <a:ext cx="4000000" cy="533504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</a:pPr>
            <a:r>
              <a:rPr b="1" i="1" lang="en-CA" sz="1867" u="none" cap="none" strike="noStrike">
                <a:solidFill>
                  <a:schemeClr val="dk1"/>
                </a:solidFill>
                <a:highlight>
                  <a:srgbClr val="F8D231"/>
                </a:highlight>
                <a:latin typeface="Roboto"/>
                <a:ea typeface="Roboto"/>
                <a:cs typeface="Roboto"/>
                <a:sym typeface="Roboto"/>
              </a:rPr>
              <a:t>What’s your product/service ? </a:t>
            </a:r>
            <a:endParaRPr b="1" i="1" sz="1867" u="none" cap="none" strike="noStrike">
              <a:solidFill>
                <a:srgbClr val="000000"/>
              </a:solidFill>
              <a:highlight>
                <a:srgbClr val="F8D231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59"/>
          <p:cNvSpPr txBox="1"/>
          <p:nvPr/>
        </p:nvSpPr>
        <p:spPr>
          <a:xfrm>
            <a:off x="7763400" y="818900"/>
            <a:ext cx="4000000" cy="533504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</a:pPr>
            <a:r>
              <a:rPr b="1" i="1" lang="en-CA" sz="1867" u="none" cap="none" strike="noStrike">
                <a:solidFill>
                  <a:schemeClr val="dk1"/>
                </a:solidFill>
                <a:highlight>
                  <a:srgbClr val="F8D231"/>
                </a:highlight>
                <a:latin typeface="Roboto"/>
                <a:ea typeface="Roboto"/>
                <a:cs typeface="Roboto"/>
                <a:sym typeface="Roboto"/>
              </a:rPr>
              <a:t>What’s your secret sauce? </a:t>
            </a:r>
            <a:endParaRPr b="1" i="1" sz="1867" u="none" cap="none" strike="noStrike">
              <a:solidFill>
                <a:srgbClr val="000000"/>
              </a:solidFill>
              <a:highlight>
                <a:srgbClr val="F8D231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60"/>
          <p:cNvSpPr txBox="1"/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8" name="Google Shape;158;p60"/>
          <p:cNvSpPr txBox="1"/>
          <p:nvPr>
            <p:ph idx="1" type="body"/>
          </p:nvPr>
        </p:nvSpPr>
        <p:spPr>
          <a:xfrm>
            <a:off x="415600" y="1536633"/>
            <a:ext cx="53332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/>
        </p:txBody>
      </p:sp>
      <p:sp>
        <p:nvSpPr>
          <p:cNvPr id="159" name="Google Shape;159;p60"/>
          <p:cNvSpPr txBox="1"/>
          <p:nvPr>
            <p:ph idx="2" type="body"/>
          </p:nvPr>
        </p:nvSpPr>
        <p:spPr>
          <a:xfrm>
            <a:off x="6443200" y="1536633"/>
            <a:ext cx="53332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/>
        </p:txBody>
      </p:sp>
      <p:sp>
        <p:nvSpPr>
          <p:cNvPr id="160" name="Google Shape;160;p60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61"/>
          <p:cNvSpPr txBox="1"/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3" name="Google Shape;163;p61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62"/>
          <p:cNvSpPr txBox="1"/>
          <p:nvPr>
            <p:ph type="title"/>
          </p:nvPr>
        </p:nvSpPr>
        <p:spPr>
          <a:xfrm>
            <a:off x="415600" y="740800"/>
            <a:ext cx="3744000" cy="1007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/>
        </p:txBody>
      </p:sp>
      <p:sp>
        <p:nvSpPr>
          <p:cNvPr id="166" name="Google Shape;166;p62"/>
          <p:cNvSpPr txBox="1"/>
          <p:nvPr>
            <p:ph idx="1" type="body"/>
          </p:nvPr>
        </p:nvSpPr>
        <p:spPr>
          <a:xfrm>
            <a:off x="415600" y="1852800"/>
            <a:ext cx="3744000" cy="42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/>
        </p:txBody>
      </p:sp>
      <p:sp>
        <p:nvSpPr>
          <p:cNvPr id="167" name="Google Shape;167;p62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63"/>
          <p:cNvSpPr txBox="1"/>
          <p:nvPr>
            <p:ph type="title"/>
          </p:nvPr>
        </p:nvSpPr>
        <p:spPr>
          <a:xfrm>
            <a:off x="653667" y="600200"/>
            <a:ext cx="8490400" cy="545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/>
        </p:txBody>
      </p:sp>
      <p:sp>
        <p:nvSpPr>
          <p:cNvPr id="170" name="Google Shape;170;p63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64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</a:pPr>
            <a:r>
              <a:t/>
            </a:r>
            <a:endParaRPr b="0" i="0" sz="186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64"/>
          <p:cNvSpPr txBox="1"/>
          <p:nvPr>
            <p:ph type="title"/>
          </p:nvPr>
        </p:nvSpPr>
        <p:spPr>
          <a:xfrm>
            <a:off x="354000" y="1644233"/>
            <a:ext cx="5393600" cy="1976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/>
        </p:txBody>
      </p:sp>
      <p:sp>
        <p:nvSpPr>
          <p:cNvPr id="174" name="Google Shape;174;p64"/>
          <p:cNvSpPr txBox="1"/>
          <p:nvPr>
            <p:ph idx="1" type="subTitle"/>
          </p:nvPr>
        </p:nvSpPr>
        <p:spPr>
          <a:xfrm>
            <a:off x="354000" y="3737433"/>
            <a:ext cx="5393600" cy="16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/>
        </p:txBody>
      </p:sp>
      <p:sp>
        <p:nvSpPr>
          <p:cNvPr id="175" name="Google Shape;175;p64"/>
          <p:cNvSpPr txBox="1"/>
          <p:nvPr>
            <p:ph idx="2" type="body"/>
          </p:nvPr>
        </p:nvSpPr>
        <p:spPr>
          <a:xfrm>
            <a:off x="6586000" y="965433"/>
            <a:ext cx="5116000" cy="49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76" name="Google Shape;176;p64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65"/>
          <p:cNvSpPr txBox="1"/>
          <p:nvPr>
            <p:ph idx="1" type="body"/>
          </p:nvPr>
        </p:nvSpPr>
        <p:spPr>
          <a:xfrm>
            <a:off x="415600" y="5640767"/>
            <a:ext cx="7998400" cy="80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79" name="Google Shape;179;p65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66"/>
          <p:cNvSpPr txBox="1"/>
          <p:nvPr>
            <p:ph type="title"/>
          </p:nvPr>
        </p:nvSpPr>
        <p:spPr>
          <a:xfrm>
            <a:off x="415600" y="1474833"/>
            <a:ext cx="11360800" cy="2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/>
        </p:txBody>
      </p:sp>
      <p:sp>
        <p:nvSpPr>
          <p:cNvPr id="182" name="Google Shape;182;p66"/>
          <p:cNvSpPr txBox="1"/>
          <p:nvPr>
            <p:ph idx="1" type="body"/>
          </p:nvPr>
        </p:nvSpPr>
        <p:spPr>
          <a:xfrm>
            <a:off x="415600" y="4202967"/>
            <a:ext cx="11360800" cy="17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83" name="Google Shape;183;p66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67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STER_SLIDE">
  <p:cSld name="MASTER_SLIDE">
    <p:bg>
      <p:bgPr>
        <a:solidFill>
          <a:srgbClr val="1F445A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9"/>
          <p:cNvSpPr/>
          <p:nvPr/>
        </p:nvSpPr>
        <p:spPr>
          <a:xfrm>
            <a:off x="0" y="585216"/>
            <a:ext cx="2438400" cy="4114800"/>
          </a:xfrm>
          <a:prstGeom prst="rect">
            <a:avLst/>
          </a:prstGeom>
          <a:solidFill>
            <a:srgbClr val="EEEEEE"/>
          </a:solidFill>
          <a:ln cap="flat" cmpd="sng" w="12700">
            <a:solidFill>
              <a:srgbClr val="1E44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46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39"/>
          <p:cNvSpPr/>
          <p:nvPr/>
        </p:nvSpPr>
        <p:spPr>
          <a:xfrm>
            <a:off x="2438400" y="585216"/>
            <a:ext cx="2438400" cy="2057600"/>
          </a:xfrm>
          <a:prstGeom prst="rect">
            <a:avLst/>
          </a:prstGeom>
          <a:solidFill>
            <a:srgbClr val="EEEEEE"/>
          </a:solidFill>
          <a:ln cap="flat" cmpd="sng" w="12700">
            <a:solidFill>
              <a:srgbClr val="1E44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46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39"/>
          <p:cNvSpPr/>
          <p:nvPr/>
        </p:nvSpPr>
        <p:spPr>
          <a:xfrm>
            <a:off x="2438400" y="2615184"/>
            <a:ext cx="2438400" cy="2057600"/>
          </a:xfrm>
          <a:prstGeom prst="rect">
            <a:avLst/>
          </a:prstGeom>
          <a:solidFill>
            <a:srgbClr val="EEEEEE"/>
          </a:solidFill>
          <a:ln cap="flat" cmpd="sng" w="12700">
            <a:solidFill>
              <a:srgbClr val="1E44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46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39"/>
          <p:cNvSpPr/>
          <p:nvPr/>
        </p:nvSpPr>
        <p:spPr>
          <a:xfrm>
            <a:off x="4876800" y="585216"/>
            <a:ext cx="2438400" cy="4114800"/>
          </a:xfrm>
          <a:prstGeom prst="rect">
            <a:avLst/>
          </a:prstGeom>
          <a:solidFill>
            <a:srgbClr val="EEEEEE"/>
          </a:solidFill>
          <a:ln cap="flat" cmpd="sng" w="12700">
            <a:solidFill>
              <a:srgbClr val="1E44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46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39"/>
          <p:cNvSpPr/>
          <p:nvPr/>
        </p:nvSpPr>
        <p:spPr>
          <a:xfrm>
            <a:off x="7315200" y="585216"/>
            <a:ext cx="2438400" cy="2057600"/>
          </a:xfrm>
          <a:prstGeom prst="rect">
            <a:avLst/>
          </a:prstGeom>
          <a:solidFill>
            <a:srgbClr val="EEEEEE"/>
          </a:solidFill>
          <a:ln cap="flat" cmpd="sng" w="12700">
            <a:solidFill>
              <a:srgbClr val="1E44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46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39"/>
          <p:cNvSpPr/>
          <p:nvPr/>
        </p:nvSpPr>
        <p:spPr>
          <a:xfrm>
            <a:off x="7315200" y="2615184"/>
            <a:ext cx="2438400" cy="2057600"/>
          </a:xfrm>
          <a:prstGeom prst="rect">
            <a:avLst/>
          </a:prstGeom>
          <a:solidFill>
            <a:srgbClr val="EEEEEE"/>
          </a:solidFill>
          <a:ln cap="flat" cmpd="sng" w="12700">
            <a:solidFill>
              <a:srgbClr val="1E44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46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39"/>
          <p:cNvSpPr/>
          <p:nvPr/>
        </p:nvSpPr>
        <p:spPr>
          <a:xfrm>
            <a:off x="9753600" y="585216"/>
            <a:ext cx="2438400" cy="4114800"/>
          </a:xfrm>
          <a:prstGeom prst="rect">
            <a:avLst/>
          </a:prstGeom>
          <a:solidFill>
            <a:srgbClr val="EEEEEE"/>
          </a:solidFill>
          <a:ln cap="flat" cmpd="sng" w="12700">
            <a:solidFill>
              <a:srgbClr val="1E44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46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39"/>
          <p:cNvSpPr/>
          <p:nvPr/>
        </p:nvSpPr>
        <p:spPr>
          <a:xfrm>
            <a:off x="-36576" y="548640"/>
            <a:ext cx="9144000" cy="36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900"/>
              <a:buFont typeface="Arial"/>
              <a:buNone/>
            </a:pPr>
            <a:r>
              <a:rPr b="0" i="0" lang="en-CA" sz="12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Key Partners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39"/>
          <p:cNvSpPr/>
          <p:nvPr/>
        </p:nvSpPr>
        <p:spPr>
          <a:xfrm>
            <a:off x="2401824" y="548640"/>
            <a:ext cx="9144000" cy="36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900"/>
              <a:buFont typeface="Arial"/>
              <a:buNone/>
            </a:pPr>
            <a:r>
              <a:rPr b="0" i="0" lang="en-CA" sz="12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Key Activities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39"/>
          <p:cNvSpPr/>
          <p:nvPr/>
        </p:nvSpPr>
        <p:spPr>
          <a:xfrm>
            <a:off x="2401824" y="2578608"/>
            <a:ext cx="9144000" cy="36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900"/>
              <a:buFont typeface="Arial"/>
              <a:buNone/>
            </a:pPr>
            <a:r>
              <a:rPr b="0" i="0" lang="en-CA" sz="12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Key Resources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39"/>
          <p:cNvSpPr/>
          <p:nvPr/>
        </p:nvSpPr>
        <p:spPr>
          <a:xfrm>
            <a:off x="4840224" y="548640"/>
            <a:ext cx="9144000" cy="36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900"/>
              <a:buFont typeface="Arial"/>
              <a:buNone/>
            </a:pPr>
            <a:r>
              <a:rPr b="0" i="0" lang="en-CA" sz="12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Value Proposition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39"/>
          <p:cNvSpPr/>
          <p:nvPr/>
        </p:nvSpPr>
        <p:spPr>
          <a:xfrm>
            <a:off x="7278624" y="548640"/>
            <a:ext cx="9144000" cy="36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900"/>
              <a:buFont typeface="Arial"/>
              <a:buNone/>
            </a:pPr>
            <a:r>
              <a:rPr b="0" i="0" lang="en-CA" sz="12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Customer Relationships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39"/>
          <p:cNvSpPr/>
          <p:nvPr/>
        </p:nvSpPr>
        <p:spPr>
          <a:xfrm>
            <a:off x="7278624" y="2578608"/>
            <a:ext cx="9144000" cy="36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900"/>
              <a:buFont typeface="Arial"/>
              <a:buNone/>
            </a:pPr>
            <a:r>
              <a:rPr b="0" i="0" lang="en-CA" sz="12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Channels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39"/>
          <p:cNvSpPr/>
          <p:nvPr/>
        </p:nvSpPr>
        <p:spPr>
          <a:xfrm>
            <a:off x="9717024" y="548640"/>
            <a:ext cx="9144000" cy="36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900"/>
              <a:buFont typeface="Arial"/>
              <a:buNone/>
            </a:pPr>
            <a:r>
              <a:rPr b="0" i="0" lang="en-CA" sz="12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Customer Segments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https://s3-us-west-2.amazonaws.com/innovation-within-external-assets/iw_logo_4_29_19.png" id="206" name="Google Shape;206;p3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576" y="73152"/>
            <a:ext cx="1463040" cy="42672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39"/>
          <p:cNvSpPr/>
          <p:nvPr/>
        </p:nvSpPr>
        <p:spPr>
          <a:xfrm>
            <a:off x="0" y="4608576"/>
            <a:ext cx="6096000" cy="2331600"/>
          </a:xfrm>
          <a:prstGeom prst="rect">
            <a:avLst/>
          </a:prstGeom>
          <a:solidFill>
            <a:srgbClr val="EEEEEE"/>
          </a:solidFill>
          <a:ln cap="flat" cmpd="sng" w="12700">
            <a:solidFill>
              <a:srgbClr val="1E44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46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39"/>
          <p:cNvSpPr/>
          <p:nvPr/>
        </p:nvSpPr>
        <p:spPr>
          <a:xfrm>
            <a:off x="6096000" y="4608576"/>
            <a:ext cx="6096000" cy="2331600"/>
          </a:xfrm>
          <a:prstGeom prst="rect">
            <a:avLst/>
          </a:prstGeom>
          <a:solidFill>
            <a:srgbClr val="EEEEEE"/>
          </a:solidFill>
          <a:ln cap="flat" cmpd="sng" w="12700">
            <a:solidFill>
              <a:srgbClr val="1E44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46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39"/>
          <p:cNvSpPr/>
          <p:nvPr/>
        </p:nvSpPr>
        <p:spPr>
          <a:xfrm>
            <a:off x="-36576" y="4572000"/>
            <a:ext cx="9144000" cy="36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900"/>
              <a:buFont typeface="Arial"/>
              <a:buNone/>
            </a:pPr>
            <a:r>
              <a:rPr b="0" i="0" lang="en-CA" sz="12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Cost Structure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39"/>
          <p:cNvSpPr/>
          <p:nvPr/>
        </p:nvSpPr>
        <p:spPr>
          <a:xfrm>
            <a:off x="6059424" y="4572000"/>
            <a:ext cx="9144000" cy="36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900"/>
              <a:buFont typeface="Arial"/>
              <a:buNone/>
            </a:pPr>
            <a:r>
              <a:rPr b="0" i="0" lang="en-CA" sz="12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Revenue Streams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39"/>
          <p:cNvSpPr/>
          <p:nvPr/>
        </p:nvSpPr>
        <p:spPr>
          <a:xfrm>
            <a:off x="0" y="0"/>
            <a:ext cx="12192000" cy="576032"/>
          </a:xfrm>
          <a:prstGeom prst="rect">
            <a:avLst/>
          </a:prstGeom>
          <a:solidFill>
            <a:srgbClr val="C2B38A"/>
          </a:solidFill>
          <a:ln cap="flat" cmpd="sng" w="25400">
            <a:solidFill>
              <a:srgbClr val="C2B3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39"/>
          <p:cNvSpPr txBox="1"/>
          <p:nvPr/>
        </p:nvSpPr>
        <p:spPr>
          <a:xfrm>
            <a:off x="9144" y="157039"/>
            <a:ext cx="259689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CA" sz="1400" u="none" cap="none" strike="noStrike">
                <a:solidFill>
                  <a:srgbClr val="F6F6F6"/>
                </a:solidFill>
                <a:latin typeface="Arial"/>
                <a:ea typeface="Arial"/>
                <a:cs typeface="Arial"/>
                <a:sym typeface="Arial"/>
              </a:rPr>
              <a:t>BUSINESS MODEL CANVAS</a:t>
            </a:r>
            <a:endParaRPr/>
          </a:p>
        </p:txBody>
      </p:sp>
      <p:sp>
        <p:nvSpPr>
          <p:cNvPr id="213" name="Google Shape;213;p39"/>
          <p:cNvSpPr txBox="1"/>
          <p:nvPr/>
        </p:nvSpPr>
        <p:spPr>
          <a:xfrm>
            <a:off x="3008376" y="157039"/>
            <a:ext cx="76809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CA" sz="1400" u="none" cap="none" strike="noStrike">
                <a:solidFill>
                  <a:srgbClr val="F6F6F6"/>
                </a:solidFill>
                <a:latin typeface="Arial"/>
                <a:ea typeface="Arial"/>
                <a:cs typeface="Arial"/>
                <a:sym typeface="Arial"/>
              </a:rPr>
              <a:t>NAME:</a:t>
            </a:r>
            <a:endParaRPr/>
          </a:p>
        </p:txBody>
      </p:sp>
      <p:sp>
        <p:nvSpPr>
          <p:cNvPr id="214" name="Google Shape;214;p39"/>
          <p:cNvSpPr txBox="1"/>
          <p:nvPr/>
        </p:nvSpPr>
        <p:spPr>
          <a:xfrm>
            <a:off x="9726168" y="152432"/>
            <a:ext cx="139293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CA" sz="1400" u="none" cap="none" strike="noStrike">
                <a:solidFill>
                  <a:srgbClr val="F6F6F6"/>
                </a:solidFill>
                <a:latin typeface="Arial"/>
                <a:ea typeface="Arial"/>
                <a:cs typeface="Arial"/>
                <a:sym typeface="Arial"/>
              </a:rPr>
              <a:t>ITERATION #:</a:t>
            </a:r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68"/>
          <p:cNvSpPr txBox="1"/>
          <p:nvPr>
            <p:ph type="ctrTitle"/>
          </p:nvPr>
        </p:nvSpPr>
        <p:spPr>
          <a:xfrm>
            <a:off x="415611" y="992767"/>
            <a:ext cx="11360800" cy="2736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/>
        </p:txBody>
      </p:sp>
      <p:sp>
        <p:nvSpPr>
          <p:cNvPr id="217" name="Google Shape;217;p68"/>
          <p:cNvSpPr txBox="1"/>
          <p:nvPr>
            <p:ph idx="1" type="subTitle"/>
          </p:nvPr>
        </p:nvSpPr>
        <p:spPr>
          <a:xfrm>
            <a:off x="415600" y="3778833"/>
            <a:ext cx="11360800" cy="105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/>
        </p:txBody>
      </p:sp>
      <p:sp>
        <p:nvSpPr>
          <p:cNvPr id="218" name="Google Shape;218;p68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69"/>
          <p:cNvSpPr txBox="1"/>
          <p:nvPr>
            <p:ph type="title"/>
          </p:nvPr>
        </p:nvSpPr>
        <p:spPr>
          <a:xfrm>
            <a:off x="415600" y="2867800"/>
            <a:ext cx="11360800" cy="112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/>
        </p:txBody>
      </p:sp>
      <p:sp>
        <p:nvSpPr>
          <p:cNvPr id="221" name="Google Shape;221;p69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70"/>
          <p:cNvSpPr txBox="1"/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4" name="Google Shape;224;p70"/>
          <p:cNvSpPr txBox="1"/>
          <p:nvPr>
            <p:ph idx="1" type="body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5" name="Google Shape;225;p70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>
  <p:cSld name="Title and body 1"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71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  <p:cxnSp>
        <p:nvCxnSpPr>
          <p:cNvPr id="228" name="Google Shape;228;p71"/>
          <p:cNvCxnSpPr/>
          <p:nvPr/>
        </p:nvCxnSpPr>
        <p:spPr>
          <a:xfrm>
            <a:off x="6233200" y="1352500"/>
            <a:ext cx="0" cy="4665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9" name="Google Shape;229;p71"/>
          <p:cNvSpPr txBox="1"/>
          <p:nvPr/>
        </p:nvSpPr>
        <p:spPr>
          <a:xfrm>
            <a:off x="3519000" y="333267"/>
            <a:ext cx="5428400" cy="6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</a:pPr>
            <a:r>
              <a:rPr b="1" i="0" lang="en-CA" sz="1867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In one sentence tell us …</a:t>
            </a:r>
            <a:endParaRPr b="1" i="0" sz="1867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0" name="Google Shape;230;p71"/>
          <p:cNvSpPr txBox="1"/>
          <p:nvPr/>
        </p:nvSpPr>
        <p:spPr>
          <a:xfrm>
            <a:off x="703000" y="818900"/>
            <a:ext cx="4000000" cy="533504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</a:pPr>
            <a:r>
              <a:rPr b="1" i="1" lang="en-CA" sz="1867" u="none" cap="none" strike="noStrike">
                <a:solidFill>
                  <a:schemeClr val="dk1"/>
                </a:solidFill>
                <a:highlight>
                  <a:srgbClr val="F8D231"/>
                </a:highlight>
                <a:latin typeface="Roboto"/>
                <a:ea typeface="Roboto"/>
                <a:cs typeface="Roboto"/>
                <a:sym typeface="Roboto"/>
              </a:rPr>
              <a:t>What’s your product/service ? </a:t>
            </a:r>
            <a:endParaRPr b="1" i="1" sz="1867" u="none" cap="none" strike="noStrike">
              <a:solidFill>
                <a:srgbClr val="000000"/>
              </a:solidFill>
              <a:highlight>
                <a:srgbClr val="F8D231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71"/>
          <p:cNvSpPr txBox="1"/>
          <p:nvPr/>
        </p:nvSpPr>
        <p:spPr>
          <a:xfrm>
            <a:off x="7763400" y="818900"/>
            <a:ext cx="4000000" cy="533504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</a:pPr>
            <a:r>
              <a:rPr b="1" i="1" lang="en-CA" sz="1867" u="none" cap="none" strike="noStrike">
                <a:solidFill>
                  <a:schemeClr val="dk1"/>
                </a:solidFill>
                <a:highlight>
                  <a:srgbClr val="F8D231"/>
                </a:highlight>
                <a:latin typeface="Roboto"/>
                <a:ea typeface="Roboto"/>
                <a:cs typeface="Roboto"/>
                <a:sym typeface="Roboto"/>
              </a:rPr>
              <a:t>What’s your secret sauce? </a:t>
            </a:r>
            <a:endParaRPr b="1" i="1" sz="1867" u="none" cap="none" strike="noStrike">
              <a:solidFill>
                <a:srgbClr val="000000"/>
              </a:solidFill>
              <a:highlight>
                <a:srgbClr val="F8D231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72"/>
          <p:cNvSpPr txBox="1"/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4" name="Google Shape;234;p72"/>
          <p:cNvSpPr txBox="1"/>
          <p:nvPr>
            <p:ph idx="1" type="body"/>
          </p:nvPr>
        </p:nvSpPr>
        <p:spPr>
          <a:xfrm>
            <a:off x="415600" y="1536633"/>
            <a:ext cx="53332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/>
        </p:txBody>
      </p:sp>
      <p:sp>
        <p:nvSpPr>
          <p:cNvPr id="235" name="Google Shape;235;p72"/>
          <p:cNvSpPr txBox="1"/>
          <p:nvPr>
            <p:ph idx="2" type="body"/>
          </p:nvPr>
        </p:nvSpPr>
        <p:spPr>
          <a:xfrm>
            <a:off x="6443200" y="1536633"/>
            <a:ext cx="53332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/>
        </p:txBody>
      </p:sp>
      <p:sp>
        <p:nvSpPr>
          <p:cNvPr id="236" name="Google Shape;236;p72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73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  <p:sp>
        <p:nvSpPr>
          <p:cNvPr id="239" name="Google Shape;239;p73"/>
          <p:cNvSpPr/>
          <p:nvPr/>
        </p:nvSpPr>
        <p:spPr>
          <a:xfrm>
            <a:off x="5061133" y="429233"/>
            <a:ext cx="6698400" cy="5412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</a:pPr>
            <a:r>
              <a:t/>
            </a:r>
            <a:endParaRPr b="0" i="0" sz="186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73"/>
          <p:cNvSpPr txBox="1"/>
          <p:nvPr/>
        </p:nvSpPr>
        <p:spPr>
          <a:xfrm>
            <a:off x="5197600" y="546900"/>
            <a:ext cx="1796800" cy="615513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1" lang="en-CA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Voici quelques post-its et formes que vous pouvez copier-coller pour commencer.</a:t>
            </a:r>
            <a:endParaRPr b="1" i="1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74"/>
          <p:cNvSpPr txBox="1"/>
          <p:nvPr>
            <p:ph type="title"/>
          </p:nvPr>
        </p:nvSpPr>
        <p:spPr>
          <a:xfrm>
            <a:off x="415600" y="740800"/>
            <a:ext cx="3744000" cy="1007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/>
        </p:txBody>
      </p:sp>
      <p:sp>
        <p:nvSpPr>
          <p:cNvPr id="243" name="Google Shape;243;p74"/>
          <p:cNvSpPr txBox="1"/>
          <p:nvPr>
            <p:ph idx="1" type="body"/>
          </p:nvPr>
        </p:nvSpPr>
        <p:spPr>
          <a:xfrm>
            <a:off x="415600" y="1852800"/>
            <a:ext cx="3744000" cy="42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/>
        </p:txBody>
      </p:sp>
      <p:sp>
        <p:nvSpPr>
          <p:cNvPr id="244" name="Google Shape;244;p74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75"/>
          <p:cNvSpPr txBox="1"/>
          <p:nvPr>
            <p:ph type="title"/>
          </p:nvPr>
        </p:nvSpPr>
        <p:spPr>
          <a:xfrm>
            <a:off x="653667" y="600200"/>
            <a:ext cx="8490400" cy="545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/>
        </p:txBody>
      </p:sp>
      <p:sp>
        <p:nvSpPr>
          <p:cNvPr id="247" name="Google Shape;247;p75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76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</a:pPr>
            <a:r>
              <a:t/>
            </a:r>
            <a:endParaRPr b="0" i="0" sz="186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76"/>
          <p:cNvSpPr txBox="1"/>
          <p:nvPr>
            <p:ph type="title"/>
          </p:nvPr>
        </p:nvSpPr>
        <p:spPr>
          <a:xfrm>
            <a:off x="354000" y="1644233"/>
            <a:ext cx="5393600" cy="1976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/>
        </p:txBody>
      </p:sp>
      <p:sp>
        <p:nvSpPr>
          <p:cNvPr id="251" name="Google Shape;251;p76"/>
          <p:cNvSpPr txBox="1"/>
          <p:nvPr>
            <p:ph idx="1" type="subTitle"/>
          </p:nvPr>
        </p:nvSpPr>
        <p:spPr>
          <a:xfrm>
            <a:off x="354000" y="3737433"/>
            <a:ext cx="5393600" cy="16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/>
        </p:txBody>
      </p:sp>
      <p:sp>
        <p:nvSpPr>
          <p:cNvPr id="252" name="Google Shape;252;p76"/>
          <p:cNvSpPr txBox="1"/>
          <p:nvPr>
            <p:ph idx="2" type="body"/>
          </p:nvPr>
        </p:nvSpPr>
        <p:spPr>
          <a:xfrm>
            <a:off x="6586000" y="965433"/>
            <a:ext cx="5116000" cy="49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53" name="Google Shape;253;p76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77"/>
          <p:cNvSpPr txBox="1"/>
          <p:nvPr>
            <p:ph idx="1" type="body"/>
          </p:nvPr>
        </p:nvSpPr>
        <p:spPr>
          <a:xfrm>
            <a:off x="415600" y="5640767"/>
            <a:ext cx="7998400" cy="80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56" name="Google Shape;256;p77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78"/>
          <p:cNvSpPr txBox="1"/>
          <p:nvPr>
            <p:ph type="title"/>
          </p:nvPr>
        </p:nvSpPr>
        <p:spPr>
          <a:xfrm>
            <a:off x="415600" y="1474833"/>
            <a:ext cx="11360800" cy="2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/>
        </p:txBody>
      </p:sp>
      <p:sp>
        <p:nvSpPr>
          <p:cNvPr id="259" name="Google Shape;259;p78"/>
          <p:cNvSpPr txBox="1"/>
          <p:nvPr>
            <p:ph idx="1" type="body"/>
          </p:nvPr>
        </p:nvSpPr>
        <p:spPr>
          <a:xfrm>
            <a:off x="415600" y="4202967"/>
            <a:ext cx="11360800" cy="17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60" name="Google Shape;260;p78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79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  <p:sp>
        <p:nvSpPr>
          <p:cNvPr id="263" name="Google Shape;263;p79"/>
          <p:cNvSpPr/>
          <p:nvPr/>
        </p:nvSpPr>
        <p:spPr>
          <a:xfrm>
            <a:off x="2055305" y="899033"/>
            <a:ext cx="2589200" cy="4601200"/>
          </a:xfrm>
          <a:prstGeom prst="rect">
            <a:avLst/>
          </a:prstGeom>
          <a:solidFill>
            <a:srgbClr val="EEEEEE"/>
          </a:solidFill>
          <a:ln cap="flat" cmpd="sng" w="12700">
            <a:solidFill>
              <a:srgbClr val="1E44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46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79"/>
          <p:cNvSpPr/>
          <p:nvPr/>
        </p:nvSpPr>
        <p:spPr>
          <a:xfrm>
            <a:off x="4644528" y="899033"/>
            <a:ext cx="2589200" cy="2300800"/>
          </a:xfrm>
          <a:prstGeom prst="rect">
            <a:avLst/>
          </a:prstGeom>
          <a:solidFill>
            <a:srgbClr val="EEEEEE"/>
          </a:solidFill>
          <a:ln cap="flat" cmpd="sng" w="12700">
            <a:solidFill>
              <a:srgbClr val="1E44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46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79"/>
          <p:cNvSpPr/>
          <p:nvPr/>
        </p:nvSpPr>
        <p:spPr>
          <a:xfrm>
            <a:off x="4644533" y="3169000"/>
            <a:ext cx="2589200" cy="2331200"/>
          </a:xfrm>
          <a:prstGeom prst="rect">
            <a:avLst/>
          </a:prstGeom>
          <a:solidFill>
            <a:srgbClr val="EEEEEE"/>
          </a:solidFill>
          <a:ln cap="flat" cmpd="sng" w="12700">
            <a:solidFill>
              <a:srgbClr val="1E44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46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79"/>
          <p:cNvSpPr/>
          <p:nvPr/>
        </p:nvSpPr>
        <p:spPr>
          <a:xfrm>
            <a:off x="7233751" y="899033"/>
            <a:ext cx="2589200" cy="4601200"/>
          </a:xfrm>
          <a:prstGeom prst="rect">
            <a:avLst/>
          </a:prstGeom>
          <a:solidFill>
            <a:srgbClr val="EEEEEE"/>
          </a:solidFill>
          <a:ln cap="flat" cmpd="sng" w="12700">
            <a:solidFill>
              <a:srgbClr val="1E44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46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79"/>
          <p:cNvSpPr/>
          <p:nvPr/>
        </p:nvSpPr>
        <p:spPr>
          <a:xfrm>
            <a:off x="2016468" y="858133"/>
            <a:ext cx="9709600" cy="40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900"/>
              <a:buFont typeface="Arial"/>
              <a:buNone/>
            </a:pPr>
            <a:r>
              <a:rPr b="0" i="0" lang="en-CA" sz="12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Proposition de valeur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79"/>
          <p:cNvSpPr/>
          <p:nvPr/>
        </p:nvSpPr>
        <p:spPr>
          <a:xfrm>
            <a:off x="4605689" y="858133"/>
            <a:ext cx="9709600" cy="40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900"/>
              <a:buFont typeface="Arial"/>
              <a:buNone/>
            </a:pPr>
            <a:r>
              <a:rPr b="0" i="0" lang="en-CA" sz="12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Relations de clientèle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79"/>
          <p:cNvSpPr/>
          <p:nvPr/>
        </p:nvSpPr>
        <p:spPr>
          <a:xfrm>
            <a:off x="4605689" y="3128099"/>
            <a:ext cx="9709600" cy="40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900"/>
              <a:buFont typeface="Arial"/>
              <a:buNone/>
            </a:pPr>
            <a:r>
              <a:rPr b="0" i="0" lang="en-CA" sz="12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Canaux de distribution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79"/>
          <p:cNvSpPr/>
          <p:nvPr/>
        </p:nvSpPr>
        <p:spPr>
          <a:xfrm>
            <a:off x="7194912" y="858133"/>
            <a:ext cx="9709600" cy="40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900"/>
              <a:buFont typeface="Arial"/>
              <a:buNone/>
            </a:pPr>
            <a:r>
              <a:rPr b="0" i="0" lang="en-CA" sz="12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Segments de clientèle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2">
  <p:cSld name="Blank 2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80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 1"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81"/>
          <p:cNvSpPr txBox="1"/>
          <p:nvPr/>
        </p:nvSpPr>
        <p:spPr>
          <a:xfrm>
            <a:off x="7297833" y="2291733"/>
            <a:ext cx="4894000" cy="3972800"/>
          </a:xfrm>
          <a:prstGeom prst="rect">
            <a:avLst/>
          </a:prstGeom>
          <a:solidFill>
            <a:srgbClr val="F9CB9C"/>
          </a:solidFill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</a:pPr>
            <a:r>
              <a:rPr b="0" i="0" lang="en-CA" sz="1867" u="sng" cap="none" strike="noStrike"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Next steps</a:t>
            </a:r>
            <a:r>
              <a:rPr b="0" i="0" lang="en-CA" sz="1867" u="none" cap="none" strike="noStrike"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:</a:t>
            </a:r>
            <a:endParaRPr b="0" i="0" sz="1867" u="none" cap="none" strike="noStrike"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275" name="Google Shape;275;p81"/>
          <p:cNvSpPr txBox="1"/>
          <p:nvPr/>
        </p:nvSpPr>
        <p:spPr>
          <a:xfrm>
            <a:off x="0" y="0"/>
            <a:ext cx="1426400" cy="533600"/>
          </a:xfrm>
          <a:prstGeom prst="rect">
            <a:avLst/>
          </a:prstGeom>
          <a:solidFill>
            <a:srgbClr val="B7B7B7"/>
          </a:solidFill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</a:pPr>
            <a:r>
              <a:rPr b="0" i="0" lang="en-CA" sz="1867" u="none" cap="none" strike="noStrike"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WEEK #</a:t>
            </a:r>
            <a:endParaRPr b="0" i="0" sz="1867" u="none" cap="none" strike="noStrike"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276" name="Google Shape;276;p81"/>
          <p:cNvSpPr txBox="1"/>
          <p:nvPr/>
        </p:nvSpPr>
        <p:spPr>
          <a:xfrm>
            <a:off x="0" y="586017"/>
            <a:ext cx="7298000" cy="1650400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</a:pPr>
            <a:r>
              <a:rPr b="0" i="0" lang="en-CA" sz="1867" u="sng" cap="none" strike="noStrike"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Hypothesis</a:t>
            </a:r>
            <a:r>
              <a:rPr b="0" i="0" lang="en-CA" sz="1867" u="none" cap="none" strike="noStrike"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:</a:t>
            </a:r>
            <a:endParaRPr b="0" i="0" sz="1867" u="none" cap="none" strike="noStrike"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277" name="Google Shape;277;p81"/>
          <p:cNvSpPr txBox="1"/>
          <p:nvPr/>
        </p:nvSpPr>
        <p:spPr>
          <a:xfrm>
            <a:off x="7297833" y="6264534"/>
            <a:ext cx="2632000" cy="533504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</a:pPr>
            <a:r>
              <a:rPr b="0" i="0" lang="en-CA" sz="1867" u="none" cap="none" strike="noStrike"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# of Interviews = </a:t>
            </a:r>
            <a:endParaRPr b="0" i="0" sz="1867" u="none" cap="none" strike="noStrike"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278" name="Google Shape;278;p81"/>
          <p:cNvSpPr txBox="1"/>
          <p:nvPr/>
        </p:nvSpPr>
        <p:spPr>
          <a:xfrm>
            <a:off x="1426400" y="-8467"/>
            <a:ext cx="6982400" cy="533504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</a:pPr>
            <a:r>
              <a:rPr b="0" i="0" lang="en-CA" sz="1867" u="none" cap="none" strike="noStrike"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Customer Segment Name: </a:t>
            </a:r>
            <a:endParaRPr b="0" i="0" sz="1867" u="none" cap="none" strike="noStrike"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279" name="Google Shape;279;p81"/>
          <p:cNvSpPr txBox="1"/>
          <p:nvPr/>
        </p:nvSpPr>
        <p:spPr>
          <a:xfrm>
            <a:off x="9929667" y="6264534"/>
            <a:ext cx="2263200" cy="533504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</a:pPr>
            <a:r>
              <a:rPr b="0" i="0" lang="en-CA" sz="1867" u="none" cap="none" strike="noStrike"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# of referrals =</a:t>
            </a:r>
            <a:endParaRPr b="0" i="0" sz="1867" u="none" cap="none" strike="noStrike"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280" name="Google Shape;280;p81"/>
          <p:cNvSpPr txBox="1"/>
          <p:nvPr/>
        </p:nvSpPr>
        <p:spPr>
          <a:xfrm>
            <a:off x="0" y="2291677"/>
            <a:ext cx="7298000" cy="4506400"/>
          </a:xfrm>
          <a:prstGeom prst="rect">
            <a:avLst/>
          </a:prstGeom>
          <a:solidFill>
            <a:srgbClr val="A4C2F4"/>
          </a:solidFill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</a:pPr>
            <a:r>
              <a:rPr b="0" i="0" lang="en-CA" sz="1867" u="sng" cap="none" strike="noStrike"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Learnings</a:t>
            </a:r>
            <a:r>
              <a:rPr b="0" i="0" lang="en-CA" sz="1867" u="none" cap="none" strike="noStrike"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:</a:t>
            </a:r>
            <a:endParaRPr b="0" i="0" sz="1867" u="none" cap="none" strike="noStrike"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281" name="Google Shape;281;p81"/>
          <p:cNvSpPr txBox="1"/>
          <p:nvPr/>
        </p:nvSpPr>
        <p:spPr>
          <a:xfrm>
            <a:off x="7297833" y="583200"/>
            <a:ext cx="1110800" cy="16504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</a:pPr>
            <a:r>
              <a:rPr b="0" i="0" lang="en-CA" sz="1333" u="none" cap="none" strike="noStrike"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Hypothesis Validated</a:t>
            </a:r>
            <a:endParaRPr b="0" i="0" sz="1333" u="none" cap="none" strike="noStrike"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282" name="Google Shape;282;p81"/>
          <p:cNvSpPr txBox="1"/>
          <p:nvPr/>
        </p:nvSpPr>
        <p:spPr>
          <a:xfrm>
            <a:off x="8408633" y="583200"/>
            <a:ext cx="1110800" cy="16504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</a:pPr>
            <a:r>
              <a:rPr b="0" i="0" lang="en-CA" sz="1333" u="none" cap="none" strike="noStrike"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Hypothesis Invalidated</a:t>
            </a:r>
            <a:endParaRPr b="0" i="0" sz="1333" u="none" cap="none" strike="noStrike"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283" name="Google Shape;283;p81"/>
          <p:cNvSpPr txBox="1"/>
          <p:nvPr/>
        </p:nvSpPr>
        <p:spPr>
          <a:xfrm>
            <a:off x="9519433" y="583200"/>
            <a:ext cx="2673600" cy="16504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</a:pPr>
            <a:r>
              <a:rPr b="0" i="0" lang="en-CA" sz="1333" u="none" cap="none" strike="noStrike"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Notes:</a:t>
            </a:r>
            <a:endParaRPr b="0" i="0" sz="1333" u="none" cap="none" strike="noStrike"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284" name="Google Shape;284;p81"/>
          <p:cNvSpPr txBox="1"/>
          <p:nvPr/>
        </p:nvSpPr>
        <p:spPr>
          <a:xfrm>
            <a:off x="8408633" y="-8533"/>
            <a:ext cx="3783200" cy="533504"/>
          </a:xfrm>
          <a:prstGeom prst="rect">
            <a:avLst/>
          </a:prstGeom>
          <a:solidFill>
            <a:srgbClr val="B7B7B7"/>
          </a:solidFill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</a:pPr>
            <a:r>
              <a:rPr b="0" i="0" lang="en-CA" sz="1867" u="none" cap="none" strike="noStrike"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Industry : </a:t>
            </a:r>
            <a:endParaRPr b="0" i="0" sz="1867" u="none" cap="none" strike="noStrike"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1">
  <p:cSld name="Title and Content 1"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82"/>
          <p:cNvSpPr txBox="1"/>
          <p:nvPr>
            <p:ph type="title"/>
          </p:nvPr>
        </p:nvSpPr>
        <p:spPr>
          <a:xfrm>
            <a:off x="838200" y="365125"/>
            <a:ext cx="10515600" cy="132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7" name="Google Shape;287;p82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88" name="Google Shape;288;p82"/>
          <p:cNvSpPr txBox="1"/>
          <p:nvPr>
            <p:ph idx="10" type="dt"/>
          </p:nvPr>
        </p:nvSpPr>
        <p:spPr>
          <a:xfrm>
            <a:off x="8382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89" name="Google Shape;289;p82"/>
          <p:cNvSpPr txBox="1"/>
          <p:nvPr>
            <p:ph idx="11" type="ftr"/>
          </p:nvPr>
        </p:nvSpPr>
        <p:spPr>
          <a:xfrm>
            <a:off x="4038600" y="6356351"/>
            <a:ext cx="41148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90" name="Google Shape;290;p82"/>
          <p:cNvSpPr txBox="1"/>
          <p:nvPr>
            <p:ph idx="12" type="sldNum"/>
          </p:nvPr>
        </p:nvSpPr>
        <p:spPr>
          <a:xfrm>
            <a:off x="86106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  <p:pic>
        <p:nvPicPr>
          <p:cNvPr descr="A drawing of a face&#10;&#10;Description automatically generated" id="291" name="Google Shape;291;p8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794523" y="608311"/>
            <a:ext cx="1834771" cy="6349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">
  <p:cSld name="Content">
    <p:bg>
      <p:bgPr>
        <a:solidFill>
          <a:srgbClr val="F5F8FA"/>
        </a:solidFill>
      </p:bgPr>
    </p:bg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41"/>
          <p:cNvSpPr txBox="1"/>
          <p:nvPr>
            <p:ph idx="1" type="body"/>
          </p:nvPr>
        </p:nvSpPr>
        <p:spPr>
          <a:xfrm>
            <a:off x="1007390" y="2076773"/>
            <a:ext cx="9237000" cy="34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83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sz="2200">
                <a:latin typeface="Arial"/>
                <a:ea typeface="Arial"/>
                <a:cs typeface="Arial"/>
                <a:sym typeface="Arial"/>
              </a:defRPr>
            </a:lvl1pPr>
            <a:lvl2pPr indent="-355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0" name="Google Shape;300;p41"/>
          <p:cNvSpPr txBox="1"/>
          <p:nvPr>
            <p:ph idx="2" type="subTitle"/>
          </p:nvPr>
        </p:nvSpPr>
        <p:spPr>
          <a:xfrm>
            <a:off x="1007390" y="1083370"/>
            <a:ext cx="92370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3B38A"/>
              </a:buClr>
              <a:buSzPts val="3600"/>
              <a:buNone/>
              <a:defRPr b="1" sz="3600">
                <a:solidFill>
                  <a:srgbClr val="C3B38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cxnSp>
        <p:nvCxnSpPr>
          <p:cNvPr id="301" name="Google Shape;301;p41"/>
          <p:cNvCxnSpPr/>
          <p:nvPr/>
        </p:nvCxnSpPr>
        <p:spPr>
          <a:xfrm rot="10800000">
            <a:off x="1290300" y="6642754"/>
            <a:ext cx="10901700" cy="0"/>
          </a:xfrm>
          <a:prstGeom prst="straightConnector1">
            <a:avLst/>
          </a:prstGeom>
          <a:noFill/>
          <a:ln cap="flat" cmpd="sng" w="12700">
            <a:solidFill>
              <a:srgbClr val="3E3E3E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Icon&#10;&#10;Description automatically generated" id="302" name="Google Shape;302;p4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42736" y="6291266"/>
            <a:ext cx="920907" cy="3757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bg>
      <p:bgPr>
        <a:solidFill>
          <a:srgbClr val="F5F8FA"/>
        </a:solidFill>
      </p:bgPr>
    </p:bg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picture containing text&#10;&#10;Description automatically generated" id="304" name="Google Shape;304;p4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37428" y="1735734"/>
            <a:ext cx="11722136" cy="3915194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49"/>
          <p:cNvSpPr txBox="1"/>
          <p:nvPr>
            <p:ph idx="1" type="body"/>
          </p:nvPr>
        </p:nvSpPr>
        <p:spPr>
          <a:xfrm>
            <a:off x="3505199" y="2294503"/>
            <a:ext cx="5181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6" name="Google Shape;306;p49"/>
          <p:cNvSpPr txBox="1"/>
          <p:nvPr>
            <p:ph idx="2" type="subTitle"/>
          </p:nvPr>
        </p:nvSpPr>
        <p:spPr>
          <a:xfrm>
            <a:off x="3505199" y="1404129"/>
            <a:ext cx="5181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b="1" sz="3600"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307" name="Google Shape;307;p49"/>
          <p:cNvSpPr txBox="1"/>
          <p:nvPr>
            <p:ph idx="3" type="body"/>
          </p:nvPr>
        </p:nvSpPr>
        <p:spPr>
          <a:xfrm>
            <a:off x="3505199" y="3164668"/>
            <a:ext cx="5181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8" name="Google Shape;308;p49"/>
          <p:cNvSpPr txBox="1"/>
          <p:nvPr>
            <p:ph idx="4" type="body"/>
          </p:nvPr>
        </p:nvSpPr>
        <p:spPr>
          <a:xfrm>
            <a:off x="3505199" y="4028596"/>
            <a:ext cx="5181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9" name="Google Shape;309;p49"/>
          <p:cNvSpPr txBox="1"/>
          <p:nvPr>
            <p:ph idx="5" type="body"/>
          </p:nvPr>
        </p:nvSpPr>
        <p:spPr>
          <a:xfrm>
            <a:off x="3505199" y="4892524"/>
            <a:ext cx="5181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descr="Icon&#10;&#10;Description automatically generated" id="310" name="Google Shape;310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2736" y="6291266"/>
            <a:ext cx="920907" cy="3757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bg>
      <p:bgPr>
        <a:solidFill>
          <a:srgbClr val="3E3E3E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picture containing text&#10;&#10;Description automatically generated" id="312" name="Google Shape;312;p5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375837" y="1334357"/>
            <a:ext cx="12567836" cy="4189279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50"/>
          <p:cNvSpPr txBox="1"/>
          <p:nvPr>
            <p:ph idx="1" type="subTitle"/>
          </p:nvPr>
        </p:nvSpPr>
        <p:spPr>
          <a:xfrm>
            <a:off x="2790124" y="3162020"/>
            <a:ext cx="6611700" cy="5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pic>
        <p:nvPicPr>
          <p:cNvPr descr="A black and white logo&#10;&#10;Description automatically generated with low confidence" id="314" name="Google Shape;314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3057" y="6291264"/>
            <a:ext cx="899319" cy="3669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pact Statement Slide_3">
  <p:cSld name="Impact Statement Slide_3">
    <p:bg>
      <p:bgPr>
        <a:solidFill>
          <a:srgbClr val="F5F8FA"/>
        </a:solidFill>
      </p:bgPr>
    </p:bg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51"/>
          <p:cNvSpPr txBox="1"/>
          <p:nvPr>
            <p:ph idx="1" type="subTitle"/>
          </p:nvPr>
        </p:nvSpPr>
        <p:spPr>
          <a:xfrm>
            <a:off x="6405967" y="2383048"/>
            <a:ext cx="4928100" cy="21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E3E3E"/>
              </a:buClr>
              <a:buSzPts val="3600"/>
              <a:buNone/>
              <a:defRPr b="1" sz="3600">
                <a:solidFill>
                  <a:srgbClr val="3E3E3E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pic>
        <p:nvPicPr>
          <p:cNvPr id="317" name="Google Shape;317;p5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10800000">
            <a:off x="-2083123" y="2369396"/>
            <a:ext cx="11460803" cy="114608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lumns">
  <p:cSld name="Columns">
    <p:bg>
      <p:bgPr>
        <a:solidFill>
          <a:srgbClr val="F5F8FA"/>
        </a:solidFill>
      </p:bgPr>
    </p:bg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52"/>
          <p:cNvSpPr txBox="1"/>
          <p:nvPr>
            <p:ph idx="1" type="body"/>
          </p:nvPr>
        </p:nvSpPr>
        <p:spPr>
          <a:xfrm>
            <a:off x="1007390" y="2076773"/>
            <a:ext cx="4432500" cy="34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83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sz="2200">
                <a:latin typeface="Arial"/>
                <a:ea typeface="Arial"/>
                <a:cs typeface="Arial"/>
                <a:sym typeface="Arial"/>
              </a:defRPr>
            </a:lvl1pPr>
            <a:lvl2pPr indent="-3683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sz="2200"/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0" name="Google Shape;320;p52"/>
          <p:cNvSpPr txBox="1"/>
          <p:nvPr>
            <p:ph idx="2" type="subTitle"/>
          </p:nvPr>
        </p:nvSpPr>
        <p:spPr>
          <a:xfrm>
            <a:off x="1007390" y="1083370"/>
            <a:ext cx="92370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3B38A"/>
              </a:buClr>
              <a:buSzPts val="3600"/>
              <a:buNone/>
              <a:defRPr b="1" sz="3600">
                <a:solidFill>
                  <a:srgbClr val="C3B38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cxnSp>
        <p:nvCxnSpPr>
          <p:cNvPr id="321" name="Google Shape;321;p52"/>
          <p:cNvCxnSpPr/>
          <p:nvPr/>
        </p:nvCxnSpPr>
        <p:spPr>
          <a:xfrm rot="10800000">
            <a:off x="1290300" y="6642754"/>
            <a:ext cx="10901700" cy="0"/>
          </a:xfrm>
          <a:prstGeom prst="straightConnector1">
            <a:avLst/>
          </a:prstGeom>
          <a:noFill/>
          <a:ln cap="flat" cmpd="sng" w="12700">
            <a:solidFill>
              <a:srgbClr val="3E3E3E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22" name="Google Shape;322;p52"/>
          <p:cNvSpPr txBox="1"/>
          <p:nvPr>
            <p:ph idx="3" type="body"/>
          </p:nvPr>
        </p:nvSpPr>
        <p:spPr>
          <a:xfrm>
            <a:off x="5811865" y="2076773"/>
            <a:ext cx="4432500" cy="34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83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sz="2200">
                <a:latin typeface="Arial"/>
                <a:ea typeface="Arial"/>
                <a:cs typeface="Arial"/>
                <a:sym typeface="Arial"/>
              </a:defRPr>
            </a:lvl1pPr>
            <a:lvl2pPr indent="-3683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sz="2200"/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descr="Icon&#10;&#10;Description automatically generated" id="323" name="Google Shape;323;p5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42736" y="6291266"/>
            <a:ext cx="920907" cy="3757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bg>
      <p:bgPr>
        <a:solidFill>
          <a:srgbClr val="3E3E3E"/>
        </a:solidFill>
      </p:bgPr>
    </p:bg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5" name="Google Shape;325;p53"/>
          <p:cNvCxnSpPr/>
          <p:nvPr/>
        </p:nvCxnSpPr>
        <p:spPr>
          <a:xfrm rot="10800000">
            <a:off x="530883" y="5904855"/>
            <a:ext cx="4196100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26" name="Google Shape;326;p53"/>
          <p:cNvSpPr txBox="1"/>
          <p:nvPr>
            <p:ph idx="1" type="subTitle"/>
          </p:nvPr>
        </p:nvSpPr>
        <p:spPr>
          <a:xfrm>
            <a:off x="546314" y="3721641"/>
            <a:ext cx="6197700" cy="7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0" sz="2400"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327" name="Google Shape;327;p53"/>
          <p:cNvSpPr txBox="1"/>
          <p:nvPr>
            <p:ph idx="2" type="body"/>
          </p:nvPr>
        </p:nvSpPr>
        <p:spPr>
          <a:xfrm>
            <a:off x="10380125" y="5455402"/>
            <a:ext cx="1571700" cy="3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descr="A picture containing text, clipart&#10;&#10;Description automatically generated" id="328" name="Google Shape;328;p5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46314" y="2093184"/>
            <a:ext cx="2649775" cy="10431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, icon&#10;&#10;Description automatically generated" id="329" name="Google Shape;329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75210" y="-2075233"/>
            <a:ext cx="9961288" cy="9961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Agenda">
  <p:cSld name="2_Agenda">
    <p:bg>
      <p:bgPr>
        <a:solidFill>
          <a:srgbClr val="F5F8FA"/>
        </a:solidFill>
      </p:bgPr>
    </p:bg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1" name="Google Shape;331;p5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4334480" y="-5119351"/>
            <a:ext cx="11171655" cy="11171655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54"/>
          <p:cNvSpPr txBox="1"/>
          <p:nvPr>
            <p:ph idx="1" type="body"/>
          </p:nvPr>
        </p:nvSpPr>
        <p:spPr>
          <a:xfrm>
            <a:off x="6096000" y="1959238"/>
            <a:ext cx="5181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3" name="Google Shape;333;p54"/>
          <p:cNvSpPr txBox="1"/>
          <p:nvPr>
            <p:ph idx="2" type="subTitle"/>
          </p:nvPr>
        </p:nvSpPr>
        <p:spPr>
          <a:xfrm>
            <a:off x="242736" y="3164668"/>
            <a:ext cx="5181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b="1" sz="3600"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334" name="Google Shape;334;p54"/>
          <p:cNvSpPr txBox="1"/>
          <p:nvPr>
            <p:ph idx="3" type="body"/>
          </p:nvPr>
        </p:nvSpPr>
        <p:spPr>
          <a:xfrm>
            <a:off x="6096000" y="2829403"/>
            <a:ext cx="5181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5" name="Google Shape;335;p54"/>
          <p:cNvSpPr txBox="1"/>
          <p:nvPr>
            <p:ph idx="4" type="body"/>
          </p:nvPr>
        </p:nvSpPr>
        <p:spPr>
          <a:xfrm>
            <a:off x="6096000" y="3693331"/>
            <a:ext cx="5181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6" name="Google Shape;336;p54"/>
          <p:cNvSpPr txBox="1"/>
          <p:nvPr>
            <p:ph idx="5" type="body"/>
          </p:nvPr>
        </p:nvSpPr>
        <p:spPr>
          <a:xfrm>
            <a:off x="6096000" y="4557259"/>
            <a:ext cx="5181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descr="Icon&#10;&#10;Description automatically generated" id="337" name="Google Shape;337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2736" y="6291266"/>
            <a:ext cx="920907" cy="3757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 type="title">
  <p:cSld name="TITLE"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55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0" name="Google Shape;340;p55"/>
          <p:cNvSpPr txBox="1"/>
          <p:nvPr>
            <p:ph idx="1" type="subTitle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341" name="Google Shape;341;p55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2" name="Google Shape;342;p55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3" name="Google Shape;343;p5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0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slideLayout" Target="../slideLayouts/slideLayout11.xml"/><Relationship Id="rId3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3.xml"/><Relationship Id="rId10" Type="http://schemas.openxmlformats.org/officeDocument/2006/relationships/theme" Target="../theme/theme6.xml"/><Relationship Id="rId9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6.xml"/><Relationship Id="rId8" Type="http://schemas.openxmlformats.org/officeDocument/2006/relationships/slideLayout" Target="../slideLayouts/slideLayout17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28.xml"/><Relationship Id="rId13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19.xml"/><Relationship Id="rId2" Type="http://schemas.openxmlformats.org/officeDocument/2006/relationships/slideLayout" Target="../slideLayouts/slideLayout20.xml"/><Relationship Id="rId3" Type="http://schemas.openxmlformats.org/officeDocument/2006/relationships/slideLayout" Target="../slideLayouts/slideLayout21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Relationship Id="rId15" Type="http://schemas.openxmlformats.org/officeDocument/2006/relationships/theme" Target="../theme/theme4.xml"/><Relationship Id="rId14" Type="http://schemas.openxmlformats.org/officeDocument/2006/relationships/slideLayout" Target="../slideLayouts/slideLayout32.xml"/><Relationship Id="rId5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4.xml"/><Relationship Id="rId7" Type="http://schemas.openxmlformats.org/officeDocument/2006/relationships/slideLayout" Target="../slideLayouts/slideLayout25.xml"/><Relationship Id="rId8" Type="http://schemas.openxmlformats.org/officeDocument/2006/relationships/slideLayout" Target="../slideLayouts/slideLayout26.xml"/></Relationships>
</file>

<file path=ppt/slideMasters/_rels/slideMaster4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1.xml"/><Relationship Id="rId13" Type="http://schemas.openxmlformats.org/officeDocument/2006/relationships/slideLayout" Target="../slideLayouts/slideLayout44.xml"/><Relationship Id="rId12" Type="http://schemas.openxmlformats.org/officeDocument/2006/relationships/slideLayout" Target="../slideLayouts/slideLayout43.xml"/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33.xml"/><Relationship Id="rId3" Type="http://schemas.openxmlformats.org/officeDocument/2006/relationships/slideLayout" Target="../slideLayouts/slideLayout34.xml"/><Relationship Id="rId4" Type="http://schemas.openxmlformats.org/officeDocument/2006/relationships/slideLayout" Target="../slideLayouts/slideLayout35.xml"/><Relationship Id="rId9" Type="http://schemas.openxmlformats.org/officeDocument/2006/relationships/slideLayout" Target="../slideLayouts/slideLayout40.xml"/><Relationship Id="rId15" Type="http://schemas.openxmlformats.org/officeDocument/2006/relationships/slideLayout" Target="../slideLayouts/slideLayout46.xml"/><Relationship Id="rId14" Type="http://schemas.openxmlformats.org/officeDocument/2006/relationships/slideLayout" Target="../slideLayouts/slideLayout45.xml"/><Relationship Id="rId17" Type="http://schemas.openxmlformats.org/officeDocument/2006/relationships/slideLayout" Target="../slideLayouts/slideLayout48.xml"/><Relationship Id="rId16" Type="http://schemas.openxmlformats.org/officeDocument/2006/relationships/slideLayout" Target="../slideLayouts/slideLayout47.xml"/><Relationship Id="rId5" Type="http://schemas.openxmlformats.org/officeDocument/2006/relationships/slideLayout" Target="../slideLayouts/slideLayout36.xml"/><Relationship Id="rId6" Type="http://schemas.openxmlformats.org/officeDocument/2006/relationships/slideLayout" Target="../slideLayouts/slideLayout37.xml"/><Relationship Id="rId18" Type="http://schemas.openxmlformats.org/officeDocument/2006/relationships/theme" Target="../theme/theme3.xml"/><Relationship Id="rId7" Type="http://schemas.openxmlformats.org/officeDocument/2006/relationships/slideLayout" Target="../slideLayouts/slideLayout38.xml"/><Relationship Id="rId8" Type="http://schemas.openxmlformats.org/officeDocument/2006/relationships/slideLayout" Target="../slideLayouts/slideLayout39.xml"/></Relationships>
</file>

<file path=ppt/slideMasters/_rels/slideMaster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slideLayout" Target="../slideLayouts/slideLayout50.xml"/><Relationship Id="rId3" Type="http://schemas.openxmlformats.org/officeDocument/2006/relationships/slideLayout" Target="../slideLayouts/slideLayout51.xml"/><Relationship Id="rId4" Type="http://schemas.openxmlformats.org/officeDocument/2006/relationships/slideLayout" Target="../slideLayouts/slideLayout52.xml"/><Relationship Id="rId9" Type="http://schemas.openxmlformats.org/officeDocument/2006/relationships/theme" Target="../theme/theme1.xml"/><Relationship Id="rId5" Type="http://schemas.openxmlformats.org/officeDocument/2006/relationships/slideLayout" Target="../slideLayouts/slideLayout53.xml"/><Relationship Id="rId6" Type="http://schemas.openxmlformats.org/officeDocument/2006/relationships/slideLayout" Target="../slideLayouts/slideLayout54.xml"/><Relationship Id="rId7" Type="http://schemas.openxmlformats.org/officeDocument/2006/relationships/slideLayout" Target="../slideLayouts/slideLayout55.xml"/><Relationship Id="rId8" Type="http://schemas.openxmlformats.org/officeDocument/2006/relationships/slideLayout" Target="../slideLayouts/slideLayout5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30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30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30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3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ransition spd="slow">
    <p:fade thruBlk="1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2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5" name="Google Shape;65;p32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6" name="Google Shape;66;p32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7" name="Google Shape;67;p32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8" name="Google Shape;68;p3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</p:sldLayoutIdLst>
  <p:transition spd="slow">
    <p:fade thruBlk="1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5"/>
          <p:cNvSpPr txBox="1"/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7" name="Google Shape;117;p35"/>
          <p:cNvSpPr txBox="1"/>
          <p:nvPr>
            <p:ph idx="1" type="body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867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867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867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867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867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867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867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867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  <p:sldLayoutId id="2147483680" r:id="rId12"/>
    <p:sldLayoutId id="2147483681" r:id="rId13"/>
    <p:sldLayoutId id="2147483682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8"/>
          <p:cNvSpPr txBox="1"/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8" name="Google Shape;188;p38"/>
          <p:cNvSpPr txBox="1"/>
          <p:nvPr>
            <p:ph idx="1" type="body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867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867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867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867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867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867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867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867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189" name="Google Shape;189;p38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10828434" y="6201301"/>
            <a:ext cx="902533" cy="40743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0" name="Google Shape;190;p38"/>
          <p:cNvCxnSpPr/>
          <p:nvPr/>
        </p:nvCxnSpPr>
        <p:spPr>
          <a:xfrm flipH="1" rot="10800000">
            <a:off x="521367" y="6091867"/>
            <a:ext cx="11209600" cy="10000"/>
          </a:xfrm>
          <a:prstGeom prst="straightConnector1">
            <a:avLst/>
          </a:prstGeom>
          <a:noFill/>
          <a:ln cap="flat" cmpd="sng" w="9525">
            <a:solidFill>
              <a:srgbClr val="00599C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84" r:id="rId2"/>
    <p:sldLayoutId id="2147483685" r:id="rId3"/>
    <p:sldLayoutId id="2147483686" r:id="rId4"/>
    <p:sldLayoutId id="2147483687" r:id="rId5"/>
    <p:sldLayoutId id="2147483688" r:id="rId6"/>
    <p:sldLayoutId id="2147483689" r:id="rId7"/>
    <p:sldLayoutId id="2147483690" r:id="rId8"/>
    <p:sldLayoutId id="2147483691" r:id="rId9"/>
    <p:sldLayoutId id="2147483692" r:id="rId10"/>
    <p:sldLayoutId id="2147483693" r:id="rId11"/>
    <p:sldLayoutId id="2147483694" r:id="rId12"/>
    <p:sldLayoutId id="2147483695" r:id="rId13"/>
    <p:sldLayoutId id="2147483696" r:id="rId14"/>
    <p:sldLayoutId id="2147483697" r:id="rId15"/>
    <p:sldLayoutId id="2147483698" r:id="rId16"/>
    <p:sldLayoutId id="2147483699" r:id="rId1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4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94" name="Google Shape;294;p40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5" name="Google Shape;295;p40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6" name="Google Shape;296;p40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7" name="Google Shape;297;p4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</p:sldLayoutIdLst>
  <p:transition spd="slow">
    <p:fade thruBlk="1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7"/>
          <p:cNvSpPr txBox="1"/>
          <p:nvPr>
            <p:ph idx="1" type="body"/>
          </p:nvPr>
        </p:nvSpPr>
        <p:spPr>
          <a:xfrm>
            <a:off x="1007390" y="2076773"/>
            <a:ext cx="9237000" cy="34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88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</a:pPr>
            <a:r>
              <a:rPr lang="en-CA"/>
              <a:t>Include the following on your cover slide:</a:t>
            </a:r>
            <a:endParaRPr/>
          </a:p>
          <a:p>
            <a:pPr indent="-3683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n-CA"/>
              <a:t>Name of your startup/team</a:t>
            </a:r>
            <a:endParaRPr/>
          </a:p>
          <a:p>
            <a:pPr indent="-3683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n-CA"/>
              <a:t>Team members (names, titles, roles, etc.)</a:t>
            </a:r>
            <a:endParaRPr/>
          </a:p>
          <a:p>
            <a:pPr indent="-3683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n-CA"/>
              <a:t>Photos of team members or technology are allowed </a:t>
            </a:r>
            <a:endParaRPr/>
          </a:p>
        </p:txBody>
      </p:sp>
      <p:sp>
        <p:nvSpPr>
          <p:cNvPr id="349" name="Google Shape;349;p7"/>
          <p:cNvSpPr txBox="1"/>
          <p:nvPr>
            <p:ph idx="2" type="subTitle"/>
          </p:nvPr>
        </p:nvSpPr>
        <p:spPr>
          <a:xfrm>
            <a:off x="1007390" y="1083370"/>
            <a:ext cx="92370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3B38A"/>
              </a:buClr>
              <a:buSzPts val="3600"/>
              <a:buNone/>
            </a:pPr>
            <a:r>
              <a:rPr lang="en-CA"/>
              <a:t>COVER SLIDE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11"/>
          <p:cNvSpPr txBox="1"/>
          <p:nvPr>
            <p:ph idx="1" type="body"/>
          </p:nvPr>
        </p:nvSpPr>
        <p:spPr>
          <a:xfrm>
            <a:off x="1007390" y="2076773"/>
            <a:ext cx="9237000" cy="34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683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n-CA"/>
              <a:t>Provide a succinct value proposition statement for your product/service that describes (100 words max.):</a:t>
            </a:r>
            <a:endParaRPr/>
          </a:p>
          <a:p>
            <a:pPr indent="-3556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</a:pPr>
            <a:r>
              <a:rPr lang="en-CA">
                <a:latin typeface="Arial"/>
                <a:ea typeface="Arial"/>
                <a:cs typeface="Arial"/>
                <a:sym typeface="Arial"/>
              </a:rPr>
              <a:t>your target customer </a:t>
            </a:r>
            <a:endParaRPr/>
          </a:p>
          <a:p>
            <a:pPr indent="-3556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</a:pPr>
            <a:r>
              <a:rPr lang="en-CA">
                <a:latin typeface="Arial"/>
                <a:ea typeface="Arial"/>
                <a:cs typeface="Arial"/>
                <a:sym typeface="Arial"/>
              </a:rPr>
              <a:t>their problems</a:t>
            </a:r>
            <a:endParaRPr/>
          </a:p>
          <a:p>
            <a:pPr indent="-3556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</a:pPr>
            <a:r>
              <a:rPr lang="en-CA">
                <a:latin typeface="Arial"/>
                <a:ea typeface="Arial"/>
                <a:cs typeface="Arial"/>
                <a:sym typeface="Arial"/>
              </a:rPr>
              <a:t>your product/service </a:t>
            </a:r>
            <a:endParaRPr/>
          </a:p>
          <a:p>
            <a:pPr indent="-3556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</a:pPr>
            <a:r>
              <a:rPr lang="en-CA">
                <a:latin typeface="Arial"/>
                <a:ea typeface="Arial"/>
                <a:cs typeface="Arial"/>
                <a:sym typeface="Arial"/>
              </a:rPr>
              <a:t>How it will benefit them</a:t>
            </a:r>
            <a:endParaRPr/>
          </a:p>
          <a:p>
            <a:pPr indent="-3683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1" lang="en-CA">
                <a:solidFill>
                  <a:srgbClr val="C2B38A"/>
                </a:solidFill>
              </a:rPr>
              <a:t>Highlight </a:t>
            </a:r>
            <a:r>
              <a:rPr lang="en-CA"/>
              <a:t>how your value proposition statement has changed based on the results of the last sprint</a:t>
            </a:r>
            <a:endParaRPr/>
          </a:p>
        </p:txBody>
      </p:sp>
      <p:sp>
        <p:nvSpPr>
          <p:cNvPr id="355" name="Google Shape;355;p11"/>
          <p:cNvSpPr txBox="1"/>
          <p:nvPr>
            <p:ph idx="2" type="subTitle"/>
          </p:nvPr>
        </p:nvSpPr>
        <p:spPr>
          <a:xfrm>
            <a:off x="1007390" y="1083370"/>
            <a:ext cx="92370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3B38A"/>
              </a:buClr>
              <a:buSzPts val="3600"/>
              <a:buNone/>
            </a:pPr>
            <a:r>
              <a:rPr lang="en-CA"/>
              <a:t>VALUE PROPOSITION STATEMENT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26"/>
          <p:cNvSpPr txBox="1"/>
          <p:nvPr>
            <p:ph idx="1" type="body"/>
          </p:nvPr>
        </p:nvSpPr>
        <p:spPr>
          <a:xfrm>
            <a:off x="1007390" y="1547772"/>
            <a:ext cx="4258230" cy="4148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889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</a:pPr>
            <a:r>
              <a:rPr b="1" lang="en-CA" sz="1800"/>
              <a:t>TAM:</a:t>
            </a:r>
            <a:endParaRPr/>
          </a:p>
          <a:p>
            <a:pPr indent="-3683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D9C865"/>
              </a:buClr>
              <a:buSzPts val="2200"/>
              <a:buChar char="•"/>
            </a:pPr>
            <a:r>
              <a:rPr lang="en-CA" sz="1800"/>
              <a:t>Type here</a:t>
            </a:r>
            <a:endParaRPr/>
          </a:p>
          <a:p>
            <a:pPr indent="0" lvl="0" marL="88900" rtl="0" algn="l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SzPts val="2200"/>
              <a:buNone/>
            </a:pPr>
            <a:r>
              <a:rPr b="1" lang="en-CA" sz="1800"/>
              <a:t>SAM:</a:t>
            </a:r>
            <a:endParaRPr/>
          </a:p>
          <a:p>
            <a:pPr indent="-3683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D9C865"/>
              </a:buClr>
              <a:buSzPts val="2200"/>
              <a:buChar char="•"/>
            </a:pPr>
            <a:r>
              <a:rPr lang="en-CA" sz="1800"/>
              <a:t>Type here</a:t>
            </a:r>
            <a:endParaRPr/>
          </a:p>
          <a:p>
            <a:pPr indent="0" lvl="0" marL="88900" rtl="0" algn="l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SzPts val="2200"/>
              <a:buNone/>
            </a:pPr>
            <a:r>
              <a:rPr b="1" lang="en-CA" sz="1800"/>
              <a:t>Target Market:</a:t>
            </a:r>
            <a:endParaRPr/>
          </a:p>
          <a:p>
            <a:pPr indent="-3683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D9C865"/>
              </a:buClr>
              <a:buSzPts val="2200"/>
              <a:buChar char="•"/>
            </a:pPr>
            <a:r>
              <a:rPr lang="en-CA" sz="1800"/>
              <a:t>Type here</a:t>
            </a:r>
            <a:endParaRPr sz="2000"/>
          </a:p>
          <a:p>
            <a:pPr indent="-228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361" name="Google Shape;361;p26"/>
          <p:cNvSpPr txBox="1"/>
          <p:nvPr>
            <p:ph idx="2" type="subTitle"/>
          </p:nvPr>
        </p:nvSpPr>
        <p:spPr>
          <a:xfrm>
            <a:off x="1007390" y="374238"/>
            <a:ext cx="92370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3B38A"/>
              </a:buClr>
              <a:buSzPts val="3600"/>
              <a:buNone/>
            </a:pPr>
            <a:r>
              <a:rPr lang="en-CA"/>
              <a:t>MARKET SIZE</a:t>
            </a:r>
            <a:endParaRPr/>
          </a:p>
        </p:txBody>
      </p:sp>
      <p:pic>
        <p:nvPicPr>
          <p:cNvPr descr="A diagram of sales address&#10;&#10;Description automatically generated" id="362" name="Google Shape;362;p26"/>
          <p:cNvPicPr preferRelativeResize="0"/>
          <p:nvPr/>
        </p:nvPicPr>
        <p:blipFill rotWithShape="1">
          <a:blip r:embed="rId3">
            <a:alphaModFix/>
          </a:blip>
          <a:srcRect b="8143" l="35670" r="0" t="0"/>
          <a:stretch/>
        </p:blipFill>
        <p:spPr>
          <a:xfrm>
            <a:off x="6201508" y="1789596"/>
            <a:ext cx="4736485" cy="4540868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26"/>
          <p:cNvSpPr txBox="1"/>
          <p:nvPr/>
        </p:nvSpPr>
        <p:spPr>
          <a:xfrm>
            <a:off x="1101012" y="1147663"/>
            <a:ext cx="896271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CA" sz="2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Estimate the size of your market, and the justification for your estimates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8" name="Google Shape;368;p4"/>
          <p:cNvCxnSpPr/>
          <p:nvPr/>
        </p:nvCxnSpPr>
        <p:spPr>
          <a:xfrm>
            <a:off x="6096000" y="858400"/>
            <a:ext cx="0" cy="4562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9" name="Google Shape;369;p4"/>
          <p:cNvSpPr txBox="1"/>
          <p:nvPr>
            <p:ph idx="3" type="body"/>
          </p:nvPr>
        </p:nvSpPr>
        <p:spPr>
          <a:xfrm>
            <a:off x="6528391" y="2076773"/>
            <a:ext cx="5029403" cy="34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88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</a:pPr>
            <a:r>
              <a:rPr lang="en-CA"/>
              <a:t>For Example:</a:t>
            </a:r>
            <a:endParaRPr/>
          </a:p>
          <a:p>
            <a:pPr indent="-3683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n-CA"/>
              <a:t>Tools used for outreach</a:t>
            </a:r>
            <a:endParaRPr/>
          </a:p>
          <a:p>
            <a:pPr indent="-3683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n-CA"/>
              <a:t>Events attended</a:t>
            </a:r>
            <a:endParaRPr/>
          </a:p>
          <a:p>
            <a:pPr indent="-3683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n-CA"/>
              <a:t>Updates to invitation message or interview script</a:t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370" name="Google Shape;370;p4"/>
          <p:cNvSpPr txBox="1"/>
          <p:nvPr>
            <p:ph idx="4294967295" type="ctrTitle"/>
          </p:nvPr>
        </p:nvSpPr>
        <p:spPr>
          <a:xfrm>
            <a:off x="340243" y="582871"/>
            <a:ext cx="5422604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i="0" lang="en-CA" sz="2800" u="none" cap="none" strike="noStrike">
                <a:solidFill>
                  <a:srgbClr val="C2B38A"/>
                </a:solidFill>
                <a:latin typeface="Arial"/>
                <a:ea typeface="Arial"/>
                <a:cs typeface="Arial"/>
                <a:sym typeface="Arial"/>
              </a:rPr>
              <a:t>Objectives for Sprint #1</a:t>
            </a:r>
            <a:endParaRPr b="1" i="0" sz="2800" u="none" cap="none" strike="noStrike">
              <a:solidFill>
                <a:srgbClr val="C2B38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4"/>
          <p:cNvSpPr txBox="1"/>
          <p:nvPr>
            <p:ph idx="4294967295" type="title"/>
          </p:nvPr>
        </p:nvSpPr>
        <p:spPr>
          <a:xfrm>
            <a:off x="6429154" y="577445"/>
            <a:ext cx="5422599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b="1" lang="en-CA" sz="2800">
                <a:solidFill>
                  <a:srgbClr val="C2B38A"/>
                </a:solidFill>
                <a:latin typeface="Arial"/>
                <a:ea typeface="Arial"/>
                <a:cs typeface="Arial"/>
                <a:sym typeface="Arial"/>
              </a:rPr>
              <a:t>What I did to Achieve Them</a:t>
            </a:r>
            <a:endParaRPr b="1" sz="2800">
              <a:solidFill>
                <a:srgbClr val="C2B38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4"/>
          <p:cNvSpPr txBox="1"/>
          <p:nvPr>
            <p:ph idx="1" type="body"/>
          </p:nvPr>
        </p:nvSpPr>
        <p:spPr>
          <a:xfrm>
            <a:off x="1008063" y="2076450"/>
            <a:ext cx="4432300" cy="3425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88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</a:pPr>
            <a:r>
              <a:rPr lang="en-CA"/>
              <a:t>For Example:</a:t>
            </a:r>
            <a:endParaRPr/>
          </a:p>
          <a:p>
            <a:pPr indent="-3683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n-CA"/>
              <a:t>Hypothesis to be tested</a:t>
            </a:r>
            <a:endParaRPr/>
          </a:p>
          <a:p>
            <a:pPr indent="-3683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n-CA"/>
              <a:t>Experiments or key questions</a:t>
            </a:r>
            <a:endParaRPr/>
          </a:p>
          <a:p>
            <a:pPr indent="-3683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n-CA"/>
              <a:t>Outreach plan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5"/>
          <p:cNvSpPr txBox="1"/>
          <p:nvPr>
            <p:ph idx="2" type="subTitle"/>
          </p:nvPr>
        </p:nvSpPr>
        <p:spPr>
          <a:xfrm>
            <a:off x="1007390" y="1083370"/>
            <a:ext cx="92370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3B38A"/>
              </a:buClr>
              <a:buSzPts val="3600"/>
              <a:buNone/>
            </a:pPr>
            <a:r>
              <a:rPr lang="en-CA"/>
              <a:t>NUMBER OF INTERVIEWS</a:t>
            </a:r>
            <a:endParaRPr/>
          </a:p>
        </p:txBody>
      </p:sp>
      <p:graphicFrame>
        <p:nvGraphicFramePr>
          <p:cNvPr id="378" name="Google Shape;378;p5"/>
          <p:cNvGraphicFramePr/>
          <p:nvPr/>
        </p:nvGraphicFramePr>
        <p:xfrm>
          <a:off x="1618149" y="219044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{EB4CD1A3-3C9F-4257-A0C2-04D6E42DDC84}</a:tableStyleId>
              </a:tblPr>
              <a:tblGrid>
                <a:gridCol w="1561475"/>
                <a:gridCol w="1333000"/>
                <a:gridCol w="1209175"/>
                <a:gridCol w="1209175"/>
                <a:gridCol w="1209175"/>
                <a:gridCol w="1209175"/>
                <a:gridCol w="1209175"/>
              </a:tblGrid>
              <a:tr h="1666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t/>
                      </a:r>
                      <a:endParaRPr b="1" sz="13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21900" marB="121900" marR="121900" marL="121900" anchor="ctr"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CA" sz="1300" u="none" cap="none" strike="noStrike">
                          <a:solidFill>
                            <a:srgbClr val="52525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How many people have you contacted?</a:t>
                      </a:r>
                      <a:endParaRPr b="1" sz="1300" u="none" cap="none" strike="noStrike">
                        <a:solidFill>
                          <a:srgbClr val="52525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21900" marB="121900" marR="121900" marL="1219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-CA" sz="1300" u="none" cap="none" strike="noStrike">
                          <a:solidFill>
                            <a:srgbClr val="52525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How many people have answered you?</a:t>
                      </a:r>
                      <a:endParaRPr b="1" sz="1300" u="none" cap="none" strike="noStrike">
                        <a:solidFill>
                          <a:srgbClr val="52525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21900" marB="121900" marR="121900" marL="1219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-CA" sz="1300" u="none" cap="none" strike="noStrike">
                          <a:solidFill>
                            <a:srgbClr val="52525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Calculate your response rate (%)</a:t>
                      </a:r>
                      <a:endParaRPr b="1" sz="1300" u="none" cap="none" strike="noStrike">
                        <a:solidFill>
                          <a:srgbClr val="52525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21900" marB="121900" marR="121900" marL="1219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CA" sz="1300" u="none" cap="none" strike="noStrike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Number of interviews completed</a:t>
                      </a:r>
                      <a:endParaRPr b="1" sz="1300" u="none" cap="none" strike="noStrike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21900" marB="121900" marR="121900" marL="1219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C2B38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-CA" sz="1300" u="none" cap="none" strike="noStrike">
                          <a:solidFill>
                            <a:srgbClr val="59595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Number of interviews scheduled but not yet completed</a:t>
                      </a:r>
                      <a:endParaRPr b="1" sz="1300" u="none" cap="none" strike="noStrike">
                        <a:solidFill>
                          <a:srgbClr val="59595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21900" marB="121900" marR="121900" marL="1219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-CA" sz="1300" u="none" cap="none" strike="noStrike">
                          <a:solidFill>
                            <a:srgbClr val="59595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Number of references obtained</a:t>
                      </a:r>
                      <a:endParaRPr b="1" sz="1300" u="none" cap="none" strike="noStrike">
                        <a:solidFill>
                          <a:srgbClr val="59595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21900" marB="121900" marR="121900" marL="121900" anchor="ctr"/>
                </a:tc>
              </a:tr>
              <a:tr h="1056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-CA" sz="1300" u="none" cap="none" strike="noStrike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New Interviews (since the last sprint)</a:t>
                      </a:r>
                      <a:endParaRPr b="1" sz="25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21900" marB="121900" marR="121900" marL="1219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00"/>
                        <a:buFont typeface="Arial"/>
                        <a:buNone/>
                      </a:pPr>
                      <a:r>
                        <a:t/>
                      </a:r>
                      <a:endParaRPr sz="2700" u="none" cap="none" strike="noStrike"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</a:txBody>
                  <a:tcPr marT="121900" marB="121900" marR="121900" marL="121900" anchor="ctr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00"/>
                        <a:buFont typeface="Arial"/>
                        <a:buNone/>
                      </a:pPr>
                      <a:r>
                        <a:t/>
                      </a:r>
                      <a:endParaRPr sz="2700" u="none" cap="none" strike="noStrike"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</a:txBody>
                  <a:tcPr marT="121900" marB="121900" marR="121900" marL="121900" anchor="ctr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00"/>
                        <a:buFont typeface="Arial"/>
                        <a:buNone/>
                      </a:pPr>
                      <a:r>
                        <a:t/>
                      </a:r>
                      <a:endParaRPr sz="2700" u="none" cap="none" strike="noStrike"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</a:txBody>
                  <a:tcPr marT="121900" marB="121900" marR="121900" marL="121900" anchor="ctr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00"/>
                        <a:buFont typeface="Arial"/>
                        <a:buNone/>
                      </a:pPr>
                      <a:r>
                        <a:t/>
                      </a:r>
                      <a:endParaRPr sz="2700" u="none" cap="none" strike="noStrike">
                        <a:solidFill>
                          <a:schemeClr val="lt1"/>
                        </a:solidFill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</a:txBody>
                  <a:tcPr marT="121900" marB="121900" marR="121900" marL="121900" anchor="ctr">
                    <a:solidFill>
                      <a:srgbClr val="C2B38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00"/>
                        <a:buFont typeface="Arial"/>
                        <a:buNone/>
                      </a:pPr>
                      <a:r>
                        <a:t/>
                      </a:r>
                      <a:endParaRPr sz="2700" u="none" cap="none" strike="noStrike"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</a:txBody>
                  <a:tcPr marT="121900" marB="121900" marR="121900" marL="1219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00"/>
                        <a:buFont typeface="Arial"/>
                        <a:buNone/>
                      </a:pPr>
                      <a:r>
                        <a:t/>
                      </a:r>
                      <a:endParaRPr sz="2700" u="none" cap="none" strike="noStrike"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</a:txBody>
                  <a:tcPr marT="121900" marB="121900" marR="121900" marL="121900" anchor="ctr"/>
                </a:tc>
              </a:tr>
              <a:tr h="870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-CA" sz="1300" u="none" cap="none" strike="noStrike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TOTAL =</a:t>
                      </a:r>
                      <a:endParaRPr b="1" sz="25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21900" marB="121900" marR="121900" marL="1219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00"/>
                        <a:buFont typeface="Arial"/>
                        <a:buNone/>
                      </a:pPr>
                      <a:r>
                        <a:t/>
                      </a:r>
                      <a:endParaRPr sz="2700" u="none" cap="none" strike="noStrike"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</a:txBody>
                  <a:tcPr marT="121900" marB="121900" marR="121900" marL="1219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00"/>
                        <a:buFont typeface="Arial"/>
                        <a:buNone/>
                      </a:pPr>
                      <a:r>
                        <a:t/>
                      </a:r>
                      <a:endParaRPr sz="2700" u="none" cap="none" strike="noStrike"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</a:txBody>
                  <a:tcPr marT="121900" marB="121900" marR="121900" marL="1219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00"/>
                        <a:buFont typeface="Arial"/>
                        <a:buNone/>
                      </a:pPr>
                      <a:r>
                        <a:t/>
                      </a:r>
                      <a:endParaRPr sz="2700" u="none" cap="none" strike="noStrike"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</a:txBody>
                  <a:tcPr marT="121900" marB="121900" marR="121900" marL="1219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00"/>
                        <a:buFont typeface="Arial"/>
                        <a:buNone/>
                      </a:pPr>
                      <a:r>
                        <a:t/>
                      </a:r>
                      <a:endParaRPr sz="2700" u="none" cap="none" strike="noStrike">
                        <a:solidFill>
                          <a:schemeClr val="lt1"/>
                        </a:solidFill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</a:txBody>
                  <a:tcPr marT="121900" marB="121900" marR="121900" marL="121900" anchor="ctr">
                    <a:solidFill>
                      <a:srgbClr val="C2B38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00"/>
                        <a:buFont typeface="Arial"/>
                        <a:buNone/>
                      </a:pPr>
                      <a:r>
                        <a:t/>
                      </a:r>
                      <a:endParaRPr sz="2700" u="none" cap="none" strike="noStrike"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</a:txBody>
                  <a:tcPr marT="121900" marB="121900" marR="121900" marL="1219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00"/>
                        <a:buFont typeface="Arial"/>
                        <a:buNone/>
                      </a:pPr>
                      <a:r>
                        <a:t/>
                      </a:r>
                      <a:endParaRPr sz="2700" u="none" cap="none" strike="noStrike"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</a:txBody>
                  <a:tcPr marT="121900" marB="121900" marR="121900" marL="12190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8"/>
          <p:cNvSpPr txBox="1"/>
          <p:nvPr>
            <p:ph idx="1" type="body"/>
          </p:nvPr>
        </p:nvSpPr>
        <p:spPr>
          <a:xfrm>
            <a:off x="1007390" y="1978090"/>
            <a:ext cx="10357296" cy="41801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2B38A"/>
              </a:buClr>
              <a:buSzPts val="2200"/>
              <a:buChar char="•"/>
            </a:pPr>
            <a:r>
              <a:rPr lang="en-CA" sz="1800"/>
              <a:t>Complete at least one of the following hypothesis test learning slides for the interviews completed during sprint #1:</a:t>
            </a:r>
            <a:endParaRPr/>
          </a:p>
          <a:p>
            <a:pPr indent="-342900" lvl="1" marL="8001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3B38A"/>
              </a:buClr>
              <a:buSzPts val="2000"/>
              <a:buFont typeface="Courier New"/>
              <a:buChar char="o"/>
            </a:pPr>
            <a:r>
              <a:rPr lang="en-CA" sz="1600"/>
              <a:t>Identify your customer segment (be as precise as possible)</a:t>
            </a:r>
            <a:endParaRPr/>
          </a:p>
          <a:p>
            <a:pPr indent="-342900" lvl="1" marL="8001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3B38A"/>
              </a:buClr>
              <a:buSzPts val="2000"/>
              <a:buFont typeface="Courier New"/>
              <a:buChar char="o"/>
            </a:pPr>
            <a:r>
              <a:rPr lang="en-CA" sz="1600"/>
              <a:t>Identify the application area or industry related to the customer segment</a:t>
            </a:r>
            <a:endParaRPr/>
          </a:p>
          <a:p>
            <a:pPr indent="-342900" lvl="1" marL="8001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3B38A"/>
              </a:buClr>
              <a:buSzPts val="2000"/>
              <a:buFont typeface="Courier New"/>
              <a:buChar char="o"/>
            </a:pPr>
            <a:r>
              <a:rPr lang="en-CA" sz="1600"/>
              <a:t>Provide the number of interviews conducted related specifically to testing this hypothesis</a:t>
            </a:r>
            <a:endParaRPr/>
          </a:p>
          <a:p>
            <a:pPr indent="-342900" lvl="1" marL="8001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3B38A"/>
              </a:buClr>
              <a:buSzPts val="2000"/>
              <a:buFont typeface="Courier New"/>
              <a:buChar char="o"/>
            </a:pPr>
            <a:r>
              <a:rPr lang="en-CA" sz="1600"/>
              <a:t>Describe the hypothesis that was tested</a:t>
            </a:r>
            <a:endParaRPr/>
          </a:p>
          <a:p>
            <a:pPr indent="-342900" lvl="1" marL="8001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3B38A"/>
              </a:buClr>
              <a:buSzPts val="2000"/>
              <a:buFont typeface="Courier New"/>
              <a:buChar char="o"/>
            </a:pPr>
            <a:r>
              <a:rPr lang="en-CA" sz="1600"/>
              <a:t>Indicate using a circle whether the hypothesis was validated</a:t>
            </a:r>
            <a:endParaRPr/>
          </a:p>
          <a:p>
            <a:pPr indent="-342900" lvl="1" marL="8001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3B38A"/>
              </a:buClr>
              <a:buSzPts val="2000"/>
              <a:buFont typeface="Courier New"/>
              <a:buChar char="o"/>
            </a:pPr>
            <a:r>
              <a:rPr lang="en-CA" sz="1600"/>
              <a:t>Discuss your learnings and any insights gained; feel free to add quotes directly from your interviews </a:t>
            </a:r>
            <a:endParaRPr/>
          </a:p>
          <a:p>
            <a:pPr indent="-342900" lvl="1" marL="8001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3B38A"/>
              </a:buClr>
              <a:buSzPts val="2000"/>
              <a:buFont typeface="Courier New"/>
              <a:buChar char="o"/>
            </a:pPr>
            <a:r>
              <a:rPr lang="en-CA" sz="1600"/>
              <a:t>Discuss the impact of what you have learned on your next steps (e.g. new hypotheses, different customer segments, etc.)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3B38A"/>
              </a:buClr>
              <a:buSzPts val="2200"/>
              <a:buChar char="•"/>
            </a:pPr>
            <a:r>
              <a:rPr lang="en-CA" sz="1800"/>
              <a:t>An example is provided of what is expected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3B38A"/>
              </a:buClr>
              <a:buSzPts val="2200"/>
              <a:buChar char="•"/>
            </a:pPr>
            <a:r>
              <a:rPr lang="en-CA" sz="1800"/>
              <a:t>Make a copy of the blank template before completing if you plan to present more than one hypothesis</a:t>
            </a:r>
            <a:endParaRPr/>
          </a:p>
        </p:txBody>
      </p:sp>
      <p:sp>
        <p:nvSpPr>
          <p:cNvPr id="384" name="Google Shape;384;p8"/>
          <p:cNvSpPr txBox="1"/>
          <p:nvPr>
            <p:ph idx="2" type="subTitle"/>
          </p:nvPr>
        </p:nvSpPr>
        <p:spPr>
          <a:xfrm>
            <a:off x="1007389" y="1083370"/>
            <a:ext cx="9974741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3B38A"/>
              </a:buClr>
              <a:buSzPts val="3600"/>
              <a:buNone/>
            </a:pPr>
            <a:r>
              <a:rPr lang="en-CA"/>
              <a:t>INSTRUCTIONS FOR HYPOTHESIS SLIDES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9"/>
          <p:cNvSpPr txBox="1"/>
          <p:nvPr/>
        </p:nvSpPr>
        <p:spPr>
          <a:xfrm>
            <a:off x="7642667" y="1365167"/>
            <a:ext cx="386800" cy="5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CA" sz="1867" u="none" cap="none" strike="noStrike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✓</a:t>
            </a:r>
            <a:endParaRPr b="1" i="0" sz="1867" u="none" cap="none" strike="noStrike"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0" name="Google Shape;390;p9"/>
          <p:cNvSpPr txBox="1"/>
          <p:nvPr/>
        </p:nvSpPr>
        <p:spPr>
          <a:xfrm>
            <a:off x="8791800" y="1365167"/>
            <a:ext cx="386800" cy="5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CA" sz="1867" u="none" cap="none" strike="noStrik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X</a:t>
            </a:r>
            <a:endParaRPr b="1" i="0" sz="1867" u="none" cap="none" strike="noStrike">
              <a:solidFill>
                <a:srgbClr val="FF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1" name="Google Shape;391;p9"/>
          <p:cNvSpPr txBox="1"/>
          <p:nvPr/>
        </p:nvSpPr>
        <p:spPr>
          <a:xfrm>
            <a:off x="7767500" y="0"/>
            <a:ext cx="664800" cy="5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CA" sz="1867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rPr>
              <a:t>2</a:t>
            </a:r>
            <a:endParaRPr b="0" i="0" sz="1867" u="none" cap="none" strike="noStrike">
              <a:solidFill>
                <a:srgbClr val="00000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392" name="Google Shape;392;p9"/>
          <p:cNvSpPr txBox="1"/>
          <p:nvPr/>
        </p:nvSpPr>
        <p:spPr>
          <a:xfrm>
            <a:off x="96733" y="977133"/>
            <a:ext cx="7148400" cy="12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CA" sz="1867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rPr>
              <a:t>We believe that nurses struggle to measure the patient’s vital signs due to the bulkiness of hospital equipment.  </a:t>
            </a:r>
            <a:endParaRPr b="0" i="1" sz="1867" u="none" cap="none" strike="noStrike">
              <a:solidFill>
                <a:srgbClr val="00000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393" name="Google Shape;393;p9"/>
          <p:cNvSpPr txBox="1"/>
          <p:nvPr/>
        </p:nvSpPr>
        <p:spPr>
          <a:xfrm>
            <a:off x="9607700" y="977133"/>
            <a:ext cx="2517200" cy="12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 fontScale="92500" lnSpcReduction="1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CA" sz="1867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rPr>
              <a:t>For this customer segment the </a:t>
            </a:r>
            <a:r>
              <a:rPr b="1" i="1" lang="en-CA" sz="1867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user </a:t>
            </a:r>
            <a:r>
              <a:rPr b="0" i="1" lang="en-CA" sz="1867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rPr>
              <a:t>of my solution is not the same as my </a:t>
            </a:r>
            <a:r>
              <a:rPr b="1" i="1" lang="en-CA" sz="1867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customer</a:t>
            </a:r>
            <a:endParaRPr b="1" i="1" sz="1867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4" name="Google Shape;394;p9"/>
          <p:cNvSpPr txBox="1"/>
          <p:nvPr/>
        </p:nvSpPr>
        <p:spPr>
          <a:xfrm>
            <a:off x="96733" y="2793733"/>
            <a:ext cx="7148400" cy="3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-239993" lvl="0" marL="23999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 Light"/>
              <a:buAutoNum type="arabicPeriod"/>
            </a:pPr>
            <a:r>
              <a:rPr b="0" i="0" lang="en-CA" sz="1867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rPr>
              <a:t>Nurses approx spend the first 10 minutes of their interaction with a patient moving around equipment to be able to take a patient's vital signs.</a:t>
            </a:r>
            <a:endParaRPr b="0" i="0" sz="1867" u="none" cap="none" strike="noStrike">
              <a:solidFill>
                <a:srgbClr val="000000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-239993" lvl="0" marL="23999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 Light"/>
              <a:buAutoNum type="arabicPeriod"/>
            </a:pPr>
            <a:r>
              <a:rPr b="0" i="0" lang="en-CA" sz="1867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rPr>
              <a:t>The equipment currently available only allows the nurse to check the patient’s vital sign directly from the equipment connected to the patient.</a:t>
            </a:r>
            <a:endParaRPr b="0" i="0" sz="1867" u="none" cap="none" strike="noStrike">
              <a:solidFill>
                <a:srgbClr val="000000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-239993" lvl="0" marL="23999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 Light"/>
              <a:buAutoNum type="arabicPeriod"/>
            </a:pPr>
            <a:r>
              <a:rPr b="0" i="0" lang="en-CA" sz="1867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rPr>
              <a:t>One nurse said: </a:t>
            </a:r>
            <a:r>
              <a:rPr b="0" i="1" lang="en-CA" sz="1867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rPr>
              <a:t>“when I come see a patient the first thing I need to do is take their vital signs, usually I need to check the equipment and I make sure I have easy access to the patient. That always takes some time! It is very annoying… and some of the equipment we have here is quite outdated…”</a:t>
            </a:r>
            <a:endParaRPr b="0" i="1" sz="1867" u="none" cap="none" strike="noStrike">
              <a:solidFill>
                <a:srgbClr val="000000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-239993" lvl="0" marL="23999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 Light"/>
              <a:buAutoNum type="arabicPeriod"/>
            </a:pPr>
            <a:r>
              <a:rPr b="0" i="0" lang="en-CA" sz="1867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rPr>
              <a:t>Nurses are not the decision maker for the solution I am building. </a:t>
            </a:r>
            <a:endParaRPr b="0" i="0" sz="1867" u="none" cap="none" strike="noStrike">
              <a:solidFill>
                <a:srgbClr val="00000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395" name="Google Shape;395;p9"/>
          <p:cNvSpPr txBox="1"/>
          <p:nvPr/>
        </p:nvSpPr>
        <p:spPr>
          <a:xfrm>
            <a:off x="7351400" y="2700967"/>
            <a:ext cx="4773600" cy="21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CA" sz="1867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rPr>
              <a:t>I will contact 20 hospital administrators to validate if the problem is important enough for them as it is for the nurses</a:t>
            </a:r>
            <a:endParaRPr b="0" i="0" sz="1867" u="none" cap="none" strike="noStrike">
              <a:solidFill>
                <a:srgbClr val="000000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rgbClr val="000000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rgbClr val="000000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rgbClr val="00000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396" name="Google Shape;396;p9"/>
          <p:cNvSpPr txBox="1"/>
          <p:nvPr/>
        </p:nvSpPr>
        <p:spPr>
          <a:xfrm>
            <a:off x="9607700" y="0"/>
            <a:ext cx="2517200" cy="5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CA" sz="1867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rPr>
              <a:t>Healthcare</a:t>
            </a:r>
            <a:endParaRPr b="0" i="0" sz="1867" u="none" cap="none" strike="noStrike">
              <a:solidFill>
                <a:srgbClr val="00000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397" name="Google Shape;397;p9"/>
          <p:cNvSpPr txBox="1"/>
          <p:nvPr/>
        </p:nvSpPr>
        <p:spPr>
          <a:xfrm>
            <a:off x="2335349" y="65316"/>
            <a:ext cx="3305600" cy="466531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 fontScale="85000" lnSpcReduction="20000"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CA" sz="1867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rPr>
              <a:t>Nurses in medium-size hospitals</a:t>
            </a:r>
            <a:endParaRPr b="0" i="0" sz="1867" u="none" cap="none" strike="noStrike">
              <a:solidFill>
                <a:srgbClr val="00000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398" name="Google Shape;398;p9"/>
          <p:cNvSpPr/>
          <p:nvPr/>
        </p:nvSpPr>
        <p:spPr>
          <a:xfrm>
            <a:off x="7418267" y="1063567"/>
            <a:ext cx="835600" cy="835200"/>
          </a:xfrm>
          <a:prstGeom prst="ellipse">
            <a:avLst/>
          </a:prstGeom>
          <a:noFill/>
          <a:ln cap="flat" cmpd="sng" w="28575">
            <a:solidFill>
              <a:srgbClr val="0059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67" u="none" cap="none" strike="noStrike">
              <a:solidFill>
                <a:srgbClr val="888888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27"/>
          <p:cNvSpPr txBox="1"/>
          <p:nvPr/>
        </p:nvSpPr>
        <p:spPr>
          <a:xfrm>
            <a:off x="7642667" y="1365167"/>
            <a:ext cx="386800" cy="5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CA" sz="1867" u="none" cap="none" strike="noStrike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✓</a:t>
            </a:r>
            <a:endParaRPr b="1" i="0" sz="1867" u="none" cap="none" strike="noStrike"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4" name="Google Shape;404;p27"/>
          <p:cNvSpPr txBox="1"/>
          <p:nvPr/>
        </p:nvSpPr>
        <p:spPr>
          <a:xfrm>
            <a:off x="8791800" y="1365167"/>
            <a:ext cx="386800" cy="5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CA" sz="1867" u="none" cap="none" strike="noStrik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X</a:t>
            </a:r>
            <a:endParaRPr b="1" i="0" sz="1867" u="none" cap="none" strike="noStrike">
              <a:solidFill>
                <a:srgbClr val="FF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5" name="Google Shape;405;p27"/>
          <p:cNvSpPr txBox="1"/>
          <p:nvPr/>
        </p:nvSpPr>
        <p:spPr>
          <a:xfrm>
            <a:off x="7767500" y="0"/>
            <a:ext cx="664800" cy="5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CA" sz="1867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rPr>
              <a:t>n</a:t>
            </a:r>
            <a:endParaRPr b="0" i="0" sz="1867" u="none" cap="none" strike="noStrike">
              <a:solidFill>
                <a:srgbClr val="00000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406" name="Google Shape;406;p27"/>
          <p:cNvSpPr txBox="1"/>
          <p:nvPr/>
        </p:nvSpPr>
        <p:spPr>
          <a:xfrm>
            <a:off x="96733" y="977133"/>
            <a:ext cx="7148400" cy="12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CA" sz="1867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rPr>
              <a:t>Add hypothesis here</a:t>
            </a:r>
            <a:endParaRPr b="0" i="1" sz="1867" u="none" cap="none" strike="noStrike">
              <a:solidFill>
                <a:srgbClr val="000000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rgbClr val="00000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407" name="Google Shape;407;p27"/>
          <p:cNvSpPr txBox="1"/>
          <p:nvPr/>
        </p:nvSpPr>
        <p:spPr>
          <a:xfrm>
            <a:off x="9607700" y="977133"/>
            <a:ext cx="2517200" cy="12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CA" sz="1867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rPr>
              <a:t>Type here</a:t>
            </a:r>
            <a:endParaRPr b="0" i="0" sz="1867" u="none" cap="none" strike="noStrike">
              <a:solidFill>
                <a:srgbClr val="00000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408" name="Google Shape;408;p27"/>
          <p:cNvSpPr txBox="1"/>
          <p:nvPr/>
        </p:nvSpPr>
        <p:spPr>
          <a:xfrm>
            <a:off x="96733" y="2793733"/>
            <a:ext cx="7148400" cy="38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-239993" lvl="0" marL="23999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 Light"/>
              <a:buAutoNum type="arabicPeriod"/>
            </a:pPr>
            <a:r>
              <a:rPr b="0" i="0" lang="en-CA" sz="1867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rPr>
              <a:t>…</a:t>
            </a:r>
            <a:endParaRPr b="0" i="0" sz="1867" u="none" cap="none" strike="noStrike">
              <a:solidFill>
                <a:srgbClr val="000000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-239993" lvl="0" marL="23999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 Light"/>
              <a:buAutoNum type="arabicPeriod"/>
            </a:pPr>
            <a:r>
              <a:rPr b="0" i="0" lang="en-CA" sz="1867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rPr>
              <a:t>…</a:t>
            </a:r>
            <a:endParaRPr b="0" i="0" sz="1867" u="none" cap="none" strike="noStrike">
              <a:solidFill>
                <a:srgbClr val="000000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-239993" lvl="0" marL="23999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 Light"/>
              <a:buAutoNum type="arabicPeriod"/>
            </a:pPr>
            <a:r>
              <a:rPr b="0" i="0" lang="en-CA" sz="1867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rPr>
              <a:t>…</a:t>
            </a:r>
            <a:endParaRPr b="0" i="0" sz="1867" u="none" cap="none" strike="noStrike">
              <a:solidFill>
                <a:srgbClr val="00000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409" name="Google Shape;409;p27"/>
          <p:cNvSpPr txBox="1"/>
          <p:nvPr/>
        </p:nvSpPr>
        <p:spPr>
          <a:xfrm>
            <a:off x="7351400" y="2700967"/>
            <a:ext cx="4773600" cy="21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CA" sz="1867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rPr>
              <a:t>Discuss next steps here</a:t>
            </a:r>
            <a:endParaRPr b="0" i="0" sz="2800" u="none" cap="none" strike="noStrike">
              <a:solidFill>
                <a:srgbClr val="202124"/>
              </a:solidFill>
              <a:highlight>
                <a:srgbClr val="F8F9FA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rgbClr val="00000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410" name="Google Shape;410;p27"/>
          <p:cNvSpPr txBox="1"/>
          <p:nvPr/>
        </p:nvSpPr>
        <p:spPr>
          <a:xfrm>
            <a:off x="9607700" y="0"/>
            <a:ext cx="2517200" cy="5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CA" sz="1867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rPr>
              <a:t>Type here</a:t>
            </a:r>
            <a:endParaRPr b="0" i="0" sz="1867" u="none" cap="none" strike="noStrike">
              <a:solidFill>
                <a:srgbClr val="00000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411" name="Google Shape;411;p27"/>
          <p:cNvSpPr/>
          <p:nvPr/>
        </p:nvSpPr>
        <p:spPr>
          <a:xfrm>
            <a:off x="8018875" y="500250"/>
            <a:ext cx="835600" cy="835200"/>
          </a:xfrm>
          <a:prstGeom prst="ellipse">
            <a:avLst/>
          </a:prstGeom>
          <a:noFill/>
          <a:ln cap="flat" cmpd="sng" w="28575">
            <a:solidFill>
              <a:srgbClr val="0059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67" u="none" cap="none" strike="noStrike">
              <a:solidFill>
                <a:srgbClr val="888888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  <p:sp>
        <p:nvSpPr>
          <p:cNvPr id="412" name="Google Shape;412;p27"/>
          <p:cNvSpPr txBox="1"/>
          <p:nvPr/>
        </p:nvSpPr>
        <p:spPr>
          <a:xfrm>
            <a:off x="2341984" y="0"/>
            <a:ext cx="3494916" cy="5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CA" sz="1867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rPr>
              <a:t>Type here</a:t>
            </a:r>
            <a:endParaRPr b="0" i="0" sz="1867" u="none" cap="none" strike="noStrike">
              <a:solidFill>
                <a:srgbClr val="00000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28"/>
          <p:cNvSpPr txBox="1"/>
          <p:nvPr>
            <p:ph idx="1" type="body"/>
          </p:nvPr>
        </p:nvSpPr>
        <p:spPr>
          <a:xfrm>
            <a:off x="1007390" y="1978090"/>
            <a:ext cx="10357296" cy="41801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2B38A"/>
              </a:buClr>
              <a:buSzPts val="2200"/>
              <a:buChar char="•"/>
            </a:pPr>
            <a:r>
              <a:rPr lang="en-CA" sz="1800"/>
              <a:t>Using the template on the next slide, provide an updated version of your business model canvas 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2B38A"/>
              </a:buClr>
              <a:buSzPts val="2200"/>
              <a:buChar char="•"/>
            </a:pPr>
            <a:r>
              <a:rPr lang="en-CA" sz="1800"/>
              <a:t>Updates should be based on the interview results from the last sprint 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3B38A"/>
              </a:buClr>
              <a:buSzPts val="2200"/>
              <a:buChar char="•"/>
            </a:pPr>
            <a:r>
              <a:rPr lang="en-CA" sz="1800"/>
              <a:t>Focus on the sections of your canvas related to the hypotheses you tested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3B38A"/>
              </a:buClr>
              <a:buSzPts val="2200"/>
              <a:buChar char="•"/>
            </a:pPr>
            <a:r>
              <a:rPr b="1" lang="en-CA" sz="1800">
                <a:solidFill>
                  <a:srgbClr val="C2B38A"/>
                </a:solidFill>
              </a:rPr>
              <a:t>Highlight </a:t>
            </a:r>
            <a:r>
              <a:rPr lang="en-CA" sz="1800"/>
              <a:t>areas that have changed from the last iteration of your canvas</a:t>
            </a:r>
            <a:endParaRPr/>
          </a:p>
        </p:txBody>
      </p:sp>
      <p:sp>
        <p:nvSpPr>
          <p:cNvPr id="418" name="Google Shape;418;p28"/>
          <p:cNvSpPr txBox="1"/>
          <p:nvPr>
            <p:ph idx="2" type="subTitle"/>
          </p:nvPr>
        </p:nvSpPr>
        <p:spPr>
          <a:xfrm>
            <a:off x="1007389" y="1083370"/>
            <a:ext cx="9974741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3B38A"/>
              </a:buClr>
              <a:buSzPts val="3600"/>
              <a:buNone/>
            </a:pPr>
            <a:r>
              <a:rPr lang="en-CA"/>
              <a:t>INSTRUCTIONS FOR BMC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abf134899d_0_100"/>
          <p:cNvSpPr txBox="1"/>
          <p:nvPr/>
        </p:nvSpPr>
        <p:spPr>
          <a:xfrm>
            <a:off x="60960" y="950975"/>
            <a:ext cx="2316800" cy="2876800"/>
          </a:xfrm>
          <a:prstGeom prst="rect">
            <a:avLst/>
          </a:prstGeom>
          <a:noFill/>
          <a:ln cap="flat" cmpd="sng" w="12700">
            <a:solidFill>
              <a:srgbClr val="EFEF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CA" sz="133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Type here</a:t>
            </a:r>
            <a:endParaRPr b="0" i="0" sz="1333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gabf134899d_0_100"/>
          <p:cNvSpPr txBox="1"/>
          <p:nvPr/>
        </p:nvSpPr>
        <p:spPr>
          <a:xfrm>
            <a:off x="7376160" y="950976"/>
            <a:ext cx="2316800" cy="1609200"/>
          </a:xfrm>
          <a:prstGeom prst="rect">
            <a:avLst/>
          </a:prstGeom>
          <a:noFill/>
          <a:ln cap="flat" cmpd="sng" w="12700">
            <a:solidFill>
              <a:srgbClr val="EFEF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CA" sz="133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Type here</a:t>
            </a:r>
            <a:endParaRPr/>
          </a:p>
        </p:txBody>
      </p:sp>
      <p:sp>
        <p:nvSpPr>
          <p:cNvPr id="426" name="Google Shape;426;gabf134899d_0_100"/>
          <p:cNvSpPr txBox="1"/>
          <p:nvPr/>
        </p:nvSpPr>
        <p:spPr>
          <a:xfrm>
            <a:off x="7376160" y="2980944"/>
            <a:ext cx="2316800" cy="1672400"/>
          </a:xfrm>
          <a:prstGeom prst="rect">
            <a:avLst/>
          </a:prstGeom>
          <a:noFill/>
          <a:ln cap="flat" cmpd="sng" w="12700">
            <a:solidFill>
              <a:srgbClr val="EFEF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33" u="none" cap="none" strike="noStrike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gabf134899d_0_100"/>
          <p:cNvSpPr txBox="1"/>
          <p:nvPr/>
        </p:nvSpPr>
        <p:spPr>
          <a:xfrm>
            <a:off x="4937760" y="950976"/>
            <a:ext cx="2316800" cy="2229200"/>
          </a:xfrm>
          <a:prstGeom prst="rect">
            <a:avLst/>
          </a:prstGeom>
          <a:noFill/>
          <a:ln cap="flat" cmpd="sng" w="12700">
            <a:solidFill>
              <a:srgbClr val="EFEF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CA" sz="133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Type here</a:t>
            </a:r>
            <a:endParaRPr/>
          </a:p>
        </p:txBody>
      </p:sp>
      <p:sp>
        <p:nvSpPr>
          <p:cNvPr id="428" name="Google Shape;428;gabf134899d_0_100"/>
          <p:cNvSpPr txBox="1"/>
          <p:nvPr/>
        </p:nvSpPr>
        <p:spPr>
          <a:xfrm>
            <a:off x="2499360" y="2980944"/>
            <a:ext cx="2316800" cy="1215200"/>
          </a:xfrm>
          <a:prstGeom prst="rect">
            <a:avLst/>
          </a:prstGeom>
          <a:noFill/>
          <a:ln cap="flat" cmpd="sng" w="12700">
            <a:solidFill>
              <a:srgbClr val="EFEF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CA" sz="133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Type here</a:t>
            </a:r>
            <a:endParaRPr/>
          </a:p>
        </p:txBody>
      </p:sp>
      <p:sp>
        <p:nvSpPr>
          <p:cNvPr id="429" name="Google Shape;429;gabf134899d_0_100"/>
          <p:cNvSpPr txBox="1"/>
          <p:nvPr/>
        </p:nvSpPr>
        <p:spPr>
          <a:xfrm>
            <a:off x="9814560" y="950976"/>
            <a:ext cx="2316800" cy="1900000"/>
          </a:xfrm>
          <a:prstGeom prst="rect">
            <a:avLst/>
          </a:prstGeom>
          <a:noFill/>
          <a:ln cap="flat" cmpd="sng" w="12700">
            <a:solidFill>
              <a:srgbClr val="EFEF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CA" sz="133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Type here</a:t>
            </a:r>
            <a:endParaRPr/>
          </a:p>
        </p:txBody>
      </p:sp>
      <p:sp>
        <p:nvSpPr>
          <p:cNvPr id="430" name="Google Shape;430;gabf134899d_0_100"/>
          <p:cNvSpPr txBox="1"/>
          <p:nvPr/>
        </p:nvSpPr>
        <p:spPr>
          <a:xfrm>
            <a:off x="2499360" y="1014983"/>
            <a:ext cx="2316800" cy="1140000"/>
          </a:xfrm>
          <a:prstGeom prst="rect">
            <a:avLst/>
          </a:prstGeom>
          <a:noFill/>
          <a:ln cap="flat" cmpd="sng" w="12700">
            <a:solidFill>
              <a:srgbClr val="EFEF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CA" sz="133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Type here</a:t>
            </a:r>
            <a:endParaRPr/>
          </a:p>
        </p:txBody>
      </p:sp>
      <p:sp>
        <p:nvSpPr>
          <p:cNvPr id="431" name="Google Shape;431;gabf134899d_0_100"/>
          <p:cNvSpPr txBox="1"/>
          <p:nvPr/>
        </p:nvSpPr>
        <p:spPr>
          <a:xfrm>
            <a:off x="7376160" y="2850976"/>
            <a:ext cx="2316800" cy="1609200"/>
          </a:xfrm>
          <a:prstGeom prst="rect">
            <a:avLst/>
          </a:prstGeom>
          <a:noFill/>
          <a:ln cap="flat" cmpd="sng" w="12700">
            <a:solidFill>
              <a:srgbClr val="EFEF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CA" sz="133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Type here</a:t>
            </a:r>
            <a:endParaRPr/>
          </a:p>
        </p:txBody>
      </p:sp>
      <p:sp>
        <p:nvSpPr>
          <p:cNvPr id="432" name="Google Shape;432;gabf134899d_0_100"/>
          <p:cNvSpPr txBox="1"/>
          <p:nvPr/>
        </p:nvSpPr>
        <p:spPr>
          <a:xfrm>
            <a:off x="60960" y="4864777"/>
            <a:ext cx="2316800" cy="1215200"/>
          </a:xfrm>
          <a:prstGeom prst="rect">
            <a:avLst/>
          </a:prstGeom>
          <a:noFill/>
          <a:ln cap="flat" cmpd="sng" w="12700">
            <a:solidFill>
              <a:srgbClr val="EFEF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CA" sz="133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Type here</a:t>
            </a:r>
            <a:endParaRPr/>
          </a:p>
        </p:txBody>
      </p:sp>
      <p:sp>
        <p:nvSpPr>
          <p:cNvPr id="433" name="Google Shape;433;gabf134899d_0_100"/>
          <p:cNvSpPr txBox="1"/>
          <p:nvPr/>
        </p:nvSpPr>
        <p:spPr>
          <a:xfrm>
            <a:off x="6173393" y="4864777"/>
            <a:ext cx="2316800" cy="1215200"/>
          </a:xfrm>
          <a:prstGeom prst="rect">
            <a:avLst/>
          </a:prstGeom>
          <a:noFill/>
          <a:ln cap="flat" cmpd="sng" w="12700">
            <a:solidFill>
              <a:srgbClr val="EFEF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CA" sz="133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Type here</a:t>
            </a:r>
            <a:endParaRPr/>
          </a:p>
        </p:txBody>
      </p:sp>
      <p:sp>
        <p:nvSpPr>
          <p:cNvPr id="434" name="Google Shape;434;gabf134899d_0_100"/>
          <p:cNvSpPr txBox="1"/>
          <p:nvPr/>
        </p:nvSpPr>
        <p:spPr>
          <a:xfrm>
            <a:off x="3829050" y="152400"/>
            <a:ext cx="292417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CA" sz="1400" u="none" cap="none" strike="noStrike">
                <a:solidFill>
                  <a:srgbClr val="F6F6F6"/>
                </a:solidFill>
                <a:latin typeface="Arial"/>
                <a:ea typeface="Arial"/>
                <a:cs typeface="Arial"/>
                <a:sym typeface="Arial"/>
              </a:rPr>
              <a:t>Type name </a:t>
            </a:r>
            <a:endParaRPr/>
          </a:p>
        </p:txBody>
      </p:sp>
      <p:sp>
        <p:nvSpPr>
          <p:cNvPr id="435" name="Google Shape;435;gabf134899d_0_100"/>
          <p:cNvSpPr txBox="1"/>
          <p:nvPr/>
        </p:nvSpPr>
        <p:spPr>
          <a:xfrm>
            <a:off x="11115675" y="152399"/>
            <a:ext cx="101568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CA" sz="1400" u="none" cap="none" strike="noStrike">
                <a:solidFill>
                  <a:srgbClr val="F6F6F6"/>
                </a:solidFill>
                <a:latin typeface="Arial"/>
                <a:ea typeface="Arial"/>
                <a:cs typeface="Arial"/>
                <a:sym typeface="Arial"/>
              </a:rPr>
              <a:t>Type #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29"/>
          <p:cNvSpPr txBox="1"/>
          <p:nvPr>
            <p:ph idx="1" type="body"/>
          </p:nvPr>
        </p:nvSpPr>
        <p:spPr>
          <a:xfrm>
            <a:off x="1007390" y="1750188"/>
            <a:ext cx="92370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83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n-CA" sz="2000"/>
              <a:t>List your next hypotheses, the stakeholders you must interview to test them, and what questions you will ask</a:t>
            </a:r>
            <a:endParaRPr/>
          </a:p>
        </p:txBody>
      </p:sp>
      <p:sp>
        <p:nvSpPr>
          <p:cNvPr id="441" name="Google Shape;441;p29"/>
          <p:cNvSpPr txBox="1"/>
          <p:nvPr>
            <p:ph idx="2" type="subTitle"/>
          </p:nvPr>
        </p:nvSpPr>
        <p:spPr>
          <a:xfrm>
            <a:off x="1007390" y="1083370"/>
            <a:ext cx="92370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3B38A"/>
              </a:buClr>
              <a:buSzPts val="3600"/>
              <a:buNone/>
            </a:pPr>
            <a:r>
              <a:rPr lang="en-CA"/>
              <a:t>PLAN FOR SPRINT #2</a:t>
            </a:r>
            <a:endParaRPr/>
          </a:p>
        </p:txBody>
      </p:sp>
      <p:sp>
        <p:nvSpPr>
          <p:cNvPr id="442" name="Google Shape;442;p29"/>
          <p:cNvSpPr txBox="1"/>
          <p:nvPr/>
        </p:nvSpPr>
        <p:spPr>
          <a:xfrm>
            <a:off x="0" y="0"/>
            <a:ext cx="4000000" cy="533504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43" name="Google Shape;443;p29"/>
          <p:cNvGraphicFramePr/>
          <p:nvPr/>
        </p:nvGraphicFramePr>
        <p:xfrm>
          <a:off x="521200" y="274817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{EB4CD1A3-3C9F-4257-A0C2-04D6E42DDC84}</a:tableStyleId>
              </a:tblPr>
              <a:tblGrid>
                <a:gridCol w="3716525"/>
                <a:gridCol w="3716525"/>
                <a:gridCol w="3716525"/>
              </a:tblGrid>
              <a:tr h="623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b="1" lang="en-CA" sz="2500" u="none" cap="none" strike="noStrike">
                          <a:solidFill>
                            <a:srgbClr val="FFFFFF"/>
                          </a:solidFill>
                        </a:rPr>
                        <a:t>Hypotheses</a:t>
                      </a:r>
                      <a:endParaRPr b="1" sz="25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21900" marB="121900" marR="121900" marL="121900" anchor="ctr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3B38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b="1" lang="en-CA" sz="2500" u="none" cap="none" strike="noStrike">
                          <a:solidFill>
                            <a:srgbClr val="FFFFFF"/>
                          </a:solidFill>
                        </a:rPr>
                        <a:t>Stakeholder</a:t>
                      </a:r>
                      <a:endParaRPr b="1" sz="25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21900" marB="121900" marR="121900" marL="121900" anchor="ctr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3B38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b="1" lang="en-CA" sz="2500" u="none" cap="none" strike="noStrike">
                          <a:solidFill>
                            <a:srgbClr val="FFFFFF"/>
                          </a:solidFill>
                        </a:rPr>
                        <a:t>Questions</a:t>
                      </a:r>
                      <a:endParaRPr b="1" sz="25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21900" marB="121900" marR="121900" marL="121900" anchor="ctr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3B38A"/>
                    </a:solidFill>
                  </a:tcPr>
                </a:tc>
              </a:tr>
              <a:tr h="864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t/>
                      </a:r>
                      <a:endParaRPr sz="2500" u="none" cap="none" strike="noStrike"/>
                    </a:p>
                  </a:txBody>
                  <a:tcPr marT="121900" marB="121900" marR="121900" marL="121900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t/>
                      </a:r>
                      <a:endParaRPr sz="2500" u="none" cap="none" strike="noStrike"/>
                    </a:p>
                  </a:txBody>
                  <a:tcPr marT="121900" marB="121900" marR="121900" marL="121900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2500" u="none" cap="none" strike="noStrike">
                        <a:solidFill>
                          <a:srgbClr val="000000"/>
                        </a:solidFill>
                      </a:endParaRPr>
                    </a:p>
                  </a:txBody>
                  <a:tcPr marT="121900" marB="121900" marR="121900" marL="121900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64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t/>
                      </a:r>
                      <a:endParaRPr sz="2500" u="none" cap="none" strike="noStrike"/>
                    </a:p>
                  </a:txBody>
                  <a:tcPr marT="121900" marB="121900" marR="121900" marL="121900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t/>
                      </a:r>
                      <a:endParaRPr sz="2500" u="none" cap="none" strike="noStrike"/>
                    </a:p>
                  </a:txBody>
                  <a:tcPr marT="121900" marB="121900" marR="121900" marL="121900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2500" u="none" cap="none" strike="noStrike"/>
                    </a:p>
                  </a:txBody>
                  <a:tcPr marT="121900" marB="121900" marR="121900" marL="121900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64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t/>
                      </a:r>
                      <a:endParaRPr sz="2500" u="none" cap="none" strike="noStrike"/>
                    </a:p>
                  </a:txBody>
                  <a:tcPr marT="121900" marB="121900" marR="121900" marL="121900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t/>
                      </a:r>
                      <a:endParaRPr sz="2500" u="none" cap="none" strike="noStrike"/>
                    </a:p>
                  </a:txBody>
                  <a:tcPr marT="121900" marB="121900" marR="121900" marL="121900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t/>
                      </a:r>
                      <a:endParaRPr sz="2500" u="none" cap="none" strike="noStrike"/>
                    </a:p>
                  </a:txBody>
                  <a:tcPr marT="121900" marB="121900" marR="121900" marL="121900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2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1_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2021-01-11T22:00:44Z</dcterms:created>
  <dc:creator>Han Sol (Grace) Lee</dc:creator>
</cp:coreProperties>
</file>