
<file path=[Content_Types].xml><?xml version="1.0" encoding="utf-8"?>
<Types xmlns="http://schemas.openxmlformats.org/package/2006/content-types">
  <Default Extension="fntdata" ContentType="application/x-fontdata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微软雅黑" panose="020B0503020204020204" pitchFamily="34" charset="-122"/>
      <p:regular r:id="rId13"/>
      <p:bold r:id="rId14"/>
    </p:embeddedFont>
    <p:embeddedFont>
      <p:font typeface="Liter" panose="02000503030000020004" pitchFamily="2" charset="0"/>
      <p:regular r:id="rId15"/>
    </p:embeddedFont>
    <p:embeddedFont>
      <p:font typeface="Quattrocento Sans" panose="020B0502050000020003" pitchFamily="34" charset="0"/>
      <p:regular r:id="rId16"/>
      <p:bold r:id="rId17"/>
      <p:italic r:id="rId18"/>
      <p:boldItalic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39"/>
    <p:restoredTop sz="94610"/>
  </p:normalViewPr>
  <p:slideViewPr>
    <p:cSldViewPr snapToGrid="0" snapToObjects="1">
      <p:cViewPr>
        <p:scale>
          <a:sx n="151" d="100"/>
          <a:sy n="151" d="100"/>
        </p:scale>
        <p:origin x="144" y="5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32130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61c3cb8fbdd69093970c034572acc7cd1e6446b6.jpg"/>
          <p:cNvPicPr>
            <a:picLocks noChangeAspect="1"/>
          </p:cNvPicPr>
          <p:nvPr/>
        </p:nvPicPr>
        <p:blipFill>
          <a:blip r:embed="rId3">
            <a:alphaModFix amt="40000"/>
          </a:blip>
          <a:srcRect l="333" r="333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8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385763" y="385763"/>
            <a:ext cx="1514475" cy="352425"/>
          </a:xfrm>
          <a:custGeom>
            <a:avLst/>
            <a:gdLst/>
            <a:ahLst/>
            <a:cxnLst/>
            <a:rect l="l" t="t" r="r" b="b"/>
            <a:pathLst>
              <a:path w="1514475" h="352425">
                <a:moveTo>
                  <a:pt x="38101" y="0"/>
                </a:moveTo>
                <a:lnTo>
                  <a:pt x="1476374" y="0"/>
                </a:lnTo>
                <a:cubicBezTo>
                  <a:pt x="1497417" y="0"/>
                  <a:pt x="1514475" y="17058"/>
                  <a:pt x="1514475" y="38101"/>
                </a:cubicBezTo>
                <a:lnTo>
                  <a:pt x="1514475" y="314324"/>
                </a:lnTo>
                <a:cubicBezTo>
                  <a:pt x="1514475" y="335367"/>
                  <a:pt x="1497417" y="352425"/>
                  <a:pt x="1476374" y="352425"/>
                </a:cubicBezTo>
                <a:lnTo>
                  <a:pt x="38101" y="352425"/>
                </a:lnTo>
                <a:cubicBezTo>
                  <a:pt x="17058" y="352425"/>
                  <a:pt x="0" y="335367"/>
                  <a:pt x="0" y="314324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 w="12700">
            <a:solidFill>
              <a:srgbClr val="E07A5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42925" y="466725"/>
            <a:ext cx="1266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Feb 2026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0291286" y="381000"/>
            <a:ext cx="152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Alma-Tech Inc.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300811" y="571500"/>
            <a:ext cx="15144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900" dirty="0">
                <a:solidFill>
                  <a:srgbClr val="8D99AE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Metal Additive Manufacturing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81000" y="1247775"/>
            <a:ext cx="11434286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CA" sz="5400" dirty="0">
                <a:solidFill>
                  <a:schemeClr val="bg1"/>
                </a:solidFill>
                <a:latin typeface="Quattrocento Sans" panose="020B0502050000020003" pitchFamily="34" charset="0"/>
              </a:rPr>
              <a:t>Certification-Ready Digital Inventory for Remote Industrial Assets</a:t>
            </a:r>
            <a:endParaRPr lang="en-US" sz="1600" dirty="0">
              <a:solidFill>
                <a:schemeClr val="bg1"/>
              </a:solidFill>
              <a:latin typeface="Quattrocento Sans" panose="020B0502050000020003" pitchFamily="34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381000" y="3190875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380999" y="3533775"/>
            <a:ext cx="1077566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CA" sz="2400" dirty="0">
                <a:solidFill>
                  <a:schemeClr val="bg1"/>
                </a:solidFill>
              </a:rPr>
              <a:t>Enabling class-compliant additive manufacturing for offshore and maritime operations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1" name="Shape 8"/>
          <p:cNvSpPr/>
          <p:nvPr/>
        </p:nvSpPr>
        <p:spPr>
          <a:xfrm>
            <a:off x="381000" y="44100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550069" y="4543425"/>
            <a:ext cx="119063" cy="190500"/>
          </a:xfrm>
          <a:custGeom>
            <a:avLst/>
            <a:gdLst/>
            <a:ahLst/>
            <a:cxnLst/>
            <a:rect l="l" t="t" r="r" b="b"/>
            <a:pathLst>
              <a:path w="119063" h="190500">
                <a:moveTo>
                  <a:pt x="50602" y="8930"/>
                </a:moveTo>
                <a:cubicBezTo>
                  <a:pt x="50602" y="3981"/>
                  <a:pt x="54583" y="0"/>
                  <a:pt x="59531" y="0"/>
                </a:cubicBezTo>
                <a:cubicBezTo>
                  <a:pt x="64480" y="0"/>
                  <a:pt x="68461" y="3981"/>
                  <a:pt x="68461" y="8930"/>
                </a:cubicBezTo>
                <a:lnTo>
                  <a:pt x="68461" y="23812"/>
                </a:lnTo>
                <a:lnTo>
                  <a:pt x="89297" y="23812"/>
                </a:lnTo>
                <a:cubicBezTo>
                  <a:pt x="95883" y="23812"/>
                  <a:pt x="101203" y="29133"/>
                  <a:pt x="101203" y="35719"/>
                </a:cubicBezTo>
                <a:cubicBezTo>
                  <a:pt x="101203" y="42304"/>
                  <a:pt x="95883" y="47625"/>
                  <a:pt x="89297" y="47625"/>
                </a:cubicBezTo>
                <a:lnTo>
                  <a:pt x="46546" y="47625"/>
                </a:lnTo>
                <a:cubicBezTo>
                  <a:pt x="37281" y="47625"/>
                  <a:pt x="29766" y="55141"/>
                  <a:pt x="29766" y="64405"/>
                </a:cubicBezTo>
                <a:cubicBezTo>
                  <a:pt x="29766" y="72777"/>
                  <a:pt x="35905" y="79846"/>
                  <a:pt x="44165" y="81037"/>
                </a:cubicBezTo>
                <a:lnTo>
                  <a:pt x="78246" y="85911"/>
                </a:lnTo>
                <a:cubicBezTo>
                  <a:pt x="98264" y="88776"/>
                  <a:pt x="113109" y="105891"/>
                  <a:pt x="113109" y="126095"/>
                </a:cubicBezTo>
                <a:cubicBezTo>
                  <a:pt x="113109" y="148530"/>
                  <a:pt x="94915" y="166688"/>
                  <a:pt x="72517" y="166688"/>
                </a:cubicBezTo>
                <a:lnTo>
                  <a:pt x="68461" y="166688"/>
                </a:lnTo>
                <a:lnTo>
                  <a:pt x="68461" y="181570"/>
                </a:lnTo>
                <a:cubicBezTo>
                  <a:pt x="68461" y="186519"/>
                  <a:pt x="64480" y="190500"/>
                  <a:pt x="59531" y="190500"/>
                </a:cubicBezTo>
                <a:cubicBezTo>
                  <a:pt x="54583" y="190500"/>
                  <a:pt x="50602" y="186519"/>
                  <a:pt x="50602" y="181570"/>
                </a:cubicBezTo>
                <a:lnTo>
                  <a:pt x="50602" y="166688"/>
                </a:lnTo>
                <a:lnTo>
                  <a:pt x="23812" y="166688"/>
                </a:lnTo>
                <a:cubicBezTo>
                  <a:pt x="17227" y="166688"/>
                  <a:pt x="11906" y="161367"/>
                  <a:pt x="11906" y="154781"/>
                </a:cubicBezTo>
                <a:cubicBezTo>
                  <a:pt x="11906" y="148196"/>
                  <a:pt x="17227" y="142875"/>
                  <a:pt x="23812" y="142875"/>
                </a:cubicBezTo>
                <a:lnTo>
                  <a:pt x="72517" y="142875"/>
                </a:lnTo>
                <a:cubicBezTo>
                  <a:pt x="81781" y="142875"/>
                  <a:pt x="89297" y="135359"/>
                  <a:pt x="89297" y="126095"/>
                </a:cubicBezTo>
                <a:cubicBezTo>
                  <a:pt x="89297" y="117723"/>
                  <a:pt x="83158" y="110654"/>
                  <a:pt x="74898" y="109463"/>
                </a:cubicBezTo>
                <a:lnTo>
                  <a:pt x="40816" y="104589"/>
                </a:lnTo>
                <a:cubicBezTo>
                  <a:pt x="20799" y="101761"/>
                  <a:pt x="5953" y="84609"/>
                  <a:pt x="5953" y="64405"/>
                </a:cubicBezTo>
                <a:cubicBezTo>
                  <a:pt x="5953" y="42007"/>
                  <a:pt x="24147" y="23812"/>
                  <a:pt x="46546" y="23812"/>
                </a:cubicBezTo>
                <a:lnTo>
                  <a:pt x="50602" y="23812"/>
                </a:lnTo>
                <a:lnTo>
                  <a:pt x="50602" y="8930"/>
                </a:ln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952500" y="4391025"/>
            <a:ext cx="114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$4.5M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952500" y="4695825"/>
            <a:ext cx="1095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Unused Inventory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2208689" y="4333875"/>
            <a:ext cx="9525" cy="609600"/>
          </a:xfrm>
          <a:custGeom>
            <a:avLst/>
            <a:gdLst/>
            <a:ahLst/>
            <a:cxnLst/>
            <a:rect l="l" t="t" r="r" b="b"/>
            <a:pathLst>
              <a:path w="9525" h="609600">
                <a:moveTo>
                  <a:pt x="0" y="0"/>
                </a:moveTo>
                <a:lnTo>
                  <a:pt x="9525" y="0"/>
                </a:lnTo>
                <a:lnTo>
                  <a:pt x="9525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8D99AE">
              <a:alpha val="3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2446814" y="44100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2580164" y="45434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ubicBezTo>
                  <a:pt x="0" y="42680"/>
                  <a:pt x="42680" y="0"/>
                  <a:pt x="95250" y="0"/>
                </a:cubicBezTo>
                <a:close/>
                <a:moveTo>
                  <a:pt x="86320" y="44648"/>
                </a:moveTo>
                <a:lnTo>
                  <a:pt x="86320" y="95250"/>
                </a:lnTo>
                <a:cubicBezTo>
                  <a:pt x="86320" y="98227"/>
                  <a:pt x="87809" y="101017"/>
                  <a:pt x="90301" y="102691"/>
                </a:cubicBezTo>
                <a:lnTo>
                  <a:pt x="126020" y="126504"/>
                </a:lnTo>
                <a:cubicBezTo>
                  <a:pt x="130113" y="129257"/>
                  <a:pt x="135657" y="128141"/>
                  <a:pt x="138410" y="124011"/>
                </a:cubicBezTo>
                <a:cubicBezTo>
                  <a:pt x="141163" y="119881"/>
                  <a:pt x="140047" y="114374"/>
                  <a:pt x="135917" y="111621"/>
                </a:cubicBezTo>
                <a:lnTo>
                  <a:pt x="104180" y="90488"/>
                </a:lnTo>
                <a:lnTo>
                  <a:pt x="104180" y="44648"/>
                </a:lnTo>
                <a:cubicBezTo>
                  <a:pt x="104180" y="39700"/>
                  <a:pt x="100199" y="35719"/>
                  <a:pt x="95250" y="35719"/>
                </a:cubicBezTo>
                <a:cubicBezTo>
                  <a:pt x="90301" y="35719"/>
                  <a:pt x="86320" y="39700"/>
                  <a:pt x="86320" y="44648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3018314" y="4391025"/>
            <a:ext cx="1447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$88M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3018314" y="4695825"/>
            <a:ext cx="1400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Annual Downtime Cost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381000" y="5095875"/>
            <a:ext cx="6934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— Validated across 35+ interviews with ExxonMobil, Equinor, utilities &amp; defense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381000" y="5791200"/>
            <a:ext cx="4667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Founders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381000" y="6057900"/>
            <a:ext cx="2219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Alireza Vahedi Nemani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381000" y="6286500"/>
            <a:ext cx="2209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PhD Candidate, Materials Engineering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2831465" y="6057900"/>
            <a:ext cx="2219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Mahmoud Kiasari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2831465" y="6286500"/>
            <a:ext cx="2209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PhD Candidate, Researcher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10739755" y="6324600"/>
            <a:ext cx="1066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900" dirty="0">
                <a:solidFill>
                  <a:srgbClr val="8D99AE">
                    <a:alpha val="5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Dalhousie University</a:t>
            </a:r>
            <a:endParaRPr lang="en-US" sz="1600" dirty="0"/>
          </a:p>
        </p:txBody>
      </p:sp>
      <p:pic>
        <p:nvPicPr>
          <p:cNvPr id="1028" name="Picture 4" descr="The Dal Brand | Welcome to Dalhousie University">
            <a:extLst>
              <a:ext uri="{FF2B5EF4-FFF2-40B4-BE49-F238E27FC236}">
                <a16:creationId xmlns:a16="http://schemas.microsoft.com/office/drawing/2014/main" id="{5D34F45C-A031-6A2A-32EB-934321702F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54416" y="5964307"/>
            <a:ext cx="2770677" cy="7821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About Us |">
            <a:extLst>
              <a:ext uri="{FF2B5EF4-FFF2-40B4-BE49-F238E27FC236}">
                <a16:creationId xmlns:a16="http://schemas.microsoft.com/office/drawing/2014/main" id="{DC1C9177-A921-2D80-B45E-B636213C47C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492" b="32639"/>
          <a:stretch>
            <a:fillRect/>
          </a:stretch>
        </p:blipFill>
        <p:spPr bwMode="auto">
          <a:xfrm>
            <a:off x="6558594" y="5886450"/>
            <a:ext cx="2628189" cy="8901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Remote Industries Are Bleeding Capital on Inventory They'll Never Use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0050" y="1257300"/>
            <a:ext cx="3638550" cy="4514850"/>
          </a:xfrm>
          <a:custGeom>
            <a:avLst/>
            <a:gdLst/>
            <a:ahLst/>
            <a:cxnLst/>
            <a:rect l="l" t="t" r="r" b="b"/>
            <a:pathLst>
              <a:path w="3638550" h="4514850">
                <a:moveTo>
                  <a:pt x="38100" y="0"/>
                </a:moveTo>
                <a:lnTo>
                  <a:pt x="3562359" y="0"/>
                </a:lnTo>
                <a:cubicBezTo>
                  <a:pt x="3604438" y="0"/>
                  <a:pt x="3638550" y="34112"/>
                  <a:pt x="3638550" y="76191"/>
                </a:cubicBezTo>
                <a:lnTo>
                  <a:pt x="3638550" y="4438659"/>
                </a:lnTo>
                <a:cubicBezTo>
                  <a:pt x="3638550" y="4480738"/>
                  <a:pt x="3604438" y="4514850"/>
                  <a:pt x="3562359" y="4514850"/>
                </a:cubicBezTo>
                <a:lnTo>
                  <a:pt x="38100" y="4514850"/>
                </a:lnTo>
                <a:cubicBezTo>
                  <a:pt x="17058" y="4514850"/>
                  <a:pt x="0" y="4497792"/>
                  <a:pt x="0" y="4476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B2D42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00050" y="1257300"/>
            <a:ext cx="38100" cy="4514850"/>
          </a:xfrm>
          <a:custGeom>
            <a:avLst/>
            <a:gdLst/>
            <a:ahLst/>
            <a:cxnLst/>
            <a:rect l="l" t="t" r="r" b="b"/>
            <a:pathLst>
              <a:path w="38100" h="4514850">
                <a:moveTo>
                  <a:pt x="38100" y="0"/>
                </a:moveTo>
                <a:lnTo>
                  <a:pt x="38100" y="0"/>
                </a:lnTo>
                <a:lnTo>
                  <a:pt x="38100" y="4514850"/>
                </a:lnTo>
                <a:lnTo>
                  <a:pt x="38100" y="4514850"/>
                </a:lnTo>
                <a:cubicBezTo>
                  <a:pt x="17072" y="4514850"/>
                  <a:pt x="0" y="4497778"/>
                  <a:pt x="0" y="4476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09600" y="14478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06041" y="1552575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0" y="47584"/>
                </a:moveTo>
                <a:lnTo>
                  <a:pt x="0" y="160734"/>
                </a:lnTo>
                <a:cubicBezTo>
                  <a:pt x="0" y="166661"/>
                  <a:pt x="4789" y="171450"/>
                  <a:pt x="10716" y="171450"/>
                </a:cubicBezTo>
                <a:cubicBezTo>
                  <a:pt x="16643" y="171450"/>
                  <a:pt x="21431" y="166661"/>
                  <a:pt x="21431" y="160734"/>
                </a:cubicBezTo>
                <a:lnTo>
                  <a:pt x="21431" y="80367"/>
                </a:lnTo>
                <a:cubicBezTo>
                  <a:pt x="21431" y="74440"/>
                  <a:pt x="26220" y="69652"/>
                  <a:pt x="32147" y="69652"/>
                </a:cubicBezTo>
                <a:lnTo>
                  <a:pt x="160734" y="69652"/>
                </a:lnTo>
                <a:cubicBezTo>
                  <a:pt x="166661" y="69652"/>
                  <a:pt x="171450" y="74440"/>
                  <a:pt x="171450" y="80367"/>
                </a:cubicBezTo>
                <a:lnTo>
                  <a:pt x="171450" y="160734"/>
                </a:lnTo>
                <a:cubicBezTo>
                  <a:pt x="171450" y="166661"/>
                  <a:pt x="176239" y="171450"/>
                  <a:pt x="182166" y="171450"/>
                </a:cubicBezTo>
                <a:cubicBezTo>
                  <a:pt x="188093" y="171450"/>
                  <a:pt x="192881" y="166661"/>
                  <a:pt x="192881" y="160734"/>
                </a:cubicBezTo>
                <a:lnTo>
                  <a:pt x="192881" y="47584"/>
                </a:lnTo>
                <a:cubicBezTo>
                  <a:pt x="192881" y="38375"/>
                  <a:pt x="186988" y="30171"/>
                  <a:pt x="178214" y="27258"/>
                </a:cubicBezTo>
                <a:lnTo>
                  <a:pt x="101531" y="1708"/>
                </a:lnTo>
                <a:cubicBezTo>
                  <a:pt x="98215" y="603"/>
                  <a:pt x="94666" y="603"/>
                  <a:pt x="91351" y="1708"/>
                </a:cubicBezTo>
                <a:lnTo>
                  <a:pt x="14667" y="27258"/>
                </a:lnTo>
                <a:cubicBezTo>
                  <a:pt x="5894" y="30171"/>
                  <a:pt x="0" y="38375"/>
                  <a:pt x="0" y="47584"/>
                </a:cubicBezTo>
                <a:close/>
                <a:moveTo>
                  <a:pt x="155377" y="85725"/>
                </a:moveTo>
                <a:lnTo>
                  <a:pt x="37505" y="85725"/>
                </a:lnTo>
                <a:lnTo>
                  <a:pt x="37505" y="107156"/>
                </a:lnTo>
                <a:lnTo>
                  <a:pt x="155377" y="107156"/>
                </a:lnTo>
                <a:lnTo>
                  <a:pt x="155377" y="85725"/>
                </a:lnTo>
                <a:close/>
                <a:moveTo>
                  <a:pt x="37505" y="139303"/>
                </a:moveTo>
                <a:lnTo>
                  <a:pt x="155377" y="139303"/>
                </a:lnTo>
                <a:lnTo>
                  <a:pt x="155377" y="117872"/>
                </a:lnTo>
                <a:lnTo>
                  <a:pt x="37505" y="117872"/>
                </a:lnTo>
                <a:lnTo>
                  <a:pt x="37505" y="139303"/>
                </a:lnTo>
                <a:close/>
                <a:moveTo>
                  <a:pt x="155377" y="150019"/>
                </a:moveTo>
                <a:lnTo>
                  <a:pt x="37505" y="150019"/>
                </a:lnTo>
                <a:lnTo>
                  <a:pt x="37505" y="171450"/>
                </a:lnTo>
                <a:lnTo>
                  <a:pt x="155377" y="171450"/>
                </a:lnTo>
                <a:lnTo>
                  <a:pt x="155377" y="150019"/>
                </a:ln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104900" y="1504950"/>
            <a:ext cx="1743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Inventory Trap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66750" y="20193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76200" h="152400">
                <a:moveTo>
                  <a:pt x="9674" y="28575"/>
                </a:moveTo>
                <a:cubicBezTo>
                  <a:pt x="9674" y="24735"/>
                  <a:pt x="11996" y="21253"/>
                  <a:pt x="15567" y="19764"/>
                </a:cubicBezTo>
                <a:cubicBezTo>
                  <a:pt x="19139" y="18276"/>
                  <a:pt x="23217" y="19110"/>
                  <a:pt x="25926" y="21848"/>
                </a:cubicBezTo>
                <a:lnTo>
                  <a:pt x="73551" y="69473"/>
                </a:lnTo>
                <a:cubicBezTo>
                  <a:pt x="77272" y="73194"/>
                  <a:pt x="77272" y="79236"/>
                  <a:pt x="73551" y="82957"/>
                </a:cubicBezTo>
                <a:lnTo>
                  <a:pt x="25926" y="130582"/>
                </a:lnTo>
                <a:cubicBezTo>
                  <a:pt x="23187" y="133320"/>
                  <a:pt x="19110" y="134124"/>
                  <a:pt x="15538" y="132636"/>
                </a:cubicBezTo>
                <a:cubicBezTo>
                  <a:pt x="11966" y="131147"/>
                  <a:pt x="9674" y="127665"/>
                  <a:pt x="9674" y="123825"/>
                </a:cubicBezTo>
                <a:lnTo>
                  <a:pt x="9674" y="28575"/>
                </a:ln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76300" y="1981200"/>
            <a:ext cx="2695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$30-50M</a:t>
            </a:r>
            <a:r>
              <a:rPr lang="en-US" sz="120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inventory per offshore vessel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66750" y="23622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76200" h="152400">
                <a:moveTo>
                  <a:pt x="9674" y="28575"/>
                </a:moveTo>
                <a:cubicBezTo>
                  <a:pt x="9674" y="24735"/>
                  <a:pt x="11996" y="21253"/>
                  <a:pt x="15567" y="19764"/>
                </a:cubicBezTo>
                <a:cubicBezTo>
                  <a:pt x="19139" y="18276"/>
                  <a:pt x="23217" y="19110"/>
                  <a:pt x="25926" y="21848"/>
                </a:cubicBezTo>
                <a:lnTo>
                  <a:pt x="73551" y="69473"/>
                </a:lnTo>
                <a:cubicBezTo>
                  <a:pt x="77272" y="73194"/>
                  <a:pt x="77272" y="79236"/>
                  <a:pt x="73551" y="82957"/>
                </a:cubicBezTo>
                <a:lnTo>
                  <a:pt x="25926" y="130582"/>
                </a:lnTo>
                <a:cubicBezTo>
                  <a:pt x="23187" y="133320"/>
                  <a:pt x="19110" y="134124"/>
                  <a:pt x="15538" y="132636"/>
                </a:cubicBezTo>
                <a:cubicBezTo>
                  <a:pt x="11966" y="131147"/>
                  <a:pt x="9674" y="127665"/>
                  <a:pt x="9674" y="123825"/>
                </a:cubicBezTo>
                <a:lnTo>
                  <a:pt x="9674" y="28575"/>
                </a:ln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74236" y="2324100"/>
            <a:ext cx="304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$4-5M</a:t>
            </a:r>
            <a:r>
              <a:rPr lang="en-US" sz="120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$50M utility </a:t>
            </a: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(8-10% of asset value)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66750" y="29337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76200" h="152400">
                <a:moveTo>
                  <a:pt x="9674" y="28575"/>
                </a:moveTo>
                <a:cubicBezTo>
                  <a:pt x="9674" y="24735"/>
                  <a:pt x="11996" y="21253"/>
                  <a:pt x="15567" y="19764"/>
                </a:cubicBezTo>
                <a:cubicBezTo>
                  <a:pt x="19139" y="18276"/>
                  <a:pt x="23217" y="19110"/>
                  <a:pt x="25926" y="21848"/>
                </a:cubicBezTo>
                <a:lnTo>
                  <a:pt x="73551" y="69473"/>
                </a:lnTo>
                <a:cubicBezTo>
                  <a:pt x="77272" y="73194"/>
                  <a:pt x="77272" y="79236"/>
                  <a:pt x="73551" y="82957"/>
                </a:cubicBezTo>
                <a:lnTo>
                  <a:pt x="25926" y="130582"/>
                </a:lnTo>
                <a:cubicBezTo>
                  <a:pt x="23187" y="133320"/>
                  <a:pt x="19110" y="134124"/>
                  <a:pt x="15538" y="132636"/>
                </a:cubicBezTo>
                <a:cubicBezTo>
                  <a:pt x="11966" y="131147"/>
                  <a:pt x="9674" y="127665"/>
                  <a:pt x="9674" y="123825"/>
                </a:cubicBezTo>
                <a:lnTo>
                  <a:pt x="9674" y="28575"/>
                </a:ln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76300" y="2895600"/>
            <a:ext cx="1685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80%</a:t>
            </a:r>
            <a:r>
              <a:rPr lang="en-US" sz="120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sits unused, rusting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52463" y="32766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76200" h="152400">
                <a:moveTo>
                  <a:pt x="9674" y="28575"/>
                </a:moveTo>
                <a:cubicBezTo>
                  <a:pt x="9674" y="24735"/>
                  <a:pt x="11996" y="21253"/>
                  <a:pt x="15567" y="19764"/>
                </a:cubicBezTo>
                <a:cubicBezTo>
                  <a:pt x="19139" y="18276"/>
                  <a:pt x="23217" y="19110"/>
                  <a:pt x="25926" y="21848"/>
                </a:cubicBezTo>
                <a:lnTo>
                  <a:pt x="73551" y="69473"/>
                </a:lnTo>
                <a:cubicBezTo>
                  <a:pt x="77272" y="73194"/>
                  <a:pt x="77272" y="79236"/>
                  <a:pt x="73551" y="82957"/>
                </a:cubicBezTo>
                <a:lnTo>
                  <a:pt x="25926" y="130582"/>
                </a:lnTo>
                <a:cubicBezTo>
                  <a:pt x="23187" y="133320"/>
                  <a:pt x="19110" y="134124"/>
                  <a:pt x="15538" y="132636"/>
                </a:cubicBezTo>
                <a:cubicBezTo>
                  <a:pt x="11966" y="131147"/>
                  <a:pt x="9674" y="127665"/>
                  <a:pt x="9674" y="123825"/>
                </a:cubicBezTo>
                <a:lnTo>
                  <a:pt x="9674" y="28575"/>
                </a:ln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43280" y="3238500"/>
            <a:ext cx="30765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15-20 year</a:t>
            </a:r>
            <a:r>
              <a:rPr lang="en-US" sz="120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equipment lifecycles → obsolescence crisis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14363" y="4767263"/>
            <a:ext cx="3228975" cy="809625"/>
          </a:xfrm>
          <a:custGeom>
            <a:avLst/>
            <a:gdLst/>
            <a:ahLst/>
            <a:cxnLst/>
            <a:rect l="l" t="t" r="r" b="b"/>
            <a:pathLst>
              <a:path w="3228975" h="809625">
                <a:moveTo>
                  <a:pt x="38101" y="0"/>
                </a:moveTo>
                <a:lnTo>
                  <a:pt x="3190874" y="0"/>
                </a:lnTo>
                <a:cubicBezTo>
                  <a:pt x="3211917" y="0"/>
                  <a:pt x="3228975" y="17058"/>
                  <a:pt x="3228975" y="38101"/>
                </a:cubicBezTo>
                <a:lnTo>
                  <a:pt x="3228975" y="771524"/>
                </a:lnTo>
                <a:cubicBezTo>
                  <a:pt x="3228975" y="792567"/>
                  <a:pt x="3211917" y="809625"/>
                  <a:pt x="3190874" y="809625"/>
                </a:cubicBezTo>
                <a:lnTo>
                  <a:pt x="38101" y="809625"/>
                </a:lnTo>
                <a:cubicBezTo>
                  <a:pt x="17058" y="809625"/>
                  <a:pt x="0" y="792567"/>
                  <a:pt x="0" y="771524"/>
                </a:cubicBezTo>
                <a:lnTo>
                  <a:pt x="0" y="38101"/>
                </a:lnTo>
                <a:cubicBezTo>
                  <a:pt x="0" y="17058"/>
                  <a:pt x="17058" y="0"/>
                  <a:pt x="38101" y="0"/>
                </a:cubicBezTo>
                <a:close/>
              </a:path>
            </a:pathLst>
          </a:custGeom>
          <a:solidFill>
            <a:srgbClr val="E07A5F">
              <a:alpha val="10196"/>
            </a:srgbClr>
          </a:solidFill>
          <a:ln w="12700">
            <a:solidFill>
              <a:srgbClr val="E07A5F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3425" y="4886325"/>
            <a:ext cx="30575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"80% of physical inventory worth $4.5 million is unused"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33425" y="5305425"/>
            <a:ext cx="3048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286250" y="1257300"/>
            <a:ext cx="3638550" cy="4514850"/>
          </a:xfrm>
          <a:custGeom>
            <a:avLst/>
            <a:gdLst/>
            <a:ahLst/>
            <a:cxnLst/>
            <a:rect l="l" t="t" r="r" b="b"/>
            <a:pathLst>
              <a:path w="3638550" h="4514850">
                <a:moveTo>
                  <a:pt x="38100" y="0"/>
                </a:moveTo>
                <a:lnTo>
                  <a:pt x="3562359" y="0"/>
                </a:lnTo>
                <a:cubicBezTo>
                  <a:pt x="3604438" y="0"/>
                  <a:pt x="3638550" y="34112"/>
                  <a:pt x="3638550" y="76191"/>
                </a:cubicBezTo>
                <a:lnTo>
                  <a:pt x="3638550" y="4438659"/>
                </a:lnTo>
                <a:cubicBezTo>
                  <a:pt x="3638550" y="4480738"/>
                  <a:pt x="3604438" y="4514850"/>
                  <a:pt x="3562359" y="4514850"/>
                </a:cubicBezTo>
                <a:lnTo>
                  <a:pt x="38100" y="4514850"/>
                </a:lnTo>
                <a:cubicBezTo>
                  <a:pt x="17058" y="4514850"/>
                  <a:pt x="0" y="4497792"/>
                  <a:pt x="0" y="4476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B2D42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286250" y="1257300"/>
            <a:ext cx="38100" cy="4514850"/>
          </a:xfrm>
          <a:custGeom>
            <a:avLst/>
            <a:gdLst/>
            <a:ahLst/>
            <a:cxnLst/>
            <a:rect l="l" t="t" r="r" b="b"/>
            <a:pathLst>
              <a:path w="38100" h="4514850">
                <a:moveTo>
                  <a:pt x="38100" y="0"/>
                </a:moveTo>
                <a:lnTo>
                  <a:pt x="38100" y="0"/>
                </a:lnTo>
                <a:lnTo>
                  <a:pt x="38100" y="4514850"/>
                </a:lnTo>
                <a:lnTo>
                  <a:pt x="38100" y="4514850"/>
                </a:lnTo>
                <a:cubicBezTo>
                  <a:pt x="17072" y="4514850"/>
                  <a:pt x="0" y="4497778"/>
                  <a:pt x="0" y="4476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495800" y="14478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602956" y="15525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0"/>
                </a:moveTo>
                <a:cubicBezTo>
                  <a:pt x="90647" y="0"/>
                  <a:pt x="95168" y="2712"/>
                  <a:pt x="97512" y="7032"/>
                </a:cubicBezTo>
                <a:lnTo>
                  <a:pt x="169843" y="140977"/>
                </a:lnTo>
                <a:cubicBezTo>
                  <a:pt x="172086" y="145130"/>
                  <a:pt x="171986" y="150153"/>
                  <a:pt x="169575" y="154205"/>
                </a:cubicBezTo>
                <a:cubicBezTo>
                  <a:pt x="167164" y="158256"/>
                  <a:pt x="162777" y="160734"/>
                  <a:pt x="158055" y="160734"/>
                </a:cubicBezTo>
                <a:lnTo>
                  <a:pt x="13395" y="160734"/>
                </a:lnTo>
                <a:cubicBezTo>
                  <a:pt x="8673" y="160734"/>
                  <a:pt x="4320" y="158256"/>
                  <a:pt x="1875" y="154205"/>
                </a:cubicBezTo>
                <a:cubicBezTo>
                  <a:pt x="-569" y="150153"/>
                  <a:pt x="-636" y="145130"/>
                  <a:pt x="1607" y="140977"/>
                </a:cubicBezTo>
                <a:lnTo>
                  <a:pt x="73938" y="7032"/>
                </a:lnTo>
                <a:cubicBezTo>
                  <a:pt x="76282" y="2712"/>
                  <a:pt x="80803" y="0"/>
                  <a:pt x="85725" y="0"/>
                </a:cubicBezTo>
                <a:close/>
                <a:moveTo>
                  <a:pt x="85725" y="56257"/>
                </a:moveTo>
                <a:cubicBezTo>
                  <a:pt x="81271" y="56257"/>
                  <a:pt x="77688" y="59840"/>
                  <a:pt x="77688" y="64294"/>
                </a:cubicBezTo>
                <a:lnTo>
                  <a:pt x="77688" y="101798"/>
                </a:lnTo>
                <a:cubicBezTo>
                  <a:pt x="77688" y="106252"/>
                  <a:pt x="81271" y="109835"/>
                  <a:pt x="85725" y="109835"/>
                </a:cubicBezTo>
                <a:cubicBezTo>
                  <a:pt x="90179" y="109835"/>
                  <a:pt x="93762" y="106252"/>
                  <a:pt x="93762" y="101798"/>
                </a:cubicBezTo>
                <a:lnTo>
                  <a:pt x="93762" y="64294"/>
                </a:lnTo>
                <a:cubicBezTo>
                  <a:pt x="93762" y="59840"/>
                  <a:pt x="90179" y="56257"/>
                  <a:pt x="85725" y="56257"/>
                </a:cubicBezTo>
                <a:close/>
                <a:moveTo>
                  <a:pt x="94666" y="128588"/>
                </a:moveTo>
                <a:cubicBezTo>
                  <a:pt x="94869" y="125269"/>
                  <a:pt x="93214" y="122111"/>
                  <a:pt x="90369" y="120390"/>
                </a:cubicBezTo>
                <a:cubicBezTo>
                  <a:pt x="87524" y="118670"/>
                  <a:pt x="83959" y="118670"/>
                  <a:pt x="81114" y="120390"/>
                </a:cubicBezTo>
                <a:cubicBezTo>
                  <a:pt x="78269" y="122111"/>
                  <a:pt x="76614" y="125269"/>
                  <a:pt x="76818" y="128587"/>
                </a:cubicBezTo>
                <a:cubicBezTo>
                  <a:pt x="76614" y="131906"/>
                  <a:pt x="78269" y="135064"/>
                  <a:pt x="81114" y="136785"/>
                </a:cubicBezTo>
                <a:cubicBezTo>
                  <a:pt x="83959" y="138505"/>
                  <a:pt x="87524" y="138505"/>
                  <a:pt x="90369" y="136785"/>
                </a:cubicBezTo>
                <a:cubicBezTo>
                  <a:pt x="93214" y="135064"/>
                  <a:pt x="94869" y="131906"/>
                  <a:pt x="94666" y="128588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991100" y="1504950"/>
            <a:ext cx="2133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Downtime Disaster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552950" y="20193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76200" h="152400">
                <a:moveTo>
                  <a:pt x="9674" y="28575"/>
                </a:moveTo>
                <a:cubicBezTo>
                  <a:pt x="9674" y="24735"/>
                  <a:pt x="11996" y="21253"/>
                  <a:pt x="15567" y="19764"/>
                </a:cubicBezTo>
                <a:cubicBezTo>
                  <a:pt x="19139" y="18276"/>
                  <a:pt x="23217" y="19110"/>
                  <a:pt x="25926" y="21848"/>
                </a:cubicBezTo>
                <a:lnTo>
                  <a:pt x="73551" y="69473"/>
                </a:lnTo>
                <a:cubicBezTo>
                  <a:pt x="77272" y="73194"/>
                  <a:pt x="77272" y="79236"/>
                  <a:pt x="73551" y="82957"/>
                </a:cubicBezTo>
                <a:lnTo>
                  <a:pt x="25926" y="130582"/>
                </a:lnTo>
                <a:cubicBezTo>
                  <a:pt x="23187" y="133320"/>
                  <a:pt x="19110" y="134124"/>
                  <a:pt x="15538" y="132636"/>
                </a:cubicBezTo>
                <a:cubicBezTo>
                  <a:pt x="11966" y="131147"/>
                  <a:pt x="9674" y="127665"/>
                  <a:pt x="9674" y="123825"/>
                </a:cubicBezTo>
                <a:lnTo>
                  <a:pt x="9674" y="28575"/>
                </a:ln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762500" y="1981200"/>
            <a:ext cx="1790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Single transformer: </a:t>
            </a:r>
            <a:r>
              <a:rPr lang="en-US" sz="120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$100K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552950" y="23622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76200" h="152400">
                <a:moveTo>
                  <a:pt x="9674" y="28575"/>
                </a:moveTo>
                <a:cubicBezTo>
                  <a:pt x="9674" y="24735"/>
                  <a:pt x="11996" y="21253"/>
                  <a:pt x="15567" y="19764"/>
                </a:cubicBezTo>
                <a:cubicBezTo>
                  <a:pt x="19139" y="18276"/>
                  <a:pt x="23217" y="19110"/>
                  <a:pt x="25926" y="21848"/>
                </a:cubicBezTo>
                <a:lnTo>
                  <a:pt x="73551" y="69473"/>
                </a:lnTo>
                <a:cubicBezTo>
                  <a:pt x="77272" y="73194"/>
                  <a:pt x="77272" y="79236"/>
                  <a:pt x="73551" y="82957"/>
                </a:cubicBezTo>
                <a:lnTo>
                  <a:pt x="25926" y="130582"/>
                </a:lnTo>
                <a:cubicBezTo>
                  <a:pt x="23187" y="133320"/>
                  <a:pt x="19110" y="134124"/>
                  <a:pt x="15538" y="132636"/>
                </a:cubicBezTo>
                <a:cubicBezTo>
                  <a:pt x="11966" y="131147"/>
                  <a:pt x="9674" y="127665"/>
                  <a:pt x="9674" y="123825"/>
                </a:cubicBezTo>
                <a:lnTo>
                  <a:pt x="9674" y="28575"/>
                </a:ln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762500" y="2324100"/>
            <a:ext cx="1485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Single turbo: </a:t>
            </a:r>
            <a:r>
              <a:rPr lang="en-US" sz="120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$200K+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552950" y="27051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76200" h="152400">
                <a:moveTo>
                  <a:pt x="9674" y="28575"/>
                </a:moveTo>
                <a:cubicBezTo>
                  <a:pt x="9674" y="24735"/>
                  <a:pt x="11996" y="21253"/>
                  <a:pt x="15567" y="19764"/>
                </a:cubicBezTo>
                <a:cubicBezTo>
                  <a:pt x="19139" y="18276"/>
                  <a:pt x="23217" y="19110"/>
                  <a:pt x="25926" y="21848"/>
                </a:cubicBezTo>
                <a:lnTo>
                  <a:pt x="73551" y="69473"/>
                </a:lnTo>
                <a:cubicBezTo>
                  <a:pt x="77272" y="73194"/>
                  <a:pt x="77272" y="79236"/>
                  <a:pt x="73551" y="82957"/>
                </a:cubicBezTo>
                <a:lnTo>
                  <a:pt x="25926" y="130582"/>
                </a:lnTo>
                <a:cubicBezTo>
                  <a:pt x="23187" y="133320"/>
                  <a:pt x="19110" y="134124"/>
                  <a:pt x="15538" y="132636"/>
                </a:cubicBezTo>
                <a:cubicBezTo>
                  <a:pt x="11966" y="131147"/>
                  <a:pt x="9674" y="127665"/>
                  <a:pt x="9674" y="123825"/>
                </a:cubicBezTo>
                <a:lnTo>
                  <a:pt x="9674" y="28575"/>
                </a:ln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762500" y="2667000"/>
            <a:ext cx="2400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Downtime cost: </a:t>
            </a:r>
            <a:r>
              <a:rPr lang="en-US" sz="120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$500K - $7M/day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552950" y="30480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76200" h="152400">
                <a:moveTo>
                  <a:pt x="9674" y="28575"/>
                </a:moveTo>
                <a:cubicBezTo>
                  <a:pt x="9674" y="24735"/>
                  <a:pt x="11996" y="21253"/>
                  <a:pt x="15567" y="19764"/>
                </a:cubicBezTo>
                <a:cubicBezTo>
                  <a:pt x="19139" y="18276"/>
                  <a:pt x="23217" y="19110"/>
                  <a:pt x="25926" y="21848"/>
                </a:cubicBezTo>
                <a:lnTo>
                  <a:pt x="73551" y="69473"/>
                </a:lnTo>
                <a:cubicBezTo>
                  <a:pt x="77272" y="73194"/>
                  <a:pt x="77272" y="79236"/>
                  <a:pt x="73551" y="82957"/>
                </a:cubicBezTo>
                <a:lnTo>
                  <a:pt x="25926" y="130582"/>
                </a:lnTo>
                <a:cubicBezTo>
                  <a:pt x="23187" y="133320"/>
                  <a:pt x="19110" y="134124"/>
                  <a:pt x="15538" y="132636"/>
                </a:cubicBezTo>
                <a:cubicBezTo>
                  <a:pt x="11966" y="131147"/>
                  <a:pt x="9674" y="127665"/>
                  <a:pt x="9674" y="123825"/>
                </a:cubicBezTo>
                <a:lnTo>
                  <a:pt x="9674" y="28575"/>
                </a:ln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762500" y="3009900"/>
            <a:ext cx="2943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Arctic winter failures = air freight at 10x cost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500563" y="4767263"/>
            <a:ext cx="3228975" cy="809625"/>
          </a:xfrm>
          <a:custGeom>
            <a:avLst/>
            <a:gdLst/>
            <a:ahLst/>
            <a:cxnLst/>
            <a:rect l="l" t="t" r="r" b="b"/>
            <a:pathLst>
              <a:path w="3228975" h="809625">
                <a:moveTo>
                  <a:pt x="38101" y="0"/>
                </a:moveTo>
                <a:lnTo>
                  <a:pt x="3190874" y="0"/>
                </a:lnTo>
                <a:cubicBezTo>
                  <a:pt x="3211917" y="0"/>
                  <a:pt x="3228975" y="17058"/>
                  <a:pt x="3228975" y="38101"/>
                </a:cubicBezTo>
                <a:lnTo>
                  <a:pt x="3228975" y="771524"/>
                </a:lnTo>
                <a:cubicBezTo>
                  <a:pt x="3228975" y="792567"/>
                  <a:pt x="3211917" y="809625"/>
                  <a:pt x="3190874" y="809625"/>
                </a:cubicBezTo>
                <a:lnTo>
                  <a:pt x="38101" y="809625"/>
                </a:lnTo>
                <a:cubicBezTo>
                  <a:pt x="17058" y="809625"/>
                  <a:pt x="0" y="792567"/>
                  <a:pt x="0" y="771524"/>
                </a:cubicBezTo>
                <a:lnTo>
                  <a:pt x="0" y="38101"/>
                </a:lnTo>
                <a:cubicBezTo>
                  <a:pt x="0" y="17058"/>
                  <a:pt x="17058" y="0"/>
                  <a:pt x="38101" y="0"/>
                </a:cubicBezTo>
                <a:close/>
              </a:path>
            </a:pathLst>
          </a:custGeom>
          <a:solidFill>
            <a:srgbClr val="E07A5F">
              <a:alpha val="10196"/>
            </a:srgbClr>
          </a:solidFill>
          <a:ln w="12700">
            <a:solidFill>
              <a:srgbClr val="E07A5F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619625" y="4886325"/>
            <a:ext cx="30575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"There is up to 88 million dollar downtime cost annually"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619625" y="5305425"/>
            <a:ext cx="3048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172450" y="1257300"/>
            <a:ext cx="3638550" cy="4514850"/>
          </a:xfrm>
          <a:custGeom>
            <a:avLst/>
            <a:gdLst/>
            <a:ahLst/>
            <a:cxnLst/>
            <a:rect l="l" t="t" r="r" b="b"/>
            <a:pathLst>
              <a:path w="3638550" h="4514850">
                <a:moveTo>
                  <a:pt x="38100" y="0"/>
                </a:moveTo>
                <a:lnTo>
                  <a:pt x="3562359" y="0"/>
                </a:lnTo>
                <a:cubicBezTo>
                  <a:pt x="3604438" y="0"/>
                  <a:pt x="3638550" y="34112"/>
                  <a:pt x="3638550" y="76191"/>
                </a:cubicBezTo>
                <a:lnTo>
                  <a:pt x="3638550" y="4438659"/>
                </a:lnTo>
                <a:cubicBezTo>
                  <a:pt x="3638550" y="4480738"/>
                  <a:pt x="3604438" y="4514850"/>
                  <a:pt x="3562359" y="4514850"/>
                </a:cubicBezTo>
                <a:lnTo>
                  <a:pt x="38100" y="4514850"/>
                </a:lnTo>
                <a:cubicBezTo>
                  <a:pt x="17058" y="4514850"/>
                  <a:pt x="0" y="4497792"/>
                  <a:pt x="0" y="4476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B2D42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8172450" y="1257300"/>
            <a:ext cx="38100" cy="4514850"/>
          </a:xfrm>
          <a:custGeom>
            <a:avLst/>
            <a:gdLst/>
            <a:ahLst/>
            <a:cxnLst/>
            <a:rect l="l" t="t" r="r" b="b"/>
            <a:pathLst>
              <a:path w="38100" h="4514850">
                <a:moveTo>
                  <a:pt x="38100" y="0"/>
                </a:moveTo>
                <a:lnTo>
                  <a:pt x="38100" y="0"/>
                </a:lnTo>
                <a:lnTo>
                  <a:pt x="38100" y="4514850"/>
                </a:lnTo>
                <a:lnTo>
                  <a:pt x="38100" y="4514850"/>
                </a:lnTo>
                <a:cubicBezTo>
                  <a:pt x="17072" y="4514850"/>
                  <a:pt x="0" y="4497778"/>
                  <a:pt x="0" y="4476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8382000" y="14478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8467725" y="1552575"/>
            <a:ext cx="214313" cy="171450"/>
          </a:xfrm>
          <a:custGeom>
            <a:avLst/>
            <a:gdLst/>
            <a:ahLst/>
            <a:cxnLst/>
            <a:rect l="l" t="t" r="r" b="b"/>
            <a:pathLst>
              <a:path w="214313" h="171450">
                <a:moveTo>
                  <a:pt x="21431" y="32147"/>
                </a:moveTo>
                <a:cubicBezTo>
                  <a:pt x="21431" y="20326"/>
                  <a:pt x="31042" y="10716"/>
                  <a:pt x="42863" y="10716"/>
                </a:cubicBezTo>
                <a:lnTo>
                  <a:pt x="139303" y="10716"/>
                </a:lnTo>
                <a:cubicBezTo>
                  <a:pt x="151124" y="10716"/>
                  <a:pt x="160734" y="20326"/>
                  <a:pt x="160734" y="32147"/>
                </a:cubicBezTo>
                <a:lnTo>
                  <a:pt x="160734" y="42863"/>
                </a:lnTo>
                <a:lnTo>
                  <a:pt x="177712" y="42863"/>
                </a:lnTo>
                <a:cubicBezTo>
                  <a:pt x="183405" y="42863"/>
                  <a:pt x="188863" y="45106"/>
                  <a:pt x="192881" y="49124"/>
                </a:cubicBezTo>
                <a:lnTo>
                  <a:pt x="208051" y="64294"/>
                </a:lnTo>
                <a:cubicBezTo>
                  <a:pt x="212069" y="68312"/>
                  <a:pt x="214313" y="73770"/>
                  <a:pt x="214313" y="79463"/>
                </a:cubicBezTo>
                <a:lnTo>
                  <a:pt x="214313" y="128588"/>
                </a:lnTo>
                <a:cubicBezTo>
                  <a:pt x="214313" y="140408"/>
                  <a:pt x="204702" y="150019"/>
                  <a:pt x="192881" y="150019"/>
                </a:cubicBezTo>
                <a:lnTo>
                  <a:pt x="191776" y="150019"/>
                </a:lnTo>
                <a:cubicBezTo>
                  <a:pt x="188294" y="162375"/>
                  <a:pt x="176908" y="171450"/>
                  <a:pt x="163413" y="171450"/>
                </a:cubicBezTo>
                <a:cubicBezTo>
                  <a:pt x="149918" y="171450"/>
                  <a:pt x="138566" y="162375"/>
                  <a:pt x="135050" y="150019"/>
                </a:cubicBezTo>
                <a:lnTo>
                  <a:pt x="100693" y="150019"/>
                </a:lnTo>
                <a:cubicBezTo>
                  <a:pt x="97211" y="162375"/>
                  <a:pt x="85825" y="171450"/>
                  <a:pt x="72330" y="171450"/>
                </a:cubicBezTo>
                <a:cubicBezTo>
                  <a:pt x="58835" y="171450"/>
                  <a:pt x="47484" y="162375"/>
                  <a:pt x="43968" y="150019"/>
                </a:cubicBezTo>
                <a:lnTo>
                  <a:pt x="42863" y="150019"/>
                </a:lnTo>
                <a:cubicBezTo>
                  <a:pt x="31042" y="150019"/>
                  <a:pt x="21431" y="140408"/>
                  <a:pt x="21431" y="128588"/>
                </a:cubicBezTo>
                <a:lnTo>
                  <a:pt x="21431" y="112514"/>
                </a:lnTo>
                <a:lnTo>
                  <a:pt x="8037" y="112514"/>
                </a:lnTo>
                <a:cubicBezTo>
                  <a:pt x="3583" y="112514"/>
                  <a:pt x="0" y="108931"/>
                  <a:pt x="0" y="104477"/>
                </a:cubicBezTo>
                <a:cubicBezTo>
                  <a:pt x="0" y="100024"/>
                  <a:pt x="3583" y="96441"/>
                  <a:pt x="8037" y="96441"/>
                </a:cubicBezTo>
                <a:lnTo>
                  <a:pt x="45541" y="96441"/>
                </a:lnTo>
                <a:cubicBezTo>
                  <a:pt x="49995" y="96441"/>
                  <a:pt x="53578" y="92858"/>
                  <a:pt x="53578" y="88404"/>
                </a:cubicBezTo>
                <a:cubicBezTo>
                  <a:pt x="53578" y="83950"/>
                  <a:pt x="49995" y="80367"/>
                  <a:pt x="45541" y="80367"/>
                </a:cubicBezTo>
                <a:lnTo>
                  <a:pt x="8037" y="80367"/>
                </a:lnTo>
                <a:cubicBezTo>
                  <a:pt x="3583" y="80367"/>
                  <a:pt x="0" y="76784"/>
                  <a:pt x="0" y="72330"/>
                </a:cubicBezTo>
                <a:cubicBezTo>
                  <a:pt x="0" y="67877"/>
                  <a:pt x="3583" y="64294"/>
                  <a:pt x="8037" y="64294"/>
                </a:cubicBezTo>
                <a:lnTo>
                  <a:pt x="66973" y="64294"/>
                </a:lnTo>
                <a:cubicBezTo>
                  <a:pt x="71426" y="64294"/>
                  <a:pt x="75009" y="60711"/>
                  <a:pt x="75009" y="56257"/>
                </a:cubicBezTo>
                <a:cubicBezTo>
                  <a:pt x="75009" y="51803"/>
                  <a:pt x="71426" y="48220"/>
                  <a:pt x="66973" y="48220"/>
                </a:cubicBezTo>
                <a:lnTo>
                  <a:pt x="8037" y="48220"/>
                </a:lnTo>
                <a:cubicBezTo>
                  <a:pt x="3583" y="48220"/>
                  <a:pt x="0" y="44637"/>
                  <a:pt x="0" y="40184"/>
                </a:cubicBezTo>
                <a:cubicBezTo>
                  <a:pt x="0" y="35730"/>
                  <a:pt x="3583" y="32147"/>
                  <a:pt x="8037" y="32147"/>
                </a:cubicBezTo>
                <a:lnTo>
                  <a:pt x="21431" y="32147"/>
                </a:lnTo>
                <a:close/>
                <a:moveTo>
                  <a:pt x="192881" y="96441"/>
                </a:moveTo>
                <a:lnTo>
                  <a:pt x="192881" y="79463"/>
                </a:lnTo>
                <a:lnTo>
                  <a:pt x="177712" y="64294"/>
                </a:lnTo>
                <a:lnTo>
                  <a:pt x="160734" y="64294"/>
                </a:lnTo>
                <a:lnTo>
                  <a:pt x="160734" y="96441"/>
                </a:lnTo>
                <a:lnTo>
                  <a:pt x="192881" y="96441"/>
                </a:lnTo>
                <a:close/>
                <a:moveTo>
                  <a:pt x="85725" y="141982"/>
                </a:moveTo>
                <a:cubicBezTo>
                  <a:pt x="85725" y="134589"/>
                  <a:pt x="79723" y="128588"/>
                  <a:pt x="72330" y="128588"/>
                </a:cubicBezTo>
                <a:cubicBezTo>
                  <a:pt x="64938" y="128588"/>
                  <a:pt x="58936" y="134589"/>
                  <a:pt x="58936" y="141982"/>
                </a:cubicBezTo>
                <a:cubicBezTo>
                  <a:pt x="58936" y="149375"/>
                  <a:pt x="64938" y="155377"/>
                  <a:pt x="72330" y="155377"/>
                </a:cubicBezTo>
                <a:cubicBezTo>
                  <a:pt x="79723" y="155377"/>
                  <a:pt x="85725" y="149375"/>
                  <a:pt x="85725" y="141982"/>
                </a:cubicBezTo>
                <a:close/>
                <a:moveTo>
                  <a:pt x="163413" y="155377"/>
                </a:moveTo>
                <a:cubicBezTo>
                  <a:pt x="170806" y="155377"/>
                  <a:pt x="176808" y="149375"/>
                  <a:pt x="176808" y="141982"/>
                </a:cubicBezTo>
                <a:cubicBezTo>
                  <a:pt x="176808" y="134589"/>
                  <a:pt x="170806" y="128588"/>
                  <a:pt x="163413" y="128588"/>
                </a:cubicBezTo>
                <a:cubicBezTo>
                  <a:pt x="156021" y="128588"/>
                  <a:pt x="150019" y="134589"/>
                  <a:pt x="150019" y="141982"/>
                </a:cubicBezTo>
                <a:cubicBezTo>
                  <a:pt x="150019" y="149375"/>
                  <a:pt x="156021" y="155377"/>
                  <a:pt x="163413" y="155377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8877300" y="1504950"/>
            <a:ext cx="2238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Logistics Nightmare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439150" y="20193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76200" h="152400">
                <a:moveTo>
                  <a:pt x="9674" y="28575"/>
                </a:moveTo>
                <a:cubicBezTo>
                  <a:pt x="9674" y="24735"/>
                  <a:pt x="11996" y="21253"/>
                  <a:pt x="15567" y="19764"/>
                </a:cubicBezTo>
                <a:cubicBezTo>
                  <a:pt x="19139" y="18276"/>
                  <a:pt x="23217" y="19110"/>
                  <a:pt x="25926" y="21848"/>
                </a:cubicBezTo>
                <a:lnTo>
                  <a:pt x="73551" y="69473"/>
                </a:lnTo>
                <a:cubicBezTo>
                  <a:pt x="77272" y="73194"/>
                  <a:pt x="77272" y="79236"/>
                  <a:pt x="73551" y="82957"/>
                </a:cubicBezTo>
                <a:lnTo>
                  <a:pt x="25926" y="130582"/>
                </a:lnTo>
                <a:cubicBezTo>
                  <a:pt x="23187" y="133320"/>
                  <a:pt x="19110" y="134124"/>
                  <a:pt x="15538" y="132636"/>
                </a:cubicBezTo>
                <a:cubicBezTo>
                  <a:pt x="11966" y="131147"/>
                  <a:pt x="9674" y="127665"/>
                  <a:pt x="9674" y="123825"/>
                </a:cubicBezTo>
                <a:lnTo>
                  <a:pt x="9674" y="28575"/>
                </a:ln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8648700" y="1981200"/>
            <a:ext cx="2552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A6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Chopper:</a:t>
            </a:r>
            <a:r>
              <a:rPr lang="en-US" sz="120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Fast, costly, light loads only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429625" y="23622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76200" h="152400">
                <a:moveTo>
                  <a:pt x="9674" y="28575"/>
                </a:moveTo>
                <a:cubicBezTo>
                  <a:pt x="9674" y="24735"/>
                  <a:pt x="11996" y="21253"/>
                  <a:pt x="15567" y="19764"/>
                </a:cubicBezTo>
                <a:cubicBezTo>
                  <a:pt x="19139" y="18276"/>
                  <a:pt x="23217" y="19110"/>
                  <a:pt x="25926" y="21848"/>
                </a:cubicBezTo>
                <a:lnTo>
                  <a:pt x="73551" y="69473"/>
                </a:lnTo>
                <a:cubicBezTo>
                  <a:pt x="77272" y="73194"/>
                  <a:pt x="77272" y="79236"/>
                  <a:pt x="73551" y="82957"/>
                </a:cubicBezTo>
                <a:lnTo>
                  <a:pt x="25926" y="130582"/>
                </a:lnTo>
                <a:cubicBezTo>
                  <a:pt x="23187" y="133320"/>
                  <a:pt x="19110" y="134124"/>
                  <a:pt x="15538" y="132636"/>
                </a:cubicBezTo>
                <a:cubicBezTo>
                  <a:pt x="11966" y="131147"/>
                  <a:pt x="9674" y="127665"/>
                  <a:pt x="9674" y="123825"/>
                </a:cubicBezTo>
                <a:lnTo>
                  <a:pt x="9674" y="28575"/>
                </a:ln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8625681" y="2324100"/>
            <a:ext cx="30670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A6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Supply vessel:</a:t>
            </a:r>
            <a:r>
              <a:rPr lang="en-US" sz="120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Cheap, heavy, but </a:t>
            </a:r>
            <a:r>
              <a:rPr lang="en-US" sz="120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SLOW</a:t>
            </a:r>
            <a:r>
              <a:rPr lang="en-US" sz="120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(10+ days)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439150" y="29337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76200" h="152400">
                <a:moveTo>
                  <a:pt x="9674" y="28575"/>
                </a:moveTo>
                <a:cubicBezTo>
                  <a:pt x="9674" y="24735"/>
                  <a:pt x="11996" y="21253"/>
                  <a:pt x="15567" y="19764"/>
                </a:cubicBezTo>
                <a:cubicBezTo>
                  <a:pt x="19139" y="18276"/>
                  <a:pt x="23217" y="19110"/>
                  <a:pt x="25926" y="21848"/>
                </a:cubicBezTo>
                <a:lnTo>
                  <a:pt x="73551" y="69473"/>
                </a:lnTo>
                <a:cubicBezTo>
                  <a:pt x="77272" y="73194"/>
                  <a:pt x="77272" y="79236"/>
                  <a:pt x="73551" y="82957"/>
                </a:cubicBezTo>
                <a:lnTo>
                  <a:pt x="25926" y="130582"/>
                </a:lnTo>
                <a:cubicBezTo>
                  <a:pt x="23187" y="133320"/>
                  <a:pt x="19110" y="134124"/>
                  <a:pt x="15538" y="132636"/>
                </a:cubicBezTo>
                <a:cubicBezTo>
                  <a:pt x="11966" y="131147"/>
                  <a:pt x="9674" y="127665"/>
                  <a:pt x="9674" y="123825"/>
                </a:cubicBezTo>
                <a:lnTo>
                  <a:pt x="9674" y="28575"/>
                </a:ln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8648700" y="2895600"/>
            <a:ext cx="2686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Arctic access windows create stranding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8434388" y="32766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76200" h="152400">
                <a:moveTo>
                  <a:pt x="9674" y="28575"/>
                </a:moveTo>
                <a:cubicBezTo>
                  <a:pt x="9674" y="24735"/>
                  <a:pt x="11996" y="21253"/>
                  <a:pt x="15567" y="19764"/>
                </a:cubicBezTo>
                <a:cubicBezTo>
                  <a:pt x="19139" y="18276"/>
                  <a:pt x="23217" y="19110"/>
                  <a:pt x="25926" y="21848"/>
                </a:cubicBezTo>
                <a:lnTo>
                  <a:pt x="73551" y="69473"/>
                </a:lnTo>
                <a:cubicBezTo>
                  <a:pt x="77272" y="73194"/>
                  <a:pt x="77272" y="79236"/>
                  <a:pt x="73551" y="82957"/>
                </a:cubicBezTo>
                <a:lnTo>
                  <a:pt x="25926" y="130582"/>
                </a:lnTo>
                <a:cubicBezTo>
                  <a:pt x="23187" y="133320"/>
                  <a:pt x="19110" y="134124"/>
                  <a:pt x="15538" y="132636"/>
                </a:cubicBezTo>
                <a:cubicBezTo>
                  <a:pt x="11966" y="131147"/>
                  <a:pt x="9674" y="127665"/>
                  <a:pt x="9674" y="123825"/>
                </a:cubicBezTo>
                <a:lnTo>
                  <a:pt x="9674" y="28575"/>
                </a:ln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8637270" y="3238500"/>
            <a:ext cx="30575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Summer sealift vs winter air freight amplification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8386763" y="4957763"/>
            <a:ext cx="3228975" cy="619125"/>
          </a:xfrm>
          <a:custGeom>
            <a:avLst/>
            <a:gdLst/>
            <a:ahLst/>
            <a:cxnLst/>
            <a:rect l="l" t="t" r="r" b="b"/>
            <a:pathLst>
              <a:path w="3228975" h="619125">
                <a:moveTo>
                  <a:pt x="38101" y="0"/>
                </a:moveTo>
                <a:lnTo>
                  <a:pt x="3190874" y="0"/>
                </a:lnTo>
                <a:cubicBezTo>
                  <a:pt x="3211917" y="0"/>
                  <a:pt x="3228975" y="17058"/>
                  <a:pt x="3228975" y="38101"/>
                </a:cubicBezTo>
                <a:lnTo>
                  <a:pt x="3228975" y="581024"/>
                </a:lnTo>
                <a:cubicBezTo>
                  <a:pt x="3228975" y="602067"/>
                  <a:pt x="3211917" y="619125"/>
                  <a:pt x="3190874" y="619125"/>
                </a:cubicBezTo>
                <a:lnTo>
                  <a:pt x="38101" y="619125"/>
                </a:lnTo>
                <a:cubicBezTo>
                  <a:pt x="17058" y="619125"/>
                  <a:pt x="0" y="602067"/>
                  <a:pt x="0" y="581024"/>
                </a:cubicBezTo>
                <a:lnTo>
                  <a:pt x="0" y="38101"/>
                </a:lnTo>
                <a:cubicBezTo>
                  <a:pt x="0" y="17058"/>
                  <a:pt x="17058" y="0"/>
                  <a:pt x="38101" y="0"/>
                </a:cubicBezTo>
                <a:close/>
              </a:path>
            </a:pathLst>
          </a:custGeom>
          <a:solidFill>
            <a:srgbClr val="E07A5F">
              <a:alpha val="10196"/>
            </a:srgbClr>
          </a:solidFill>
          <a:ln w="12700">
            <a:solidFill>
              <a:srgbClr val="E07A5F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8505825" y="5076825"/>
            <a:ext cx="3057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"We charter aircraft for a doorknob"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8505825" y="5305425"/>
            <a:ext cx="3048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385763" y="5929313"/>
            <a:ext cx="11420475" cy="542925"/>
          </a:xfrm>
          <a:custGeom>
            <a:avLst/>
            <a:gdLst/>
            <a:ahLst/>
            <a:cxnLst/>
            <a:rect l="l" t="t" r="r" b="b"/>
            <a:pathLst>
              <a:path w="11420475" h="542925">
                <a:moveTo>
                  <a:pt x="76200" y="0"/>
                </a:moveTo>
                <a:lnTo>
                  <a:pt x="11344275" y="0"/>
                </a:lnTo>
                <a:cubicBezTo>
                  <a:pt x="11386359" y="0"/>
                  <a:pt x="11420475" y="34116"/>
                  <a:pt x="11420475" y="76200"/>
                </a:cubicBezTo>
                <a:lnTo>
                  <a:pt x="11420475" y="466725"/>
                </a:lnTo>
                <a:cubicBezTo>
                  <a:pt x="11420475" y="508809"/>
                  <a:pt x="11386359" y="542925"/>
                  <a:pt x="11344275" y="542925"/>
                </a:cubicBezTo>
                <a:lnTo>
                  <a:pt x="76200" y="542925"/>
                </a:lnTo>
                <a:cubicBezTo>
                  <a:pt x="34116" y="542925"/>
                  <a:pt x="0" y="508809"/>
                  <a:pt x="0" y="466725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12700">
            <a:solidFill>
              <a:srgbClr val="4A6C8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542925" y="6086475"/>
            <a:ext cx="8553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Validated by talking with various industries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10558621" y="61245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10806271" y="6105525"/>
            <a:ext cx="904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35+ Interviews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Why Now?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Industry Already Knows Digital Inventory Works—They're Just Waiting for Someone to Handle Certification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5763" y="1566863"/>
            <a:ext cx="5591175" cy="5153025"/>
          </a:xfrm>
          <a:custGeom>
            <a:avLst/>
            <a:gdLst/>
            <a:ahLst/>
            <a:cxnLst/>
            <a:rect l="l" t="t" r="r" b="b"/>
            <a:pathLst>
              <a:path w="5591175" h="5153025">
                <a:moveTo>
                  <a:pt x="76213" y="0"/>
                </a:moveTo>
                <a:lnTo>
                  <a:pt x="5514962" y="0"/>
                </a:lnTo>
                <a:cubicBezTo>
                  <a:pt x="5557053" y="0"/>
                  <a:pt x="5591175" y="34122"/>
                  <a:pt x="5591175" y="76213"/>
                </a:cubicBezTo>
                <a:lnTo>
                  <a:pt x="5591175" y="5076812"/>
                </a:lnTo>
                <a:cubicBezTo>
                  <a:pt x="5591175" y="5118903"/>
                  <a:pt x="5557053" y="5153025"/>
                  <a:pt x="5514962" y="5153025"/>
                </a:cubicBezTo>
                <a:lnTo>
                  <a:pt x="76213" y="5153025"/>
                </a:lnTo>
                <a:cubicBezTo>
                  <a:pt x="34122" y="5153025"/>
                  <a:pt x="0" y="5118903"/>
                  <a:pt x="0" y="5076812"/>
                </a:cubicBezTo>
                <a:lnTo>
                  <a:pt x="0" y="76213"/>
                </a:lnTo>
                <a:cubicBezTo>
                  <a:pt x="0" y="34150"/>
                  <a:pt x="34150" y="0"/>
                  <a:pt x="76213" y="0"/>
                </a:cubicBezTo>
                <a:close/>
              </a:path>
            </a:pathLst>
          </a:custGeom>
          <a:solidFill>
            <a:srgbClr val="2B2D42">
              <a:alpha val="40000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66738" y="17621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1906" y="11906"/>
                </a:moveTo>
                <a:cubicBezTo>
                  <a:pt x="5321" y="11906"/>
                  <a:pt x="0" y="17227"/>
                  <a:pt x="0" y="23812"/>
                </a:cubicBezTo>
                <a:lnTo>
                  <a:pt x="0" y="160734"/>
                </a:lnTo>
                <a:cubicBezTo>
                  <a:pt x="0" y="170594"/>
                  <a:pt x="8000" y="178594"/>
                  <a:pt x="17859" y="178594"/>
                </a:cubicBezTo>
                <a:lnTo>
                  <a:pt x="172641" y="178594"/>
                </a:lnTo>
                <a:cubicBezTo>
                  <a:pt x="182500" y="178594"/>
                  <a:pt x="190500" y="170594"/>
                  <a:pt x="190500" y="160734"/>
                </a:cubicBezTo>
                <a:lnTo>
                  <a:pt x="190500" y="56629"/>
                </a:lnTo>
                <a:cubicBezTo>
                  <a:pt x="190500" y="49857"/>
                  <a:pt x="183282" y="45579"/>
                  <a:pt x="177329" y="48778"/>
                </a:cubicBezTo>
                <a:lnTo>
                  <a:pt x="119063" y="80144"/>
                </a:lnTo>
                <a:lnTo>
                  <a:pt x="119063" y="56629"/>
                </a:lnTo>
                <a:cubicBezTo>
                  <a:pt x="119063" y="49857"/>
                  <a:pt x="111844" y="45579"/>
                  <a:pt x="105891" y="48778"/>
                </a:cubicBezTo>
                <a:lnTo>
                  <a:pt x="47625" y="80144"/>
                </a:lnTo>
                <a:lnTo>
                  <a:pt x="47625" y="23812"/>
                </a:lnTo>
                <a:cubicBezTo>
                  <a:pt x="47625" y="17227"/>
                  <a:pt x="42304" y="11906"/>
                  <a:pt x="35719" y="11906"/>
                </a:cubicBezTo>
                <a:lnTo>
                  <a:pt x="11906" y="11906"/>
                </a:ln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81050" y="1724025"/>
            <a:ext cx="5133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Major Operators Already Investing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2925" y="2105025"/>
            <a:ext cx="5276850" cy="1638300"/>
          </a:xfrm>
          <a:custGeom>
            <a:avLst/>
            <a:gdLst/>
            <a:ahLst/>
            <a:cxnLst/>
            <a:rect l="l" t="t" r="r" b="b"/>
            <a:pathLst>
              <a:path w="5276850" h="1638300">
                <a:moveTo>
                  <a:pt x="38107" y="0"/>
                </a:moveTo>
                <a:lnTo>
                  <a:pt x="5238743" y="0"/>
                </a:lnTo>
                <a:cubicBezTo>
                  <a:pt x="5259789" y="0"/>
                  <a:pt x="5276850" y="17061"/>
                  <a:pt x="5276850" y="38107"/>
                </a:cubicBezTo>
                <a:lnTo>
                  <a:pt x="5276850" y="1600193"/>
                </a:lnTo>
                <a:cubicBezTo>
                  <a:pt x="5276850" y="1621239"/>
                  <a:pt x="5259789" y="1638300"/>
                  <a:pt x="5238743" y="1638300"/>
                </a:cubicBezTo>
                <a:lnTo>
                  <a:pt x="38107" y="1638300"/>
                </a:lnTo>
                <a:cubicBezTo>
                  <a:pt x="17061" y="1638300"/>
                  <a:pt x="0" y="1621239"/>
                  <a:pt x="0" y="1600193"/>
                </a:cubicBezTo>
                <a:lnTo>
                  <a:pt x="0" y="38107"/>
                </a:lnTo>
                <a:cubicBezTo>
                  <a:pt x="0" y="17075"/>
                  <a:pt x="17075" y="0"/>
                  <a:pt x="38107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57225" y="2219325"/>
            <a:ext cx="895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ExxonMobil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201444" y="2219325"/>
            <a:ext cx="561975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78656" y="2562225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76300" y="2524125"/>
            <a:ext cx="3171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SMART Labin MUN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78656" y="2790825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76300" y="2752725"/>
            <a:ext cx="3752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Full supply chain: Materials → Printing → Certification → Testing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78656" y="3019425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76300" y="2981325"/>
            <a:ext cx="1943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Multiple metal printers deployed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78656" y="3248025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76300" y="3209925"/>
            <a:ext cx="1866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FieldNode consortium member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57225" y="3476625"/>
            <a:ext cx="5105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2925" y="3857625"/>
            <a:ext cx="5276850" cy="1409700"/>
          </a:xfrm>
          <a:custGeom>
            <a:avLst/>
            <a:gdLst/>
            <a:ahLst/>
            <a:cxnLst/>
            <a:rect l="l" t="t" r="r" b="b"/>
            <a:pathLst>
              <a:path w="5276850" h="1409700">
                <a:moveTo>
                  <a:pt x="38104" y="0"/>
                </a:moveTo>
                <a:lnTo>
                  <a:pt x="5238746" y="0"/>
                </a:lnTo>
                <a:cubicBezTo>
                  <a:pt x="5259790" y="0"/>
                  <a:pt x="5276850" y="17060"/>
                  <a:pt x="5276850" y="38104"/>
                </a:cubicBezTo>
                <a:lnTo>
                  <a:pt x="5276850" y="1371596"/>
                </a:lnTo>
                <a:cubicBezTo>
                  <a:pt x="5276850" y="1392640"/>
                  <a:pt x="5259790" y="1409700"/>
                  <a:pt x="5238746" y="1409700"/>
                </a:cubicBezTo>
                <a:lnTo>
                  <a:pt x="38104" y="1409700"/>
                </a:lnTo>
                <a:cubicBezTo>
                  <a:pt x="17060" y="1409700"/>
                  <a:pt x="0" y="1392640"/>
                  <a:pt x="0" y="1371596"/>
                </a:cubicBezTo>
                <a:lnTo>
                  <a:pt x="0" y="38104"/>
                </a:lnTo>
                <a:cubicBezTo>
                  <a:pt x="0" y="17074"/>
                  <a:pt x="17074" y="0"/>
                  <a:pt x="38104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57225" y="3971925"/>
            <a:ext cx="1581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Equinor + ExxonMobil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998402" y="3971925"/>
            <a:ext cx="704850" cy="228600"/>
          </a:xfrm>
          <a:custGeom>
            <a:avLst/>
            <a:gdLst/>
            <a:ahLst/>
            <a:cxnLst/>
            <a:rect l="l" t="t" r="r" b="b"/>
            <a:pathLst>
              <a:path w="704850" h="228600">
                <a:moveTo>
                  <a:pt x="38101" y="0"/>
                </a:moveTo>
                <a:lnTo>
                  <a:pt x="666749" y="0"/>
                </a:lnTo>
                <a:cubicBezTo>
                  <a:pt x="687792" y="0"/>
                  <a:pt x="704850" y="17058"/>
                  <a:pt x="704850" y="38101"/>
                </a:cubicBezTo>
                <a:lnTo>
                  <a:pt x="704850" y="190499"/>
                </a:lnTo>
                <a:cubicBezTo>
                  <a:pt x="704850" y="211542"/>
                  <a:pt x="687792" y="228600"/>
                  <a:pt x="66674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998402" y="3971925"/>
            <a:ext cx="76200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4A6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Multi-Year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78656" y="4314825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76300" y="4276725"/>
            <a:ext cx="3362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Equinor contracted Siemens for digital inventory platform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78656" y="4543425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76300" y="4505325"/>
            <a:ext cx="2581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Goal: Digitalize 50% of inventory in 10 years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78656" y="4772025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76300" y="4733925"/>
            <a:ext cx="3533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Platform model: "Send CAD to local facility close to location"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57225" y="5000625"/>
            <a:ext cx="5105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4A6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"Equinor did same thing... asked Siemens" — Dr. Nasiri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42925" y="5381625"/>
            <a:ext cx="5276850" cy="1181100"/>
          </a:xfrm>
          <a:custGeom>
            <a:avLst/>
            <a:gdLst/>
            <a:ahLst/>
            <a:cxnLst/>
            <a:rect l="l" t="t" r="r" b="b"/>
            <a:pathLst>
              <a:path w="5276850" h="1181100">
                <a:moveTo>
                  <a:pt x="38102" y="0"/>
                </a:moveTo>
                <a:lnTo>
                  <a:pt x="5238748" y="0"/>
                </a:lnTo>
                <a:cubicBezTo>
                  <a:pt x="5259777" y="0"/>
                  <a:pt x="5276850" y="17073"/>
                  <a:pt x="5276850" y="38102"/>
                </a:cubicBezTo>
                <a:lnTo>
                  <a:pt x="5276850" y="1142998"/>
                </a:lnTo>
                <a:cubicBezTo>
                  <a:pt x="5276850" y="1164041"/>
                  <a:pt x="5259791" y="1181100"/>
                  <a:pt x="5238748" y="1181100"/>
                </a:cubicBezTo>
                <a:lnTo>
                  <a:pt x="38102" y="1181100"/>
                </a:lnTo>
                <a:cubicBezTo>
                  <a:pt x="17073" y="1181100"/>
                  <a:pt x="0" y="1164027"/>
                  <a:pt x="0" y="114299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57225" y="5495925"/>
            <a:ext cx="1114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Canadian Navy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224304" y="5495925"/>
            <a:ext cx="485775" cy="228600"/>
          </a:xfrm>
          <a:custGeom>
            <a:avLst/>
            <a:gdLst/>
            <a:ahLst/>
            <a:cxnLst/>
            <a:rect l="l" t="t" r="r" b="b"/>
            <a:pathLst>
              <a:path w="485775" h="228600">
                <a:moveTo>
                  <a:pt x="38101" y="0"/>
                </a:moveTo>
                <a:lnTo>
                  <a:pt x="447674" y="0"/>
                </a:lnTo>
                <a:cubicBezTo>
                  <a:pt x="468717" y="0"/>
                  <a:pt x="485775" y="17058"/>
                  <a:pt x="485775" y="38101"/>
                </a:cubicBezTo>
                <a:lnTo>
                  <a:pt x="485775" y="190499"/>
                </a:lnTo>
                <a:cubicBezTo>
                  <a:pt x="485775" y="211542"/>
                  <a:pt x="468717" y="228600"/>
                  <a:pt x="447674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224304" y="5495925"/>
            <a:ext cx="542925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4A6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Active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78656" y="5838825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876300" y="5800725"/>
            <a:ext cx="2952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Thales + Cove partnership for Arctic Patrol Vessels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78656" y="6067425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876300" y="6029325"/>
            <a:ext cx="3390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AM challenge: "Digital library" of parts (our exact concept)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57225" y="6296025"/>
            <a:ext cx="5105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4A6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"Beginning of challenge" = early stage opportunity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215063" y="1566863"/>
            <a:ext cx="5591175" cy="3228975"/>
          </a:xfrm>
          <a:custGeom>
            <a:avLst/>
            <a:gdLst/>
            <a:ahLst/>
            <a:cxnLst/>
            <a:rect l="l" t="t" r="r" b="b"/>
            <a:pathLst>
              <a:path w="5591175" h="3228975">
                <a:moveTo>
                  <a:pt x="76204" y="0"/>
                </a:moveTo>
                <a:lnTo>
                  <a:pt x="5514971" y="0"/>
                </a:lnTo>
                <a:cubicBezTo>
                  <a:pt x="5557057" y="0"/>
                  <a:pt x="5591175" y="34118"/>
                  <a:pt x="5591175" y="76204"/>
                </a:cubicBezTo>
                <a:lnTo>
                  <a:pt x="5591175" y="3152771"/>
                </a:lnTo>
                <a:cubicBezTo>
                  <a:pt x="5591175" y="3194857"/>
                  <a:pt x="5557057" y="3228975"/>
                  <a:pt x="5514971" y="3228975"/>
                </a:cubicBezTo>
                <a:lnTo>
                  <a:pt x="76204" y="3228975"/>
                </a:lnTo>
                <a:cubicBezTo>
                  <a:pt x="34118" y="3228975"/>
                  <a:pt x="0" y="3194857"/>
                  <a:pt x="0" y="315277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2B2D42">
              <a:alpha val="40000"/>
            </a:srgbClr>
          </a:solidFill>
          <a:ln w="12700">
            <a:solidFill>
              <a:srgbClr val="E07A5F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6396038" y="17621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25016" y="130969"/>
                </a:moveTo>
                <a:cubicBezTo>
                  <a:pt x="161181" y="130969"/>
                  <a:pt x="190500" y="101650"/>
                  <a:pt x="190500" y="65484"/>
                </a:cubicBezTo>
                <a:cubicBezTo>
                  <a:pt x="190500" y="29319"/>
                  <a:pt x="161181" y="0"/>
                  <a:pt x="125016" y="0"/>
                </a:cubicBezTo>
                <a:cubicBezTo>
                  <a:pt x="88850" y="0"/>
                  <a:pt x="59531" y="29319"/>
                  <a:pt x="59531" y="65484"/>
                </a:cubicBezTo>
                <a:cubicBezTo>
                  <a:pt x="59531" y="72442"/>
                  <a:pt x="60610" y="79177"/>
                  <a:pt x="62619" y="85465"/>
                </a:cubicBezTo>
                <a:lnTo>
                  <a:pt x="2604" y="145479"/>
                </a:lnTo>
                <a:cubicBezTo>
                  <a:pt x="930" y="147154"/>
                  <a:pt x="0" y="149423"/>
                  <a:pt x="0" y="151805"/>
                </a:cubicBezTo>
                <a:lnTo>
                  <a:pt x="0" y="181570"/>
                </a:lnTo>
                <a:cubicBezTo>
                  <a:pt x="0" y="186519"/>
                  <a:pt x="3981" y="190500"/>
                  <a:pt x="8930" y="190500"/>
                </a:cubicBezTo>
                <a:lnTo>
                  <a:pt x="38695" y="190500"/>
                </a:lnTo>
                <a:cubicBezTo>
                  <a:pt x="43644" y="190500"/>
                  <a:pt x="47625" y="186519"/>
                  <a:pt x="47625" y="181570"/>
                </a:cubicBezTo>
                <a:lnTo>
                  <a:pt x="47625" y="166688"/>
                </a:lnTo>
                <a:lnTo>
                  <a:pt x="62508" y="166688"/>
                </a:lnTo>
                <a:cubicBezTo>
                  <a:pt x="67456" y="166688"/>
                  <a:pt x="71438" y="162706"/>
                  <a:pt x="71438" y="157758"/>
                </a:cubicBezTo>
                <a:lnTo>
                  <a:pt x="71438" y="142875"/>
                </a:lnTo>
                <a:lnTo>
                  <a:pt x="86320" y="142875"/>
                </a:lnTo>
                <a:cubicBezTo>
                  <a:pt x="88702" y="142875"/>
                  <a:pt x="90971" y="141945"/>
                  <a:pt x="92646" y="140271"/>
                </a:cubicBezTo>
                <a:lnTo>
                  <a:pt x="105035" y="127881"/>
                </a:lnTo>
                <a:cubicBezTo>
                  <a:pt x="111323" y="129890"/>
                  <a:pt x="118058" y="130969"/>
                  <a:pt x="125016" y="130969"/>
                </a:cubicBezTo>
                <a:close/>
                <a:moveTo>
                  <a:pt x="139898" y="35719"/>
                </a:moveTo>
                <a:cubicBezTo>
                  <a:pt x="148112" y="35719"/>
                  <a:pt x="154781" y="42388"/>
                  <a:pt x="154781" y="50602"/>
                </a:cubicBezTo>
                <a:cubicBezTo>
                  <a:pt x="154781" y="58816"/>
                  <a:pt x="148112" y="65484"/>
                  <a:pt x="139898" y="65484"/>
                </a:cubicBezTo>
                <a:cubicBezTo>
                  <a:pt x="131684" y="65484"/>
                  <a:pt x="125016" y="58816"/>
                  <a:pt x="125016" y="50602"/>
                </a:cubicBezTo>
                <a:cubicBezTo>
                  <a:pt x="125016" y="42388"/>
                  <a:pt x="131684" y="35719"/>
                  <a:pt x="139898" y="35719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610350" y="1724025"/>
            <a:ext cx="5133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Missing Piece—PERMISSION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372225" y="2105025"/>
            <a:ext cx="5276850" cy="1790700"/>
          </a:xfrm>
          <a:custGeom>
            <a:avLst/>
            <a:gdLst/>
            <a:ahLst/>
            <a:cxnLst/>
            <a:rect l="l" t="t" r="r" b="b"/>
            <a:pathLst>
              <a:path w="5276850" h="1790700">
                <a:moveTo>
                  <a:pt x="38106" y="0"/>
                </a:moveTo>
                <a:lnTo>
                  <a:pt x="5238744" y="0"/>
                </a:lnTo>
                <a:cubicBezTo>
                  <a:pt x="5259789" y="0"/>
                  <a:pt x="5276850" y="17061"/>
                  <a:pt x="5276850" y="38106"/>
                </a:cubicBezTo>
                <a:lnTo>
                  <a:pt x="5276850" y="1752594"/>
                </a:lnTo>
                <a:cubicBezTo>
                  <a:pt x="5276850" y="1773639"/>
                  <a:pt x="5259789" y="1790700"/>
                  <a:pt x="5238744" y="1790700"/>
                </a:cubicBezTo>
                <a:lnTo>
                  <a:pt x="38106" y="1790700"/>
                </a:lnTo>
                <a:cubicBezTo>
                  <a:pt x="17061" y="1790700"/>
                  <a:pt x="0" y="1773639"/>
                  <a:pt x="0" y="1752594"/>
                </a:cubicBezTo>
                <a:lnTo>
                  <a:pt x="0" y="38106"/>
                </a:lnTo>
                <a:cubicBezTo>
                  <a:pt x="0" y="17075"/>
                  <a:pt x="17075" y="0"/>
                  <a:pt x="38106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486525" y="2219325"/>
            <a:ext cx="5114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Value-Capability-Permission Framework </a:t>
            </a:r>
            <a:r>
              <a:rPr lang="en-US" sz="9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(Tyler Beatty)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486525" y="252412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00C950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6572250" y="260032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05DF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905625" y="2486025"/>
            <a:ext cx="4705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VALUE: PROVEN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905625" y="2714625"/>
            <a:ext cx="4686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"Eliminate supply chain = value"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486525" y="298132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00C950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6572250" y="305752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05DF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6905625" y="2943225"/>
            <a:ext cx="4705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CAPABILITY: PROVEN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905625" y="3171825"/>
            <a:ext cx="4686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"We can print parts"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486525" y="343852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6581775" y="3514725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16401" y="21848"/>
                </a:moveTo>
                <a:cubicBezTo>
                  <a:pt x="12680" y="18127"/>
                  <a:pt x="6638" y="18127"/>
                  <a:pt x="2917" y="21848"/>
                </a:cubicBezTo>
                <a:cubicBezTo>
                  <a:pt x="-804" y="25569"/>
                  <a:pt x="-804" y="31611"/>
                  <a:pt x="2917" y="35332"/>
                </a:cubicBezTo>
                <a:lnTo>
                  <a:pt x="43815" y="76200"/>
                </a:lnTo>
                <a:lnTo>
                  <a:pt x="2947" y="117098"/>
                </a:lnTo>
                <a:cubicBezTo>
                  <a:pt x="-774" y="120819"/>
                  <a:pt x="-774" y="126861"/>
                  <a:pt x="2947" y="130582"/>
                </a:cubicBezTo>
                <a:cubicBezTo>
                  <a:pt x="6668" y="134303"/>
                  <a:pt x="12710" y="134303"/>
                  <a:pt x="16431" y="130582"/>
                </a:cubicBezTo>
                <a:lnTo>
                  <a:pt x="57299" y="89684"/>
                </a:lnTo>
                <a:lnTo>
                  <a:pt x="98197" y="130552"/>
                </a:lnTo>
                <a:cubicBezTo>
                  <a:pt x="101918" y="134273"/>
                  <a:pt x="107960" y="134273"/>
                  <a:pt x="111681" y="130552"/>
                </a:cubicBezTo>
                <a:cubicBezTo>
                  <a:pt x="115401" y="126831"/>
                  <a:pt x="115401" y="120789"/>
                  <a:pt x="111681" y="117068"/>
                </a:cubicBezTo>
                <a:lnTo>
                  <a:pt x="70783" y="76200"/>
                </a:lnTo>
                <a:lnTo>
                  <a:pt x="111651" y="35302"/>
                </a:lnTo>
                <a:cubicBezTo>
                  <a:pt x="115372" y="31581"/>
                  <a:pt x="115372" y="25539"/>
                  <a:pt x="111651" y="21818"/>
                </a:cubicBezTo>
                <a:cubicBezTo>
                  <a:pt x="107930" y="18098"/>
                  <a:pt x="101888" y="18098"/>
                  <a:pt x="98167" y="21818"/>
                </a:cubicBezTo>
                <a:lnTo>
                  <a:pt x="57299" y="62716"/>
                </a:lnTo>
                <a:lnTo>
                  <a:pt x="16401" y="21848"/>
                </a:ln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6905625" y="3400425"/>
            <a:ext cx="4705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PERMISSION: BLOCKED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6905625" y="3629025"/>
            <a:ext cx="4686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"Certifying authorities haven't led charge"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6376988" y="4014788"/>
            <a:ext cx="5267325" cy="619125"/>
          </a:xfrm>
          <a:custGeom>
            <a:avLst/>
            <a:gdLst/>
            <a:ahLst/>
            <a:cxnLst/>
            <a:rect l="l" t="t" r="r" b="b"/>
            <a:pathLst>
              <a:path w="5267325" h="619125">
                <a:moveTo>
                  <a:pt x="38101" y="0"/>
                </a:moveTo>
                <a:lnTo>
                  <a:pt x="5229224" y="0"/>
                </a:lnTo>
                <a:cubicBezTo>
                  <a:pt x="5250267" y="0"/>
                  <a:pt x="5267325" y="17058"/>
                  <a:pt x="5267325" y="38101"/>
                </a:cubicBezTo>
                <a:lnTo>
                  <a:pt x="5267325" y="581024"/>
                </a:lnTo>
                <a:cubicBezTo>
                  <a:pt x="5267325" y="602067"/>
                  <a:pt x="5250267" y="619125"/>
                  <a:pt x="5229224" y="619125"/>
                </a:cubicBezTo>
                <a:lnTo>
                  <a:pt x="38101" y="619125"/>
                </a:lnTo>
                <a:cubicBezTo>
                  <a:pt x="17058" y="619125"/>
                  <a:pt x="0" y="602067"/>
                  <a:pt x="0" y="581024"/>
                </a:cubicBezTo>
                <a:lnTo>
                  <a:pt x="0" y="38101"/>
                </a:lnTo>
                <a:cubicBezTo>
                  <a:pt x="0" y="17058"/>
                  <a:pt x="17058" y="0"/>
                  <a:pt x="38101" y="0"/>
                </a:cubicBezTo>
                <a:close/>
              </a:path>
            </a:pathLst>
          </a:custGeom>
          <a:solidFill>
            <a:srgbClr val="E07A5F">
              <a:alpha val="10196"/>
            </a:srgbClr>
          </a:solidFill>
          <a:ln w="12700">
            <a:solidFill>
              <a:srgbClr val="E07A5F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6496050" y="4133850"/>
            <a:ext cx="5095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"Real stifling of innovation"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6496050" y="4362450"/>
            <a:ext cx="50863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— Tyler Beatty, ExxonMobil R&amp;D Advisor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6215063" y="4957763"/>
            <a:ext cx="5591175" cy="1114425"/>
          </a:xfrm>
          <a:custGeom>
            <a:avLst/>
            <a:gdLst/>
            <a:ahLst/>
            <a:cxnLst/>
            <a:rect l="l" t="t" r="r" b="b"/>
            <a:pathLst>
              <a:path w="5591175" h="1114425">
                <a:moveTo>
                  <a:pt x="76204" y="0"/>
                </a:moveTo>
                <a:lnTo>
                  <a:pt x="5514971" y="0"/>
                </a:lnTo>
                <a:cubicBezTo>
                  <a:pt x="5557057" y="0"/>
                  <a:pt x="5591175" y="34118"/>
                  <a:pt x="5591175" y="76204"/>
                </a:cubicBezTo>
                <a:lnTo>
                  <a:pt x="5591175" y="1038221"/>
                </a:lnTo>
                <a:cubicBezTo>
                  <a:pt x="5591175" y="1080307"/>
                  <a:pt x="5557057" y="1114425"/>
                  <a:pt x="5514971" y="1114425"/>
                </a:cubicBezTo>
                <a:lnTo>
                  <a:pt x="76204" y="1114425"/>
                </a:lnTo>
                <a:cubicBezTo>
                  <a:pt x="34118" y="1114425"/>
                  <a:pt x="0" y="1080307"/>
                  <a:pt x="0" y="103822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C8C">
                  <a:alpha val="30000"/>
                </a:srgbClr>
              </a:gs>
              <a:gs pos="100000">
                <a:srgbClr val="E07A5F">
                  <a:alpha val="30000"/>
                </a:srgbClr>
              </a:gs>
            </a:gsLst>
            <a:lin ang="0" scaled="1"/>
          </a:gradFill>
          <a:ln w="12700">
            <a:solidFill>
              <a:srgbClr val="4A6C8C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6429375" y="5133975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0775" y="171450"/>
                </a:moveTo>
                <a:cubicBezTo>
                  <a:pt x="134035" y="161493"/>
                  <a:pt x="140553" y="152474"/>
                  <a:pt x="147920" y="144706"/>
                </a:cubicBezTo>
                <a:cubicBezTo>
                  <a:pt x="162520" y="129347"/>
                  <a:pt x="171450" y="108585"/>
                  <a:pt x="171450" y="85725"/>
                </a:cubicBezTo>
                <a:cubicBezTo>
                  <a:pt x="171450" y="38398"/>
                  <a:pt x="133052" y="0"/>
                  <a:pt x="85725" y="0"/>
                </a:cubicBezTo>
                <a:cubicBezTo>
                  <a:pt x="38398" y="0"/>
                  <a:pt x="0" y="38398"/>
                  <a:pt x="0" y="85725"/>
                </a:cubicBezTo>
                <a:cubicBezTo>
                  <a:pt x="0" y="108585"/>
                  <a:pt x="8930" y="129347"/>
                  <a:pt x="23530" y="144706"/>
                </a:cubicBezTo>
                <a:cubicBezTo>
                  <a:pt x="30897" y="152474"/>
                  <a:pt x="37460" y="161493"/>
                  <a:pt x="40675" y="171450"/>
                </a:cubicBezTo>
                <a:lnTo>
                  <a:pt x="130731" y="171450"/>
                </a:lnTo>
                <a:close/>
                <a:moveTo>
                  <a:pt x="128588" y="192881"/>
                </a:moveTo>
                <a:lnTo>
                  <a:pt x="42863" y="192881"/>
                </a:lnTo>
                <a:lnTo>
                  <a:pt x="42863" y="200025"/>
                </a:lnTo>
                <a:cubicBezTo>
                  <a:pt x="42863" y="219760"/>
                  <a:pt x="58847" y="235744"/>
                  <a:pt x="78581" y="235744"/>
                </a:cubicBezTo>
                <a:lnTo>
                  <a:pt x="92869" y="235744"/>
                </a:lnTo>
                <a:cubicBezTo>
                  <a:pt x="112603" y="235744"/>
                  <a:pt x="128588" y="219760"/>
                  <a:pt x="128588" y="200025"/>
                </a:cubicBezTo>
                <a:lnTo>
                  <a:pt x="128588" y="192881"/>
                </a:lnTo>
                <a:close/>
                <a:moveTo>
                  <a:pt x="82153" y="50006"/>
                </a:moveTo>
                <a:cubicBezTo>
                  <a:pt x="64383" y="50006"/>
                  <a:pt x="50006" y="64383"/>
                  <a:pt x="50006" y="82153"/>
                </a:cubicBezTo>
                <a:cubicBezTo>
                  <a:pt x="50006" y="88091"/>
                  <a:pt x="45229" y="92869"/>
                  <a:pt x="39291" y="92869"/>
                </a:cubicBezTo>
                <a:cubicBezTo>
                  <a:pt x="33352" y="92869"/>
                  <a:pt x="28575" y="88091"/>
                  <a:pt x="28575" y="82153"/>
                </a:cubicBezTo>
                <a:cubicBezTo>
                  <a:pt x="28575" y="52551"/>
                  <a:pt x="52551" y="28575"/>
                  <a:pt x="82153" y="28575"/>
                </a:cubicBezTo>
                <a:cubicBezTo>
                  <a:pt x="88091" y="28575"/>
                  <a:pt x="92869" y="33352"/>
                  <a:pt x="92869" y="39291"/>
                </a:cubicBezTo>
                <a:cubicBezTo>
                  <a:pt x="92869" y="45229"/>
                  <a:pt x="88091" y="50006"/>
                  <a:pt x="82153" y="50006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6772275" y="5114925"/>
            <a:ext cx="325346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This is where </a:t>
            </a:r>
            <a:r>
              <a:rPr lang="en-US" sz="1350" b="1" dirty="0" err="1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AddManuChain</a:t>
            </a:r>
            <a:r>
              <a:rPr lang="en-US" sz="135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comes in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6372225" y="5457825"/>
            <a:ext cx="53530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market isn't waiting for proof-of-concept. It's waiting for someone to solve </a:t>
            </a:r>
            <a:r>
              <a:rPr lang="en-US" sz="120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certification</a:t>
            </a:r>
            <a:r>
              <a:rPr lang="en-US" sz="120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64" name="Text 21">
            <a:extLst>
              <a:ext uri="{FF2B5EF4-FFF2-40B4-BE49-F238E27FC236}">
                <a16:creationId xmlns:a16="http://schemas.microsoft.com/office/drawing/2014/main" id="{37DA711E-50D0-383A-0422-6AA3E7A9FEAD}"/>
              </a:ext>
            </a:extLst>
          </p:cNvPr>
          <p:cNvSpPr/>
          <p:nvPr/>
        </p:nvSpPr>
        <p:spPr>
          <a:xfrm>
            <a:off x="5057775" y="2165061"/>
            <a:ext cx="76200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4A6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Multi-Year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Solution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00" b="1" dirty="0" err="1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AddManuChain</a:t>
            </a:r>
            <a:r>
              <a:rPr lang="en-US" sz="24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Certification-Ready Digital Inventory + On-Demand Metal AM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81000" y="1485900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"We don't sell 3D printers. We end the War on Inventory."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924050"/>
            <a:ext cx="3705225" cy="2038350"/>
          </a:xfrm>
          <a:custGeom>
            <a:avLst/>
            <a:gdLst/>
            <a:ahLst/>
            <a:cxnLst/>
            <a:rect l="l" t="t" r="r" b="b"/>
            <a:pathLst>
              <a:path w="3705225" h="203835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1962156"/>
                </a:lnTo>
                <a:cubicBezTo>
                  <a:pt x="3705225" y="2004237"/>
                  <a:pt x="3671112" y="2038350"/>
                  <a:pt x="3629031" y="2038350"/>
                </a:cubicBezTo>
                <a:lnTo>
                  <a:pt x="76194" y="2038350"/>
                </a:lnTo>
                <a:cubicBezTo>
                  <a:pt x="34113" y="2038350"/>
                  <a:pt x="0" y="2004237"/>
                  <a:pt x="0" y="1962156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C8C">
                  <a:alpha val="40000"/>
                </a:srgbClr>
              </a:gs>
              <a:gs pos="100000">
                <a:srgbClr val="4A6C8C">
                  <a:alpha val="2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81000" y="1924050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33400" y="2095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85775" y="209550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04900" y="2190750"/>
            <a:ext cx="1143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PERMISSION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33400" y="2667000"/>
            <a:ext cx="3467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Certification-as-a-Service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85788" y="2971800"/>
            <a:ext cx="66675" cy="133350"/>
          </a:xfrm>
          <a:custGeom>
            <a:avLst/>
            <a:gdLst/>
            <a:ahLst/>
            <a:cxnLst/>
            <a:rect l="l" t="t" r="r" b="b"/>
            <a:pathLst>
              <a:path w="66675" h="133350">
                <a:moveTo>
                  <a:pt x="8465" y="25003"/>
                </a:moveTo>
                <a:cubicBezTo>
                  <a:pt x="8465" y="21643"/>
                  <a:pt x="10496" y="18596"/>
                  <a:pt x="13621" y="17294"/>
                </a:cubicBezTo>
                <a:cubicBezTo>
                  <a:pt x="16747" y="15992"/>
                  <a:pt x="20315" y="16721"/>
                  <a:pt x="22685" y="19117"/>
                </a:cubicBezTo>
                <a:lnTo>
                  <a:pt x="64357" y="60789"/>
                </a:lnTo>
                <a:cubicBezTo>
                  <a:pt x="67613" y="64044"/>
                  <a:pt x="67613" y="69332"/>
                  <a:pt x="64357" y="72587"/>
                </a:cubicBezTo>
                <a:lnTo>
                  <a:pt x="22685" y="114259"/>
                </a:lnTo>
                <a:cubicBezTo>
                  <a:pt x="20289" y="116655"/>
                  <a:pt x="16721" y="117358"/>
                  <a:pt x="13595" y="116056"/>
                </a:cubicBezTo>
                <a:cubicBezTo>
                  <a:pt x="10470" y="114754"/>
                  <a:pt x="8465" y="111707"/>
                  <a:pt x="8465" y="108347"/>
                </a:cubicBezTo>
                <a:lnTo>
                  <a:pt x="8465" y="25003"/>
                </a:ln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76288" y="2933700"/>
            <a:ext cx="2333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Partner with DNV, Lloyd's Register, ABS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85788" y="3200400"/>
            <a:ext cx="66675" cy="133350"/>
          </a:xfrm>
          <a:custGeom>
            <a:avLst/>
            <a:gdLst/>
            <a:ahLst/>
            <a:cxnLst/>
            <a:rect l="l" t="t" r="r" b="b"/>
            <a:pathLst>
              <a:path w="66675" h="133350">
                <a:moveTo>
                  <a:pt x="8465" y="25003"/>
                </a:moveTo>
                <a:cubicBezTo>
                  <a:pt x="8465" y="21643"/>
                  <a:pt x="10496" y="18596"/>
                  <a:pt x="13621" y="17294"/>
                </a:cubicBezTo>
                <a:cubicBezTo>
                  <a:pt x="16747" y="15992"/>
                  <a:pt x="20315" y="16721"/>
                  <a:pt x="22685" y="19117"/>
                </a:cubicBezTo>
                <a:lnTo>
                  <a:pt x="64357" y="60789"/>
                </a:lnTo>
                <a:cubicBezTo>
                  <a:pt x="67613" y="64044"/>
                  <a:pt x="67613" y="69332"/>
                  <a:pt x="64357" y="72587"/>
                </a:cubicBezTo>
                <a:lnTo>
                  <a:pt x="22685" y="114259"/>
                </a:lnTo>
                <a:cubicBezTo>
                  <a:pt x="20289" y="116655"/>
                  <a:pt x="16721" y="117358"/>
                  <a:pt x="13595" y="116056"/>
                </a:cubicBezTo>
                <a:cubicBezTo>
                  <a:pt x="10470" y="114754"/>
                  <a:pt x="8465" y="111707"/>
                  <a:pt x="8465" y="108347"/>
                </a:cubicBezTo>
                <a:lnTo>
                  <a:pt x="8465" y="25003"/>
                </a:ln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76288" y="3162300"/>
            <a:ext cx="1514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Pre-certified parts library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85788" y="3429000"/>
            <a:ext cx="66675" cy="133350"/>
          </a:xfrm>
          <a:custGeom>
            <a:avLst/>
            <a:gdLst/>
            <a:ahLst/>
            <a:cxnLst/>
            <a:rect l="l" t="t" r="r" b="b"/>
            <a:pathLst>
              <a:path w="66675" h="133350">
                <a:moveTo>
                  <a:pt x="8465" y="25003"/>
                </a:moveTo>
                <a:cubicBezTo>
                  <a:pt x="8465" y="21643"/>
                  <a:pt x="10496" y="18596"/>
                  <a:pt x="13621" y="17294"/>
                </a:cubicBezTo>
                <a:cubicBezTo>
                  <a:pt x="16747" y="15992"/>
                  <a:pt x="20315" y="16721"/>
                  <a:pt x="22685" y="19117"/>
                </a:cubicBezTo>
                <a:lnTo>
                  <a:pt x="64357" y="60789"/>
                </a:lnTo>
                <a:cubicBezTo>
                  <a:pt x="67613" y="64044"/>
                  <a:pt x="67613" y="69332"/>
                  <a:pt x="64357" y="72587"/>
                </a:cubicBezTo>
                <a:lnTo>
                  <a:pt x="22685" y="114259"/>
                </a:lnTo>
                <a:cubicBezTo>
                  <a:pt x="20289" y="116655"/>
                  <a:pt x="16721" y="117358"/>
                  <a:pt x="13595" y="116056"/>
                </a:cubicBezTo>
                <a:cubicBezTo>
                  <a:pt x="10470" y="114754"/>
                  <a:pt x="8465" y="111707"/>
                  <a:pt x="8465" y="108347"/>
                </a:cubicBezTo>
                <a:lnTo>
                  <a:pt x="8465" y="25003"/>
                </a:ln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76288" y="3390900"/>
            <a:ext cx="2705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"We handle certification so you don't have to"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85788" y="3657600"/>
            <a:ext cx="66675" cy="133350"/>
          </a:xfrm>
          <a:custGeom>
            <a:avLst/>
            <a:gdLst/>
            <a:ahLst/>
            <a:cxnLst/>
            <a:rect l="l" t="t" r="r" b="b"/>
            <a:pathLst>
              <a:path w="66675" h="133350">
                <a:moveTo>
                  <a:pt x="8465" y="25003"/>
                </a:moveTo>
                <a:cubicBezTo>
                  <a:pt x="8465" y="21643"/>
                  <a:pt x="10496" y="18596"/>
                  <a:pt x="13621" y="17294"/>
                </a:cubicBezTo>
                <a:cubicBezTo>
                  <a:pt x="16747" y="15992"/>
                  <a:pt x="20315" y="16721"/>
                  <a:pt x="22685" y="19117"/>
                </a:cubicBezTo>
                <a:lnTo>
                  <a:pt x="64357" y="60789"/>
                </a:lnTo>
                <a:cubicBezTo>
                  <a:pt x="67613" y="64044"/>
                  <a:pt x="67613" y="69332"/>
                  <a:pt x="64357" y="72587"/>
                </a:cubicBezTo>
                <a:lnTo>
                  <a:pt x="22685" y="114259"/>
                </a:lnTo>
                <a:cubicBezTo>
                  <a:pt x="20289" y="116655"/>
                  <a:pt x="16721" y="117358"/>
                  <a:pt x="13595" y="116056"/>
                </a:cubicBezTo>
                <a:cubicBezTo>
                  <a:pt x="10470" y="114754"/>
                  <a:pt x="8465" y="111707"/>
                  <a:pt x="8465" y="108347"/>
                </a:cubicBezTo>
                <a:lnTo>
                  <a:pt x="8465" y="25003"/>
                </a:ln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76288" y="3619500"/>
            <a:ext cx="1457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Aerospace-first strategy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241800" y="1924050"/>
            <a:ext cx="3705225" cy="2038350"/>
          </a:xfrm>
          <a:custGeom>
            <a:avLst/>
            <a:gdLst/>
            <a:ahLst/>
            <a:cxnLst/>
            <a:rect l="l" t="t" r="r" b="b"/>
            <a:pathLst>
              <a:path w="3705225" h="203835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1962156"/>
                </a:lnTo>
                <a:cubicBezTo>
                  <a:pt x="3705225" y="2004237"/>
                  <a:pt x="3671112" y="2038350"/>
                  <a:pt x="3629031" y="2038350"/>
                </a:cubicBezTo>
                <a:lnTo>
                  <a:pt x="76194" y="2038350"/>
                </a:lnTo>
                <a:cubicBezTo>
                  <a:pt x="34113" y="2038350"/>
                  <a:pt x="0" y="2004237"/>
                  <a:pt x="0" y="1962156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flip="none" rotWithShape="1">
            <a:gsLst>
              <a:gs pos="0">
                <a:srgbClr val="8D99AE">
                  <a:alpha val="40000"/>
                </a:srgbClr>
              </a:gs>
              <a:gs pos="100000">
                <a:srgbClr val="8D99AE">
                  <a:alpha val="2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241800" y="1924050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D99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394200" y="2095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8D99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346575" y="209550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965700" y="2190750"/>
            <a:ext cx="1304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INTELLIGENCE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394200" y="2667000"/>
            <a:ext cx="3467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Supply Chain + Digital Inventory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446587" y="2971800"/>
            <a:ext cx="66675" cy="133350"/>
          </a:xfrm>
          <a:custGeom>
            <a:avLst/>
            <a:gdLst/>
            <a:ahLst/>
            <a:cxnLst/>
            <a:rect l="l" t="t" r="r" b="b"/>
            <a:pathLst>
              <a:path w="66675" h="133350">
                <a:moveTo>
                  <a:pt x="8465" y="25003"/>
                </a:moveTo>
                <a:cubicBezTo>
                  <a:pt x="8465" y="21643"/>
                  <a:pt x="10496" y="18596"/>
                  <a:pt x="13621" y="17294"/>
                </a:cubicBezTo>
                <a:cubicBezTo>
                  <a:pt x="16747" y="15992"/>
                  <a:pt x="20315" y="16721"/>
                  <a:pt x="22685" y="19117"/>
                </a:cubicBezTo>
                <a:lnTo>
                  <a:pt x="64357" y="60789"/>
                </a:lnTo>
                <a:cubicBezTo>
                  <a:pt x="67613" y="64044"/>
                  <a:pt x="67613" y="69332"/>
                  <a:pt x="64357" y="72587"/>
                </a:cubicBezTo>
                <a:lnTo>
                  <a:pt x="22685" y="114259"/>
                </a:lnTo>
                <a:cubicBezTo>
                  <a:pt x="20289" y="116655"/>
                  <a:pt x="16721" y="117358"/>
                  <a:pt x="13595" y="116056"/>
                </a:cubicBezTo>
                <a:cubicBezTo>
                  <a:pt x="10470" y="114754"/>
                  <a:pt x="8465" y="111707"/>
                  <a:pt x="8465" y="108347"/>
                </a:cubicBezTo>
                <a:lnTo>
                  <a:pt x="8465" y="25003"/>
                </a:lnTo>
                <a:close/>
              </a:path>
            </a:pathLst>
          </a:custGeom>
          <a:solidFill>
            <a:srgbClr val="8D99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637087" y="2933700"/>
            <a:ext cx="2057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Predictive maintenance integration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446587" y="3200400"/>
            <a:ext cx="66675" cy="133350"/>
          </a:xfrm>
          <a:custGeom>
            <a:avLst/>
            <a:gdLst/>
            <a:ahLst/>
            <a:cxnLst/>
            <a:rect l="l" t="t" r="r" b="b"/>
            <a:pathLst>
              <a:path w="66675" h="133350">
                <a:moveTo>
                  <a:pt x="8465" y="25003"/>
                </a:moveTo>
                <a:cubicBezTo>
                  <a:pt x="8465" y="21643"/>
                  <a:pt x="10496" y="18596"/>
                  <a:pt x="13621" y="17294"/>
                </a:cubicBezTo>
                <a:cubicBezTo>
                  <a:pt x="16747" y="15992"/>
                  <a:pt x="20315" y="16721"/>
                  <a:pt x="22685" y="19117"/>
                </a:cubicBezTo>
                <a:lnTo>
                  <a:pt x="64357" y="60789"/>
                </a:lnTo>
                <a:cubicBezTo>
                  <a:pt x="67613" y="64044"/>
                  <a:pt x="67613" y="69332"/>
                  <a:pt x="64357" y="72587"/>
                </a:cubicBezTo>
                <a:lnTo>
                  <a:pt x="22685" y="114259"/>
                </a:lnTo>
                <a:cubicBezTo>
                  <a:pt x="20289" y="116655"/>
                  <a:pt x="16721" y="117358"/>
                  <a:pt x="13595" y="116056"/>
                </a:cubicBezTo>
                <a:cubicBezTo>
                  <a:pt x="10470" y="114754"/>
                  <a:pt x="8465" y="111707"/>
                  <a:pt x="8465" y="108347"/>
                </a:cubicBezTo>
                <a:lnTo>
                  <a:pt x="8465" y="25003"/>
                </a:lnTo>
                <a:close/>
              </a:path>
            </a:pathLst>
          </a:custGeom>
          <a:solidFill>
            <a:srgbClr val="8D99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637087" y="3162300"/>
            <a:ext cx="2362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Full manufacturing recipe (not just CAD)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446587" y="3429000"/>
            <a:ext cx="66675" cy="133350"/>
          </a:xfrm>
          <a:custGeom>
            <a:avLst/>
            <a:gdLst/>
            <a:ahLst/>
            <a:cxnLst/>
            <a:rect l="l" t="t" r="r" b="b"/>
            <a:pathLst>
              <a:path w="66675" h="133350">
                <a:moveTo>
                  <a:pt x="8465" y="25003"/>
                </a:moveTo>
                <a:cubicBezTo>
                  <a:pt x="8465" y="21643"/>
                  <a:pt x="10496" y="18596"/>
                  <a:pt x="13621" y="17294"/>
                </a:cubicBezTo>
                <a:cubicBezTo>
                  <a:pt x="16747" y="15992"/>
                  <a:pt x="20315" y="16721"/>
                  <a:pt x="22685" y="19117"/>
                </a:cubicBezTo>
                <a:lnTo>
                  <a:pt x="64357" y="60789"/>
                </a:lnTo>
                <a:cubicBezTo>
                  <a:pt x="67613" y="64044"/>
                  <a:pt x="67613" y="69332"/>
                  <a:pt x="64357" y="72587"/>
                </a:cubicBezTo>
                <a:lnTo>
                  <a:pt x="22685" y="114259"/>
                </a:lnTo>
                <a:cubicBezTo>
                  <a:pt x="20289" y="116655"/>
                  <a:pt x="16721" y="117358"/>
                  <a:pt x="13595" y="116056"/>
                </a:cubicBezTo>
                <a:cubicBezTo>
                  <a:pt x="10470" y="114754"/>
                  <a:pt x="8465" y="111707"/>
                  <a:pt x="8465" y="108347"/>
                </a:cubicBezTo>
                <a:lnTo>
                  <a:pt x="8465" y="25003"/>
                </a:lnTo>
                <a:close/>
              </a:path>
            </a:pathLst>
          </a:custGeom>
          <a:solidFill>
            <a:srgbClr val="8D99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637087" y="3390900"/>
            <a:ext cx="1343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Digital twin simulation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446587" y="3657600"/>
            <a:ext cx="66675" cy="133350"/>
          </a:xfrm>
          <a:custGeom>
            <a:avLst/>
            <a:gdLst/>
            <a:ahLst/>
            <a:cxnLst/>
            <a:rect l="l" t="t" r="r" b="b"/>
            <a:pathLst>
              <a:path w="66675" h="133350">
                <a:moveTo>
                  <a:pt x="8465" y="25003"/>
                </a:moveTo>
                <a:cubicBezTo>
                  <a:pt x="8465" y="21643"/>
                  <a:pt x="10496" y="18596"/>
                  <a:pt x="13621" y="17294"/>
                </a:cubicBezTo>
                <a:cubicBezTo>
                  <a:pt x="16747" y="15992"/>
                  <a:pt x="20315" y="16721"/>
                  <a:pt x="22685" y="19117"/>
                </a:cubicBezTo>
                <a:lnTo>
                  <a:pt x="64357" y="60789"/>
                </a:lnTo>
                <a:cubicBezTo>
                  <a:pt x="67613" y="64044"/>
                  <a:pt x="67613" y="69332"/>
                  <a:pt x="64357" y="72587"/>
                </a:cubicBezTo>
                <a:lnTo>
                  <a:pt x="22685" y="114259"/>
                </a:lnTo>
                <a:cubicBezTo>
                  <a:pt x="20289" y="116655"/>
                  <a:pt x="16721" y="117358"/>
                  <a:pt x="13595" y="116056"/>
                </a:cubicBezTo>
                <a:cubicBezTo>
                  <a:pt x="10470" y="114754"/>
                  <a:pt x="8465" y="111707"/>
                  <a:pt x="8465" y="108347"/>
                </a:cubicBezTo>
                <a:lnTo>
                  <a:pt x="8465" y="25003"/>
                </a:lnTo>
                <a:close/>
              </a:path>
            </a:pathLst>
          </a:custGeom>
          <a:solidFill>
            <a:srgbClr val="8D99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637087" y="3619500"/>
            <a:ext cx="1343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Closed-loop feedback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102600" y="1924050"/>
            <a:ext cx="3705225" cy="2038350"/>
          </a:xfrm>
          <a:custGeom>
            <a:avLst/>
            <a:gdLst/>
            <a:ahLst/>
            <a:cxnLst/>
            <a:rect l="l" t="t" r="r" b="b"/>
            <a:pathLst>
              <a:path w="3705225" h="203835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1962156"/>
                </a:lnTo>
                <a:cubicBezTo>
                  <a:pt x="3705225" y="2004237"/>
                  <a:pt x="3671112" y="2038350"/>
                  <a:pt x="3629031" y="2038350"/>
                </a:cubicBezTo>
                <a:lnTo>
                  <a:pt x="76194" y="2038350"/>
                </a:lnTo>
                <a:cubicBezTo>
                  <a:pt x="34113" y="2038350"/>
                  <a:pt x="0" y="2004237"/>
                  <a:pt x="0" y="1962156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flip="none" rotWithShape="1">
            <a:gsLst>
              <a:gs pos="0">
                <a:srgbClr val="E07A5F">
                  <a:alpha val="40000"/>
                </a:srgbClr>
              </a:gs>
              <a:gs pos="100000">
                <a:srgbClr val="E07A5F">
                  <a:alpha val="2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8102600" y="1924050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8255000" y="2095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8207375" y="209550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826500" y="2190750"/>
            <a:ext cx="942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NETWORK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255000" y="2667000"/>
            <a:ext cx="3467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End-to-End Implementation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307388" y="2971800"/>
            <a:ext cx="66675" cy="133350"/>
          </a:xfrm>
          <a:custGeom>
            <a:avLst/>
            <a:gdLst/>
            <a:ahLst/>
            <a:cxnLst/>
            <a:rect l="l" t="t" r="r" b="b"/>
            <a:pathLst>
              <a:path w="66675" h="133350">
                <a:moveTo>
                  <a:pt x="8465" y="25003"/>
                </a:moveTo>
                <a:cubicBezTo>
                  <a:pt x="8465" y="21643"/>
                  <a:pt x="10496" y="18596"/>
                  <a:pt x="13621" y="17294"/>
                </a:cubicBezTo>
                <a:cubicBezTo>
                  <a:pt x="16747" y="15992"/>
                  <a:pt x="20315" y="16721"/>
                  <a:pt x="22685" y="19117"/>
                </a:cubicBezTo>
                <a:lnTo>
                  <a:pt x="64357" y="60789"/>
                </a:lnTo>
                <a:cubicBezTo>
                  <a:pt x="67613" y="64044"/>
                  <a:pt x="67613" y="69332"/>
                  <a:pt x="64357" y="72587"/>
                </a:cubicBezTo>
                <a:lnTo>
                  <a:pt x="22685" y="114259"/>
                </a:lnTo>
                <a:cubicBezTo>
                  <a:pt x="20289" y="116655"/>
                  <a:pt x="16721" y="117358"/>
                  <a:pt x="13595" y="116056"/>
                </a:cubicBezTo>
                <a:cubicBezTo>
                  <a:pt x="10470" y="114754"/>
                  <a:pt x="8465" y="111707"/>
                  <a:pt x="8465" y="108347"/>
                </a:cubicBezTo>
                <a:lnTo>
                  <a:pt x="8465" y="25003"/>
                </a:ln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8497888" y="2933700"/>
            <a:ext cx="2495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Assessment: Which 5-20% viable for AM?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307388" y="3200400"/>
            <a:ext cx="66675" cy="133350"/>
          </a:xfrm>
          <a:custGeom>
            <a:avLst/>
            <a:gdLst/>
            <a:ahLst/>
            <a:cxnLst/>
            <a:rect l="l" t="t" r="r" b="b"/>
            <a:pathLst>
              <a:path w="66675" h="133350">
                <a:moveTo>
                  <a:pt x="8465" y="25003"/>
                </a:moveTo>
                <a:cubicBezTo>
                  <a:pt x="8465" y="21643"/>
                  <a:pt x="10496" y="18596"/>
                  <a:pt x="13621" y="17294"/>
                </a:cubicBezTo>
                <a:cubicBezTo>
                  <a:pt x="16747" y="15992"/>
                  <a:pt x="20315" y="16721"/>
                  <a:pt x="22685" y="19117"/>
                </a:cubicBezTo>
                <a:lnTo>
                  <a:pt x="64357" y="60789"/>
                </a:lnTo>
                <a:cubicBezTo>
                  <a:pt x="67613" y="64044"/>
                  <a:pt x="67613" y="69332"/>
                  <a:pt x="64357" y="72587"/>
                </a:cubicBezTo>
                <a:lnTo>
                  <a:pt x="22685" y="114259"/>
                </a:lnTo>
                <a:cubicBezTo>
                  <a:pt x="20289" y="116655"/>
                  <a:pt x="16721" y="117358"/>
                  <a:pt x="13595" y="116056"/>
                </a:cubicBezTo>
                <a:cubicBezTo>
                  <a:pt x="10470" y="114754"/>
                  <a:pt x="8465" y="111707"/>
                  <a:pt x="8465" y="108347"/>
                </a:cubicBezTo>
                <a:lnTo>
                  <a:pt x="8465" y="25003"/>
                </a:ln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8497888" y="3162300"/>
            <a:ext cx="2457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Adoption: Training, equipment integration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307388" y="3429000"/>
            <a:ext cx="66675" cy="133350"/>
          </a:xfrm>
          <a:custGeom>
            <a:avLst/>
            <a:gdLst/>
            <a:ahLst/>
            <a:cxnLst/>
            <a:rect l="l" t="t" r="r" b="b"/>
            <a:pathLst>
              <a:path w="66675" h="133350">
                <a:moveTo>
                  <a:pt x="8465" y="25003"/>
                </a:moveTo>
                <a:cubicBezTo>
                  <a:pt x="8465" y="21643"/>
                  <a:pt x="10496" y="18596"/>
                  <a:pt x="13621" y="17294"/>
                </a:cubicBezTo>
                <a:cubicBezTo>
                  <a:pt x="16747" y="15992"/>
                  <a:pt x="20315" y="16721"/>
                  <a:pt x="22685" y="19117"/>
                </a:cubicBezTo>
                <a:lnTo>
                  <a:pt x="64357" y="60789"/>
                </a:lnTo>
                <a:cubicBezTo>
                  <a:pt x="67613" y="64044"/>
                  <a:pt x="67613" y="69332"/>
                  <a:pt x="64357" y="72587"/>
                </a:cubicBezTo>
                <a:lnTo>
                  <a:pt x="22685" y="114259"/>
                </a:lnTo>
                <a:cubicBezTo>
                  <a:pt x="20289" y="116655"/>
                  <a:pt x="16721" y="117358"/>
                  <a:pt x="13595" y="116056"/>
                </a:cubicBezTo>
                <a:cubicBezTo>
                  <a:pt x="10470" y="114754"/>
                  <a:pt x="8465" y="111707"/>
                  <a:pt x="8465" y="108347"/>
                </a:cubicBezTo>
                <a:lnTo>
                  <a:pt x="8465" y="25003"/>
                </a:ln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8497888" y="3390900"/>
            <a:ext cx="1476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Integration: ERP systems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307388" y="3657600"/>
            <a:ext cx="66675" cy="133350"/>
          </a:xfrm>
          <a:custGeom>
            <a:avLst/>
            <a:gdLst/>
            <a:ahLst/>
            <a:cxnLst/>
            <a:rect l="l" t="t" r="r" b="b"/>
            <a:pathLst>
              <a:path w="66675" h="133350">
                <a:moveTo>
                  <a:pt x="8465" y="25003"/>
                </a:moveTo>
                <a:cubicBezTo>
                  <a:pt x="8465" y="21643"/>
                  <a:pt x="10496" y="18596"/>
                  <a:pt x="13621" y="17294"/>
                </a:cubicBezTo>
                <a:cubicBezTo>
                  <a:pt x="16747" y="15992"/>
                  <a:pt x="20315" y="16721"/>
                  <a:pt x="22685" y="19117"/>
                </a:cubicBezTo>
                <a:lnTo>
                  <a:pt x="64357" y="60789"/>
                </a:lnTo>
                <a:cubicBezTo>
                  <a:pt x="67613" y="64044"/>
                  <a:pt x="67613" y="69332"/>
                  <a:pt x="64357" y="72587"/>
                </a:cubicBezTo>
                <a:lnTo>
                  <a:pt x="22685" y="114259"/>
                </a:lnTo>
                <a:cubicBezTo>
                  <a:pt x="20289" y="116655"/>
                  <a:pt x="16721" y="117358"/>
                  <a:pt x="13595" y="116056"/>
                </a:cubicBezTo>
                <a:cubicBezTo>
                  <a:pt x="10470" y="114754"/>
                  <a:pt x="8465" y="111707"/>
                  <a:pt x="8465" y="108347"/>
                </a:cubicBezTo>
                <a:lnTo>
                  <a:pt x="8465" y="25003"/>
                </a:ln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8497888" y="3619500"/>
            <a:ext cx="1838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Maintenance: Ongoing support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385763" y="4119562"/>
            <a:ext cx="11420475" cy="1685925"/>
          </a:xfrm>
          <a:custGeom>
            <a:avLst/>
            <a:gdLst/>
            <a:ahLst/>
            <a:cxnLst/>
            <a:rect l="l" t="t" r="r" b="b"/>
            <a:pathLst>
              <a:path w="11420475" h="1685925">
                <a:moveTo>
                  <a:pt x="76204" y="0"/>
                </a:moveTo>
                <a:lnTo>
                  <a:pt x="11344271" y="0"/>
                </a:lnTo>
                <a:cubicBezTo>
                  <a:pt x="11386357" y="0"/>
                  <a:pt x="11420475" y="34118"/>
                  <a:pt x="11420475" y="76204"/>
                </a:cubicBezTo>
                <a:lnTo>
                  <a:pt x="11420475" y="1609721"/>
                </a:lnTo>
                <a:cubicBezTo>
                  <a:pt x="11420475" y="1651807"/>
                  <a:pt x="11386357" y="1685925"/>
                  <a:pt x="11344271" y="1685925"/>
                </a:cubicBezTo>
                <a:lnTo>
                  <a:pt x="76204" y="1685925"/>
                </a:lnTo>
                <a:cubicBezTo>
                  <a:pt x="34118" y="1685925"/>
                  <a:pt x="0" y="1651807"/>
                  <a:pt x="0" y="160972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2B2D42">
              <a:alpha val="40000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566738" y="432435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48321" y="0"/>
                </a:moveTo>
                <a:lnTo>
                  <a:pt x="123330" y="0"/>
                </a:lnTo>
                <a:cubicBezTo>
                  <a:pt x="132204" y="0"/>
                  <a:pt x="139437" y="7300"/>
                  <a:pt x="139102" y="16140"/>
                </a:cubicBezTo>
                <a:cubicBezTo>
                  <a:pt x="139035" y="17915"/>
                  <a:pt x="138968" y="19690"/>
                  <a:pt x="138868" y="21431"/>
                </a:cubicBezTo>
                <a:lnTo>
                  <a:pt x="155477" y="21431"/>
                </a:lnTo>
                <a:cubicBezTo>
                  <a:pt x="164217" y="21431"/>
                  <a:pt x="171919" y="28664"/>
                  <a:pt x="171249" y="38107"/>
                </a:cubicBezTo>
                <a:cubicBezTo>
                  <a:pt x="168738" y="72833"/>
                  <a:pt x="150990" y="91920"/>
                  <a:pt x="131735" y="101899"/>
                </a:cubicBezTo>
                <a:cubicBezTo>
                  <a:pt x="126444" y="104645"/>
                  <a:pt x="121053" y="106687"/>
                  <a:pt x="115930" y="108194"/>
                </a:cubicBezTo>
                <a:cubicBezTo>
                  <a:pt x="109165" y="117771"/>
                  <a:pt x="102133" y="122828"/>
                  <a:pt x="96541" y="125540"/>
                </a:cubicBezTo>
                <a:lnTo>
                  <a:pt x="96541" y="150019"/>
                </a:lnTo>
                <a:lnTo>
                  <a:pt x="117972" y="150019"/>
                </a:lnTo>
                <a:cubicBezTo>
                  <a:pt x="123899" y="150019"/>
                  <a:pt x="128688" y="154807"/>
                  <a:pt x="128688" y="160734"/>
                </a:cubicBezTo>
                <a:cubicBezTo>
                  <a:pt x="128688" y="166661"/>
                  <a:pt x="123899" y="171450"/>
                  <a:pt x="117972" y="171450"/>
                </a:cubicBezTo>
                <a:lnTo>
                  <a:pt x="53679" y="171450"/>
                </a:lnTo>
                <a:cubicBezTo>
                  <a:pt x="47752" y="171450"/>
                  <a:pt x="42963" y="166661"/>
                  <a:pt x="42963" y="160734"/>
                </a:cubicBezTo>
                <a:cubicBezTo>
                  <a:pt x="42963" y="154807"/>
                  <a:pt x="47752" y="150019"/>
                  <a:pt x="53679" y="150019"/>
                </a:cubicBezTo>
                <a:lnTo>
                  <a:pt x="75110" y="150019"/>
                </a:lnTo>
                <a:lnTo>
                  <a:pt x="75110" y="125540"/>
                </a:lnTo>
                <a:cubicBezTo>
                  <a:pt x="69752" y="122962"/>
                  <a:pt x="63088" y="118173"/>
                  <a:pt x="56592" y="109366"/>
                </a:cubicBezTo>
                <a:cubicBezTo>
                  <a:pt x="50430" y="107759"/>
                  <a:pt x="43733" y="105315"/>
                  <a:pt x="37203" y="101631"/>
                </a:cubicBezTo>
                <a:cubicBezTo>
                  <a:pt x="19087" y="91485"/>
                  <a:pt x="2746" y="72364"/>
                  <a:pt x="402" y="38040"/>
                </a:cubicBezTo>
                <a:cubicBezTo>
                  <a:pt x="-234" y="28631"/>
                  <a:pt x="7434" y="21398"/>
                  <a:pt x="16174" y="21398"/>
                </a:cubicBezTo>
                <a:lnTo>
                  <a:pt x="32783" y="21398"/>
                </a:lnTo>
                <a:cubicBezTo>
                  <a:pt x="32683" y="19656"/>
                  <a:pt x="32616" y="17915"/>
                  <a:pt x="32549" y="16107"/>
                </a:cubicBezTo>
                <a:cubicBezTo>
                  <a:pt x="32214" y="7233"/>
                  <a:pt x="39447" y="-33"/>
                  <a:pt x="48321" y="-33"/>
                </a:cubicBezTo>
                <a:close/>
                <a:moveTo>
                  <a:pt x="33989" y="37505"/>
                </a:moveTo>
                <a:lnTo>
                  <a:pt x="16442" y="37505"/>
                </a:lnTo>
                <a:cubicBezTo>
                  <a:pt x="18518" y="65868"/>
                  <a:pt x="31544" y="80066"/>
                  <a:pt x="44972" y="87600"/>
                </a:cubicBezTo>
                <a:cubicBezTo>
                  <a:pt x="40150" y="75110"/>
                  <a:pt x="36165" y="58802"/>
                  <a:pt x="33989" y="37505"/>
                </a:cubicBezTo>
                <a:close/>
                <a:moveTo>
                  <a:pt x="127248" y="85993"/>
                </a:moveTo>
                <a:cubicBezTo>
                  <a:pt x="140810" y="78023"/>
                  <a:pt x="153066" y="63858"/>
                  <a:pt x="155142" y="37505"/>
                </a:cubicBezTo>
                <a:lnTo>
                  <a:pt x="137629" y="37505"/>
                </a:lnTo>
                <a:cubicBezTo>
                  <a:pt x="135553" y="57898"/>
                  <a:pt x="131802" y="73737"/>
                  <a:pt x="127248" y="85993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762000" y="4276725"/>
            <a:ext cx="10972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Unlike Competitors (FieldNode, Spare Parts 3D, Siemens)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581025" y="4695825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16401" y="21848"/>
                </a:moveTo>
                <a:cubicBezTo>
                  <a:pt x="12680" y="18127"/>
                  <a:pt x="6638" y="18127"/>
                  <a:pt x="2917" y="21848"/>
                </a:cubicBezTo>
                <a:cubicBezTo>
                  <a:pt x="-804" y="25569"/>
                  <a:pt x="-804" y="31611"/>
                  <a:pt x="2917" y="35332"/>
                </a:cubicBezTo>
                <a:lnTo>
                  <a:pt x="43815" y="76200"/>
                </a:lnTo>
                <a:lnTo>
                  <a:pt x="2947" y="117098"/>
                </a:lnTo>
                <a:cubicBezTo>
                  <a:pt x="-774" y="120819"/>
                  <a:pt x="-774" y="126861"/>
                  <a:pt x="2947" y="130582"/>
                </a:cubicBezTo>
                <a:cubicBezTo>
                  <a:pt x="6668" y="134303"/>
                  <a:pt x="12710" y="134303"/>
                  <a:pt x="16431" y="130582"/>
                </a:cubicBezTo>
                <a:lnTo>
                  <a:pt x="57299" y="89684"/>
                </a:lnTo>
                <a:lnTo>
                  <a:pt x="98197" y="130552"/>
                </a:lnTo>
                <a:cubicBezTo>
                  <a:pt x="101918" y="134273"/>
                  <a:pt x="107960" y="134273"/>
                  <a:pt x="111681" y="130552"/>
                </a:cubicBezTo>
                <a:cubicBezTo>
                  <a:pt x="115401" y="126831"/>
                  <a:pt x="115401" y="120789"/>
                  <a:pt x="111681" y="117068"/>
                </a:cubicBezTo>
                <a:lnTo>
                  <a:pt x="70783" y="76200"/>
                </a:lnTo>
                <a:lnTo>
                  <a:pt x="111651" y="35302"/>
                </a:lnTo>
                <a:cubicBezTo>
                  <a:pt x="115372" y="31581"/>
                  <a:pt x="115372" y="25539"/>
                  <a:pt x="111651" y="21818"/>
                </a:cubicBezTo>
                <a:cubicBezTo>
                  <a:pt x="107930" y="18098"/>
                  <a:pt x="101888" y="18098"/>
                  <a:pt x="98167" y="21818"/>
                </a:cubicBezTo>
                <a:lnTo>
                  <a:pt x="57299" y="62716"/>
                </a:lnTo>
                <a:lnTo>
                  <a:pt x="16401" y="21848"/>
                </a:lnTo>
                <a:close/>
              </a:path>
            </a:pathLst>
          </a:custGeom>
          <a:solidFill>
            <a:srgbClr val="FF64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809625" y="4657725"/>
            <a:ext cx="1400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They provide </a:t>
            </a:r>
            <a:r>
              <a:rPr lang="en-US" sz="1050" b="1" dirty="0">
                <a:solidFill>
                  <a:srgbClr val="FF646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files only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581025" y="4962525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16401" y="21848"/>
                </a:moveTo>
                <a:cubicBezTo>
                  <a:pt x="12680" y="18127"/>
                  <a:pt x="6638" y="18127"/>
                  <a:pt x="2917" y="21848"/>
                </a:cubicBezTo>
                <a:cubicBezTo>
                  <a:pt x="-804" y="25569"/>
                  <a:pt x="-804" y="31611"/>
                  <a:pt x="2917" y="35332"/>
                </a:cubicBezTo>
                <a:lnTo>
                  <a:pt x="43815" y="76200"/>
                </a:lnTo>
                <a:lnTo>
                  <a:pt x="2947" y="117098"/>
                </a:lnTo>
                <a:cubicBezTo>
                  <a:pt x="-774" y="120819"/>
                  <a:pt x="-774" y="126861"/>
                  <a:pt x="2947" y="130582"/>
                </a:cubicBezTo>
                <a:cubicBezTo>
                  <a:pt x="6668" y="134303"/>
                  <a:pt x="12710" y="134303"/>
                  <a:pt x="16431" y="130582"/>
                </a:cubicBezTo>
                <a:lnTo>
                  <a:pt x="57299" y="89684"/>
                </a:lnTo>
                <a:lnTo>
                  <a:pt x="98197" y="130552"/>
                </a:lnTo>
                <a:cubicBezTo>
                  <a:pt x="101918" y="134273"/>
                  <a:pt x="107960" y="134273"/>
                  <a:pt x="111681" y="130552"/>
                </a:cubicBezTo>
                <a:cubicBezTo>
                  <a:pt x="115401" y="126831"/>
                  <a:pt x="115401" y="120789"/>
                  <a:pt x="111681" y="117068"/>
                </a:cubicBezTo>
                <a:lnTo>
                  <a:pt x="70783" y="76200"/>
                </a:lnTo>
                <a:lnTo>
                  <a:pt x="111651" y="35302"/>
                </a:lnTo>
                <a:cubicBezTo>
                  <a:pt x="115372" y="31581"/>
                  <a:pt x="115372" y="25539"/>
                  <a:pt x="111651" y="21818"/>
                </a:cubicBezTo>
                <a:cubicBezTo>
                  <a:pt x="107930" y="18098"/>
                  <a:pt x="101888" y="18098"/>
                  <a:pt x="98167" y="21818"/>
                </a:cubicBezTo>
                <a:lnTo>
                  <a:pt x="57299" y="62716"/>
                </a:lnTo>
                <a:lnTo>
                  <a:pt x="16401" y="21848"/>
                </a:lnTo>
                <a:close/>
              </a:path>
            </a:pathLst>
          </a:custGeom>
          <a:solidFill>
            <a:srgbClr val="FF64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809625" y="4924425"/>
            <a:ext cx="2076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They require </a:t>
            </a:r>
            <a:r>
              <a:rPr lang="en-US" sz="1050" b="1" dirty="0">
                <a:solidFill>
                  <a:srgbClr val="FF646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external certification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581025" y="5229225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16401" y="21848"/>
                </a:moveTo>
                <a:cubicBezTo>
                  <a:pt x="12680" y="18127"/>
                  <a:pt x="6638" y="18127"/>
                  <a:pt x="2917" y="21848"/>
                </a:cubicBezTo>
                <a:cubicBezTo>
                  <a:pt x="-804" y="25569"/>
                  <a:pt x="-804" y="31611"/>
                  <a:pt x="2917" y="35332"/>
                </a:cubicBezTo>
                <a:lnTo>
                  <a:pt x="43815" y="76200"/>
                </a:lnTo>
                <a:lnTo>
                  <a:pt x="2947" y="117098"/>
                </a:lnTo>
                <a:cubicBezTo>
                  <a:pt x="-774" y="120819"/>
                  <a:pt x="-774" y="126861"/>
                  <a:pt x="2947" y="130582"/>
                </a:cubicBezTo>
                <a:cubicBezTo>
                  <a:pt x="6668" y="134303"/>
                  <a:pt x="12710" y="134303"/>
                  <a:pt x="16431" y="130582"/>
                </a:cubicBezTo>
                <a:lnTo>
                  <a:pt x="57299" y="89684"/>
                </a:lnTo>
                <a:lnTo>
                  <a:pt x="98197" y="130552"/>
                </a:lnTo>
                <a:cubicBezTo>
                  <a:pt x="101918" y="134273"/>
                  <a:pt x="107960" y="134273"/>
                  <a:pt x="111681" y="130552"/>
                </a:cubicBezTo>
                <a:cubicBezTo>
                  <a:pt x="115401" y="126831"/>
                  <a:pt x="115401" y="120789"/>
                  <a:pt x="111681" y="117068"/>
                </a:cubicBezTo>
                <a:lnTo>
                  <a:pt x="70783" y="76200"/>
                </a:lnTo>
                <a:lnTo>
                  <a:pt x="111651" y="35302"/>
                </a:lnTo>
                <a:cubicBezTo>
                  <a:pt x="115372" y="31581"/>
                  <a:pt x="115372" y="25539"/>
                  <a:pt x="111651" y="21818"/>
                </a:cubicBezTo>
                <a:cubicBezTo>
                  <a:pt x="107930" y="18098"/>
                  <a:pt x="101888" y="18098"/>
                  <a:pt x="98167" y="21818"/>
                </a:cubicBezTo>
                <a:lnTo>
                  <a:pt x="57299" y="62716"/>
                </a:lnTo>
                <a:lnTo>
                  <a:pt x="16401" y="21848"/>
                </a:lnTo>
                <a:close/>
              </a:path>
            </a:pathLst>
          </a:custGeom>
          <a:solidFill>
            <a:srgbClr val="FF64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809625" y="5191125"/>
            <a:ext cx="1504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They're </a:t>
            </a:r>
            <a:r>
              <a:rPr lang="en-US" sz="1050" b="1" dirty="0">
                <a:solidFill>
                  <a:srgbClr val="FF646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Europe-focused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581025" y="5495925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16401" y="21848"/>
                </a:moveTo>
                <a:cubicBezTo>
                  <a:pt x="12680" y="18127"/>
                  <a:pt x="6638" y="18127"/>
                  <a:pt x="2917" y="21848"/>
                </a:cubicBezTo>
                <a:cubicBezTo>
                  <a:pt x="-804" y="25569"/>
                  <a:pt x="-804" y="31611"/>
                  <a:pt x="2917" y="35332"/>
                </a:cubicBezTo>
                <a:lnTo>
                  <a:pt x="43815" y="76200"/>
                </a:lnTo>
                <a:lnTo>
                  <a:pt x="2947" y="117098"/>
                </a:lnTo>
                <a:cubicBezTo>
                  <a:pt x="-774" y="120819"/>
                  <a:pt x="-774" y="126861"/>
                  <a:pt x="2947" y="130582"/>
                </a:cubicBezTo>
                <a:cubicBezTo>
                  <a:pt x="6668" y="134303"/>
                  <a:pt x="12710" y="134303"/>
                  <a:pt x="16431" y="130582"/>
                </a:cubicBezTo>
                <a:lnTo>
                  <a:pt x="57299" y="89684"/>
                </a:lnTo>
                <a:lnTo>
                  <a:pt x="98197" y="130552"/>
                </a:lnTo>
                <a:cubicBezTo>
                  <a:pt x="101918" y="134273"/>
                  <a:pt x="107960" y="134273"/>
                  <a:pt x="111681" y="130552"/>
                </a:cubicBezTo>
                <a:cubicBezTo>
                  <a:pt x="115401" y="126831"/>
                  <a:pt x="115401" y="120789"/>
                  <a:pt x="111681" y="117068"/>
                </a:cubicBezTo>
                <a:lnTo>
                  <a:pt x="70783" y="76200"/>
                </a:lnTo>
                <a:lnTo>
                  <a:pt x="111651" y="35302"/>
                </a:lnTo>
                <a:cubicBezTo>
                  <a:pt x="115372" y="31581"/>
                  <a:pt x="115372" y="25539"/>
                  <a:pt x="111651" y="21818"/>
                </a:cubicBezTo>
                <a:cubicBezTo>
                  <a:pt x="107930" y="18098"/>
                  <a:pt x="101888" y="18098"/>
                  <a:pt x="98167" y="21818"/>
                </a:cubicBezTo>
                <a:lnTo>
                  <a:pt x="57299" y="62716"/>
                </a:lnTo>
                <a:lnTo>
                  <a:pt x="16401" y="21848"/>
                </a:lnTo>
                <a:close/>
              </a:path>
            </a:pathLst>
          </a:custGeom>
          <a:solidFill>
            <a:srgbClr val="FF64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809625" y="5457825"/>
            <a:ext cx="1819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They sell </a:t>
            </a:r>
            <a:r>
              <a:rPr lang="en-US" sz="1050" b="1" dirty="0">
                <a:solidFill>
                  <a:srgbClr val="FF646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software/consulting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6200775" y="469582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05DF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6438900" y="4657725"/>
            <a:ext cx="3295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 provide </a:t>
            </a:r>
            <a:r>
              <a:rPr lang="en-US" sz="1050" b="1" dirty="0">
                <a:solidFill>
                  <a:srgbClr val="05DF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compliance-ready manufacturing recipes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6200775" y="496252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05DF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6438900" y="4924425"/>
            <a:ext cx="1847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 deliver </a:t>
            </a:r>
            <a:r>
              <a:rPr lang="en-US" sz="1050" b="1" dirty="0">
                <a:solidFill>
                  <a:srgbClr val="05DF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pre-certified parts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6200775" y="522922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05DF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6438900" y="5191125"/>
            <a:ext cx="2828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We're </a:t>
            </a:r>
            <a:r>
              <a:rPr lang="en-US" sz="1050" b="1" dirty="0">
                <a:solidFill>
                  <a:srgbClr val="05DF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Canada-first</a:t>
            </a:r>
            <a:r>
              <a:rPr lang="en-US" sz="105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(no established competitor)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6200775" y="549592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05DF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6438900" y="5457825"/>
            <a:ext cx="2667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 deliver </a:t>
            </a:r>
            <a:r>
              <a:rPr lang="en-US" sz="1050" b="1" dirty="0">
                <a:solidFill>
                  <a:srgbClr val="05DF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printed, certified, installed parts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385763" y="5967413"/>
            <a:ext cx="11420475" cy="428625"/>
          </a:xfrm>
          <a:custGeom>
            <a:avLst/>
            <a:gdLst/>
            <a:ahLst/>
            <a:cxnLst/>
            <a:rect l="l" t="t" r="r" b="b"/>
            <a:pathLst>
              <a:path w="11420475" h="428625">
                <a:moveTo>
                  <a:pt x="76201" y="0"/>
                </a:moveTo>
                <a:lnTo>
                  <a:pt x="11344274" y="0"/>
                </a:lnTo>
                <a:cubicBezTo>
                  <a:pt x="11386359" y="0"/>
                  <a:pt x="11420475" y="34116"/>
                  <a:pt x="11420475" y="76201"/>
                </a:cubicBezTo>
                <a:lnTo>
                  <a:pt x="11420475" y="352424"/>
                </a:lnTo>
                <a:cubicBezTo>
                  <a:pt x="11420475" y="394509"/>
                  <a:pt x="11386359" y="428625"/>
                  <a:pt x="11344274" y="428625"/>
                </a:cubicBezTo>
                <a:lnTo>
                  <a:pt x="76201" y="428625"/>
                </a:lnTo>
                <a:cubicBezTo>
                  <a:pt x="34116" y="428625"/>
                  <a:pt x="0" y="394509"/>
                  <a:pt x="0" y="35242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E07A5F">
              <a:alpha val="10196"/>
            </a:srgbClr>
          </a:solidFill>
          <a:ln w="12700">
            <a:solidFill>
              <a:srgbClr val="E07A5F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540544" y="6086475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0" y="80367"/>
                </a:moveTo>
                <a:cubicBezTo>
                  <a:pt x="0" y="55699"/>
                  <a:pt x="19980" y="35719"/>
                  <a:pt x="44648" y="35719"/>
                </a:cubicBezTo>
                <a:lnTo>
                  <a:pt x="47625" y="35719"/>
                </a:lnTo>
                <a:cubicBezTo>
                  <a:pt x="54211" y="35719"/>
                  <a:pt x="59531" y="41039"/>
                  <a:pt x="59531" y="47625"/>
                </a:cubicBezTo>
                <a:cubicBezTo>
                  <a:pt x="59531" y="54211"/>
                  <a:pt x="54211" y="59531"/>
                  <a:pt x="47625" y="59531"/>
                </a:cubicBezTo>
                <a:lnTo>
                  <a:pt x="44648" y="59531"/>
                </a:lnTo>
                <a:cubicBezTo>
                  <a:pt x="33151" y="59531"/>
                  <a:pt x="23812" y="68870"/>
                  <a:pt x="23812" y="80367"/>
                </a:cubicBezTo>
                <a:lnTo>
                  <a:pt x="23812" y="83344"/>
                </a:lnTo>
                <a:lnTo>
                  <a:pt x="47625" y="83344"/>
                </a:lnTo>
                <a:cubicBezTo>
                  <a:pt x="60759" y="83344"/>
                  <a:pt x="71438" y="94022"/>
                  <a:pt x="71438" y="107156"/>
                </a:cubicBezTo>
                <a:lnTo>
                  <a:pt x="71438" y="130969"/>
                </a:lnTo>
                <a:cubicBezTo>
                  <a:pt x="71438" y="144103"/>
                  <a:pt x="60759" y="154781"/>
                  <a:pt x="47625" y="154781"/>
                </a:cubicBezTo>
                <a:lnTo>
                  <a:pt x="23812" y="154781"/>
                </a:lnTo>
                <a:cubicBezTo>
                  <a:pt x="10678" y="154781"/>
                  <a:pt x="0" y="144103"/>
                  <a:pt x="0" y="130969"/>
                </a:cubicBezTo>
                <a:lnTo>
                  <a:pt x="0" y="80367"/>
                </a:lnTo>
                <a:close/>
                <a:moveTo>
                  <a:pt x="95250" y="80367"/>
                </a:moveTo>
                <a:cubicBezTo>
                  <a:pt x="95250" y="55699"/>
                  <a:pt x="115230" y="35719"/>
                  <a:pt x="139898" y="35719"/>
                </a:cubicBezTo>
                <a:lnTo>
                  <a:pt x="142875" y="35719"/>
                </a:lnTo>
                <a:cubicBezTo>
                  <a:pt x="149461" y="35719"/>
                  <a:pt x="154781" y="41039"/>
                  <a:pt x="154781" y="47625"/>
                </a:cubicBezTo>
                <a:cubicBezTo>
                  <a:pt x="154781" y="54211"/>
                  <a:pt x="149461" y="59531"/>
                  <a:pt x="142875" y="59531"/>
                </a:cubicBezTo>
                <a:lnTo>
                  <a:pt x="139898" y="59531"/>
                </a:lnTo>
                <a:cubicBezTo>
                  <a:pt x="128401" y="59531"/>
                  <a:pt x="119063" y="68870"/>
                  <a:pt x="119063" y="80367"/>
                </a:cubicBezTo>
                <a:lnTo>
                  <a:pt x="119063" y="83344"/>
                </a:lnTo>
                <a:lnTo>
                  <a:pt x="142875" y="83344"/>
                </a:lnTo>
                <a:cubicBezTo>
                  <a:pt x="156009" y="83344"/>
                  <a:pt x="166688" y="94022"/>
                  <a:pt x="166688" y="107156"/>
                </a:cubicBezTo>
                <a:lnTo>
                  <a:pt x="166688" y="130969"/>
                </a:lnTo>
                <a:cubicBezTo>
                  <a:pt x="166688" y="144103"/>
                  <a:pt x="156009" y="154781"/>
                  <a:pt x="142875" y="154781"/>
                </a:cubicBezTo>
                <a:lnTo>
                  <a:pt x="119063" y="154781"/>
                </a:lnTo>
                <a:cubicBezTo>
                  <a:pt x="105928" y="154781"/>
                  <a:pt x="95250" y="144103"/>
                  <a:pt x="95250" y="130969"/>
                </a:cubicBezTo>
                <a:lnTo>
                  <a:pt x="95250" y="80367"/>
                </a:ln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857250" y="6086475"/>
            <a:ext cx="857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"Digital inventory already exists BUT POORLY. File alone is useless—you need machine settings, parameters." — Nathan Smeenk, Agile Manufacturing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Go-to-Market Strategy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Beachhead: Arctic/Remote Operations → Scale: Oil &amp; Gas + Defense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5763" y="1185863"/>
            <a:ext cx="6172200" cy="2409825"/>
          </a:xfrm>
          <a:custGeom>
            <a:avLst/>
            <a:gdLst/>
            <a:ahLst/>
            <a:cxnLst/>
            <a:rect l="l" t="t" r="r" b="b"/>
            <a:pathLst>
              <a:path w="6172200" h="2409825">
                <a:moveTo>
                  <a:pt x="76199" y="0"/>
                </a:moveTo>
                <a:lnTo>
                  <a:pt x="6096001" y="0"/>
                </a:lnTo>
                <a:cubicBezTo>
                  <a:pt x="6138085" y="0"/>
                  <a:pt x="6172200" y="34115"/>
                  <a:pt x="6172200" y="76199"/>
                </a:cubicBezTo>
                <a:lnTo>
                  <a:pt x="6172200" y="2333626"/>
                </a:lnTo>
                <a:cubicBezTo>
                  <a:pt x="6172200" y="2375710"/>
                  <a:pt x="6138085" y="2409825"/>
                  <a:pt x="6096001" y="2409825"/>
                </a:cubicBezTo>
                <a:lnTo>
                  <a:pt x="76199" y="2409825"/>
                </a:lnTo>
                <a:cubicBezTo>
                  <a:pt x="34115" y="2409825"/>
                  <a:pt x="0" y="2375710"/>
                  <a:pt x="0" y="2333626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2B2D42">
              <a:alpha val="40000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66738" y="13811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07231" y="0"/>
                </a:moveTo>
                <a:cubicBezTo>
                  <a:pt x="107231" y="-6586"/>
                  <a:pt x="101910" y="-11906"/>
                  <a:pt x="95324" y="-11906"/>
                </a:cubicBezTo>
                <a:cubicBezTo>
                  <a:pt x="88739" y="-11906"/>
                  <a:pt x="83418" y="-6586"/>
                  <a:pt x="83418" y="0"/>
                </a:cubicBezTo>
                <a:lnTo>
                  <a:pt x="83418" y="23106"/>
                </a:lnTo>
                <a:lnTo>
                  <a:pt x="77837" y="17525"/>
                </a:lnTo>
                <a:cubicBezTo>
                  <a:pt x="74340" y="14027"/>
                  <a:pt x="68684" y="14027"/>
                  <a:pt x="65224" y="17525"/>
                </a:cubicBezTo>
                <a:cubicBezTo>
                  <a:pt x="61764" y="21022"/>
                  <a:pt x="61726" y="26677"/>
                  <a:pt x="65224" y="30138"/>
                </a:cubicBezTo>
                <a:lnTo>
                  <a:pt x="83455" y="48369"/>
                </a:lnTo>
                <a:lnTo>
                  <a:pt x="83455" y="74637"/>
                </a:lnTo>
                <a:lnTo>
                  <a:pt x="60685" y="61503"/>
                </a:lnTo>
                <a:lnTo>
                  <a:pt x="54025" y="36612"/>
                </a:lnTo>
                <a:cubicBezTo>
                  <a:pt x="52760" y="31849"/>
                  <a:pt x="47848" y="29021"/>
                  <a:pt x="43086" y="30287"/>
                </a:cubicBezTo>
                <a:cubicBezTo>
                  <a:pt x="38323" y="31552"/>
                  <a:pt x="35458" y="36463"/>
                  <a:pt x="36723" y="41225"/>
                </a:cubicBezTo>
                <a:lnTo>
                  <a:pt x="38770" y="48853"/>
                </a:lnTo>
                <a:lnTo>
                  <a:pt x="18790" y="37319"/>
                </a:lnTo>
                <a:cubicBezTo>
                  <a:pt x="13097" y="34044"/>
                  <a:pt x="5804" y="35979"/>
                  <a:pt x="2530" y="41672"/>
                </a:cubicBezTo>
                <a:cubicBezTo>
                  <a:pt x="-744" y="47365"/>
                  <a:pt x="1191" y="54657"/>
                  <a:pt x="6883" y="57931"/>
                </a:cubicBezTo>
                <a:lnTo>
                  <a:pt x="26863" y="69466"/>
                </a:lnTo>
                <a:lnTo>
                  <a:pt x="19236" y="71512"/>
                </a:lnTo>
                <a:cubicBezTo>
                  <a:pt x="14474" y="72777"/>
                  <a:pt x="11646" y="77688"/>
                  <a:pt x="12911" y="82451"/>
                </a:cubicBezTo>
                <a:cubicBezTo>
                  <a:pt x="14176" y="87213"/>
                  <a:pt x="19087" y="90041"/>
                  <a:pt x="23850" y="88776"/>
                </a:cubicBezTo>
                <a:lnTo>
                  <a:pt x="48741" y="82116"/>
                </a:lnTo>
                <a:lnTo>
                  <a:pt x="71512" y="95250"/>
                </a:lnTo>
                <a:lnTo>
                  <a:pt x="48741" y="108384"/>
                </a:lnTo>
                <a:lnTo>
                  <a:pt x="23850" y="101724"/>
                </a:lnTo>
                <a:cubicBezTo>
                  <a:pt x="19087" y="100459"/>
                  <a:pt x="14176" y="103287"/>
                  <a:pt x="12911" y="108049"/>
                </a:cubicBezTo>
                <a:cubicBezTo>
                  <a:pt x="11646" y="112812"/>
                  <a:pt x="14474" y="117723"/>
                  <a:pt x="19236" y="118988"/>
                </a:cubicBezTo>
                <a:lnTo>
                  <a:pt x="26863" y="121034"/>
                </a:lnTo>
                <a:lnTo>
                  <a:pt x="6883" y="132569"/>
                </a:lnTo>
                <a:cubicBezTo>
                  <a:pt x="1191" y="135843"/>
                  <a:pt x="-744" y="143135"/>
                  <a:pt x="2530" y="148828"/>
                </a:cubicBezTo>
                <a:cubicBezTo>
                  <a:pt x="5804" y="154521"/>
                  <a:pt x="13097" y="156493"/>
                  <a:pt x="18790" y="153181"/>
                </a:cubicBezTo>
                <a:lnTo>
                  <a:pt x="38770" y="141647"/>
                </a:lnTo>
                <a:lnTo>
                  <a:pt x="36723" y="149275"/>
                </a:lnTo>
                <a:cubicBezTo>
                  <a:pt x="35458" y="154037"/>
                  <a:pt x="38286" y="158948"/>
                  <a:pt x="43049" y="160213"/>
                </a:cubicBezTo>
                <a:cubicBezTo>
                  <a:pt x="47811" y="161479"/>
                  <a:pt x="52722" y="158651"/>
                  <a:pt x="53987" y="153888"/>
                </a:cubicBezTo>
                <a:lnTo>
                  <a:pt x="60647" y="128997"/>
                </a:lnTo>
                <a:lnTo>
                  <a:pt x="83418" y="115863"/>
                </a:lnTo>
                <a:lnTo>
                  <a:pt x="83418" y="142131"/>
                </a:lnTo>
                <a:lnTo>
                  <a:pt x="65187" y="160362"/>
                </a:lnTo>
                <a:cubicBezTo>
                  <a:pt x="61689" y="163860"/>
                  <a:pt x="61689" y="169515"/>
                  <a:pt x="65187" y="172975"/>
                </a:cubicBezTo>
                <a:cubicBezTo>
                  <a:pt x="68684" y="176436"/>
                  <a:pt x="74340" y="176473"/>
                  <a:pt x="77800" y="172975"/>
                </a:cubicBezTo>
                <a:lnTo>
                  <a:pt x="83381" y="167394"/>
                </a:lnTo>
                <a:lnTo>
                  <a:pt x="83381" y="190500"/>
                </a:lnTo>
                <a:cubicBezTo>
                  <a:pt x="83381" y="197086"/>
                  <a:pt x="88702" y="202406"/>
                  <a:pt x="95287" y="202406"/>
                </a:cubicBezTo>
                <a:cubicBezTo>
                  <a:pt x="101873" y="202406"/>
                  <a:pt x="107193" y="197086"/>
                  <a:pt x="107193" y="190500"/>
                </a:cubicBezTo>
                <a:lnTo>
                  <a:pt x="107193" y="167394"/>
                </a:lnTo>
                <a:lnTo>
                  <a:pt x="112775" y="172975"/>
                </a:lnTo>
                <a:cubicBezTo>
                  <a:pt x="116272" y="176473"/>
                  <a:pt x="121927" y="176473"/>
                  <a:pt x="125388" y="172975"/>
                </a:cubicBezTo>
                <a:cubicBezTo>
                  <a:pt x="128848" y="169478"/>
                  <a:pt x="128885" y="163823"/>
                  <a:pt x="125388" y="160362"/>
                </a:cubicBezTo>
                <a:lnTo>
                  <a:pt x="107156" y="142131"/>
                </a:lnTo>
                <a:lnTo>
                  <a:pt x="107156" y="115863"/>
                </a:lnTo>
                <a:lnTo>
                  <a:pt x="129927" y="128997"/>
                </a:lnTo>
                <a:lnTo>
                  <a:pt x="136587" y="153888"/>
                </a:lnTo>
                <a:cubicBezTo>
                  <a:pt x="137852" y="158651"/>
                  <a:pt x="142763" y="161479"/>
                  <a:pt x="147526" y="160213"/>
                </a:cubicBezTo>
                <a:cubicBezTo>
                  <a:pt x="152288" y="158948"/>
                  <a:pt x="155116" y="154037"/>
                  <a:pt x="153851" y="149275"/>
                </a:cubicBezTo>
                <a:lnTo>
                  <a:pt x="151805" y="141647"/>
                </a:lnTo>
                <a:lnTo>
                  <a:pt x="171785" y="153181"/>
                </a:lnTo>
                <a:cubicBezTo>
                  <a:pt x="177478" y="156456"/>
                  <a:pt x="184770" y="154521"/>
                  <a:pt x="188044" y="148828"/>
                </a:cubicBezTo>
                <a:cubicBezTo>
                  <a:pt x="191319" y="143135"/>
                  <a:pt x="189384" y="135843"/>
                  <a:pt x="183691" y="132569"/>
                </a:cubicBezTo>
                <a:lnTo>
                  <a:pt x="163711" y="121034"/>
                </a:lnTo>
                <a:lnTo>
                  <a:pt x="171338" y="118988"/>
                </a:lnTo>
                <a:cubicBezTo>
                  <a:pt x="176101" y="117723"/>
                  <a:pt x="178929" y="112812"/>
                  <a:pt x="177664" y="108049"/>
                </a:cubicBezTo>
                <a:cubicBezTo>
                  <a:pt x="176399" y="103287"/>
                  <a:pt x="171487" y="100459"/>
                  <a:pt x="166725" y="101724"/>
                </a:cubicBezTo>
                <a:lnTo>
                  <a:pt x="141833" y="108384"/>
                </a:lnTo>
                <a:lnTo>
                  <a:pt x="119062" y="95250"/>
                </a:lnTo>
                <a:lnTo>
                  <a:pt x="141833" y="82116"/>
                </a:lnTo>
                <a:lnTo>
                  <a:pt x="166725" y="88776"/>
                </a:lnTo>
                <a:cubicBezTo>
                  <a:pt x="171487" y="90041"/>
                  <a:pt x="176399" y="87213"/>
                  <a:pt x="177664" y="82451"/>
                </a:cubicBezTo>
                <a:cubicBezTo>
                  <a:pt x="178929" y="77688"/>
                  <a:pt x="176101" y="72777"/>
                  <a:pt x="171338" y="71512"/>
                </a:cubicBezTo>
                <a:lnTo>
                  <a:pt x="163711" y="69466"/>
                </a:lnTo>
                <a:lnTo>
                  <a:pt x="183691" y="57931"/>
                </a:lnTo>
                <a:cubicBezTo>
                  <a:pt x="189384" y="54657"/>
                  <a:pt x="191356" y="47365"/>
                  <a:pt x="188044" y="41672"/>
                </a:cubicBezTo>
                <a:cubicBezTo>
                  <a:pt x="184733" y="35979"/>
                  <a:pt x="177478" y="34044"/>
                  <a:pt x="171785" y="37319"/>
                </a:cubicBezTo>
                <a:lnTo>
                  <a:pt x="151805" y="48853"/>
                </a:lnTo>
                <a:lnTo>
                  <a:pt x="153851" y="41225"/>
                </a:lnTo>
                <a:cubicBezTo>
                  <a:pt x="155116" y="36463"/>
                  <a:pt x="152288" y="31552"/>
                  <a:pt x="147526" y="30287"/>
                </a:cubicBezTo>
                <a:cubicBezTo>
                  <a:pt x="142763" y="29021"/>
                  <a:pt x="137852" y="31849"/>
                  <a:pt x="136587" y="36612"/>
                </a:cubicBezTo>
                <a:lnTo>
                  <a:pt x="129927" y="61503"/>
                </a:lnTo>
                <a:lnTo>
                  <a:pt x="107156" y="74637"/>
                </a:lnTo>
                <a:lnTo>
                  <a:pt x="107156" y="48369"/>
                </a:lnTo>
                <a:lnTo>
                  <a:pt x="125388" y="30138"/>
                </a:lnTo>
                <a:cubicBezTo>
                  <a:pt x="128885" y="26640"/>
                  <a:pt x="128885" y="20985"/>
                  <a:pt x="125388" y="17525"/>
                </a:cubicBezTo>
                <a:cubicBezTo>
                  <a:pt x="121890" y="14064"/>
                  <a:pt x="116235" y="14027"/>
                  <a:pt x="112775" y="17525"/>
                </a:cubicBezTo>
                <a:lnTo>
                  <a:pt x="107193" y="23106"/>
                </a:lnTo>
                <a:lnTo>
                  <a:pt x="107193" y="0"/>
                </a:ln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81050" y="1343025"/>
            <a:ext cx="5715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Arctic is THE Entry Point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2925" y="1724025"/>
            <a:ext cx="2876550" cy="800100"/>
          </a:xfrm>
          <a:custGeom>
            <a:avLst/>
            <a:gdLst/>
            <a:ahLst/>
            <a:cxnLst/>
            <a:rect l="l" t="t" r="r" b="b"/>
            <a:pathLst>
              <a:path w="2876550" h="800100">
                <a:moveTo>
                  <a:pt x="38101" y="0"/>
                </a:moveTo>
                <a:lnTo>
                  <a:pt x="2838449" y="0"/>
                </a:lnTo>
                <a:cubicBezTo>
                  <a:pt x="2859492" y="0"/>
                  <a:pt x="2876550" y="17058"/>
                  <a:pt x="2876550" y="38101"/>
                </a:cubicBezTo>
                <a:lnTo>
                  <a:pt x="2876550" y="761999"/>
                </a:lnTo>
                <a:cubicBezTo>
                  <a:pt x="2876550" y="783042"/>
                  <a:pt x="2859492" y="800100"/>
                  <a:pt x="2838449" y="800100"/>
                </a:cubicBezTo>
                <a:lnTo>
                  <a:pt x="38101" y="800100"/>
                </a:lnTo>
                <a:cubicBezTo>
                  <a:pt x="17058" y="800100"/>
                  <a:pt x="0" y="783042"/>
                  <a:pt x="0" y="7619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57225" y="1838325"/>
            <a:ext cx="2714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Logistics Cost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7225" y="2066925"/>
            <a:ext cx="27051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Sealift vs air freight = </a:t>
            </a:r>
            <a:r>
              <a:rPr lang="en-US" sz="90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10x cost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7225" y="2257425"/>
            <a:ext cx="27051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4A6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 On-site AM eliminates air freight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529013" y="1724025"/>
            <a:ext cx="2876550" cy="800100"/>
          </a:xfrm>
          <a:custGeom>
            <a:avLst/>
            <a:gdLst/>
            <a:ahLst/>
            <a:cxnLst/>
            <a:rect l="l" t="t" r="r" b="b"/>
            <a:pathLst>
              <a:path w="2876550" h="800100">
                <a:moveTo>
                  <a:pt x="38101" y="0"/>
                </a:moveTo>
                <a:lnTo>
                  <a:pt x="2838449" y="0"/>
                </a:lnTo>
                <a:cubicBezTo>
                  <a:pt x="2859492" y="0"/>
                  <a:pt x="2876550" y="17058"/>
                  <a:pt x="2876550" y="38101"/>
                </a:cubicBezTo>
                <a:lnTo>
                  <a:pt x="2876550" y="761999"/>
                </a:lnTo>
                <a:cubicBezTo>
                  <a:pt x="2876550" y="783042"/>
                  <a:pt x="2859492" y="800100"/>
                  <a:pt x="2838449" y="800100"/>
                </a:cubicBezTo>
                <a:lnTo>
                  <a:pt x="38101" y="800100"/>
                </a:lnTo>
                <a:cubicBezTo>
                  <a:pt x="17058" y="800100"/>
                  <a:pt x="0" y="783042"/>
                  <a:pt x="0" y="7619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643313" y="1838325"/>
            <a:ext cx="2714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Access Windows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43313" y="2066925"/>
            <a:ext cx="27051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Ice formation/breakup = </a:t>
            </a:r>
            <a:r>
              <a:rPr lang="en-US" sz="90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STRANDED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43313" y="2257425"/>
            <a:ext cx="27051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4A6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 Print on-demand during stranded periods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2925" y="2638425"/>
            <a:ext cx="2876550" cy="800100"/>
          </a:xfrm>
          <a:custGeom>
            <a:avLst/>
            <a:gdLst/>
            <a:ahLst/>
            <a:cxnLst/>
            <a:rect l="l" t="t" r="r" b="b"/>
            <a:pathLst>
              <a:path w="2876550" h="800100">
                <a:moveTo>
                  <a:pt x="38101" y="0"/>
                </a:moveTo>
                <a:lnTo>
                  <a:pt x="2838449" y="0"/>
                </a:lnTo>
                <a:cubicBezTo>
                  <a:pt x="2859492" y="0"/>
                  <a:pt x="2876550" y="17058"/>
                  <a:pt x="2876550" y="38101"/>
                </a:cubicBezTo>
                <a:lnTo>
                  <a:pt x="2876550" y="761999"/>
                </a:lnTo>
                <a:cubicBezTo>
                  <a:pt x="2876550" y="783042"/>
                  <a:pt x="2859492" y="800100"/>
                  <a:pt x="2838449" y="800100"/>
                </a:cubicBezTo>
                <a:lnTo>
                  <a:pt x="38101" y="800100"/>
                </a:lnTo>
                <a:cubicBezTo>
                  <a:pt x="17058" y="800100"/>
                  <a:pt x="0" y="783042"/>
                  <a:pt x="0" y="7619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57225" y="2752725"/>
            <a:ext cx="2714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Redundancy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57225" y="2981325"/>
            <a:ext cx="27051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N+2 in remote mining (highest cost)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57225" y="3171825"/>
            <a:ext cx="27051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4A6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 Digital inventory: N+2 → N+1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529013" y="2638425"/>
            <a:ext cx="2876550" cy="800100"/>
          </a:xfrm>
          <a:custGeom>
            <a:avLst/>
            <a:gdLst/>
            <a:ahLst/>
            <a:cxnLst/>
            <a:rect l="l" t="t" r="r" b="b"/>
            <a:pathLst>
              <a:path w="2876550" h="800100">
                <a:moveTo>
                  <a:pt x="38101" y="0"/>
                </a:moveTo>
                <a:lnTo>
                  <a:pt x="2838449" y="0"/>
                </a:lnTo>
                <a:cubicBezTo>
                  <a:pt x="2859492" y="0"/>
                  <a:pt x="2876550" y="17058"/>
                  <a:pt x="2876550" y="38101"/>
                </a:cubicBezTo>
                <a:lnTo>
                  <a:pt x="2876550" y="761999"/>
                </a:lnTo>
                <a:cubicBezTo>
                  <a:pt x="2876550" y="783042"/>
                  <a:pt x="2859492" y="800100"/>
                  <a:pt x="2838449" y="800100"/>
                </a:cubicBezTo>
                <a:lnTo>
                  <a:pt x="38101" y="800100"/>
                </a:lnTo>
                <a:cubicBezTo>
                  <a:pt x="17058" y="800100"/>
                  <a:pt x="0" y="783042"/>
                  <a:pt x="0" y="7619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643313" y="2752725"/>
            <a:ext cx="2714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Sovereign Resilience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643313" y="2981325"/>
            <a:ext cx="27051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Federal mandate for northern independence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643313" y="3171825"/>
            <a:ext cx="27051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4A6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 "Sovereign supply chain" positioning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85763" y="3757613"/>
            <a:ext cx="6172200" cy="2638425"/>
          </a:xfrm>
          <a:custGeom>
            <a:avLst/>
            <a:gdLst/>
            <a:ahLst/>
            <a:cxnLst/>
            <a:rect l="l" t="t" r="r" b="b"/>
            <a:pathLst>
              <a:path w="6172200" h="2638425">
                <a:moveTo>
                  <a:pt x="76198" y="0"/>
                </a:moveTo>
                <a:lnTo>
                  <a:pt x="6096002" y="0"/>
                </a:lnTo>
                <a:cubicBezTo>
                  <a:pt x="6138057" y="0"/>
                  <a:pt x="6172200" y="34143"/>
                  <a:pt x="6172200" y="76198"/>
                </a:cubicBezTo>
                <a:lnTo>
                  <a:pt x="6172200" y="2562227"/>
                </a:lnTo>
                <a:cubicBezTo>
                  <a:pt x="6172200" y="2604282"/>
                  <a:pt x="6138057" y="2638425"/>
                  <a:pt x="6096002" y="2638425"/>
                </a:cubicBezTo>
                <a:lnTo>
                  <a:pt x="76198" y="2638425"/>
                </a:lnTo>
                <a:cubicBezTo>
                  <a:pt x="34143" y="2638425"/>
                  <a:pt x="0" y="2604282"/>
                  <a:pt x="0" y="2562227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2B2D42">
              <a:alpha val="40000"/>
            </a:srgbClr>
          </a:solidFill>
          <a:ln w="12700">
            <a:solidFill>
              <a:srgbClr val="E07A5F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42925" y="3914775"/>
            <a:ext cx="5943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Market Expansion Path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42925" y="4317206"/>
            <a:ext cx="574675" cy="209550"/>
          </a:xfrm>
          <a:custGeom>
            <a:avLst/>
            <a:gdLst/>
            <a:ahLst/>
            <a:cxnLst/>
            <a:rect l="l" t="t" r="r" b="b"/>
            <a:pathLst>
              <a:path w="574675" h="209550">
                <a:moveTo>
                  <a:pt x="38100" y="0"/>
                </a:moveTo>
                <a:lnTo>
                  <a:pt x="536575" y="0"/>
                </a:lnTo>
                <a:cubicBezTo>
                  <a:pt x="557617" y="0"/>
                  <a:pt x="574675" y="17058"/>
                  <a:pt x="574675" y="38100"/>
                </a:cubicBezTo>
                <a:lnTo>
                  <a:pt x="574675" y="171450"/>
                </a:lnTo>
                <a:cubicBezTo>
                  <a:pt x="574675" y="192492"/>
                  <a:pt x="557617" y="209550"/>
                  <a:pt x="536575" y="209550"/>
                </a:cubicBezTo>
                <a:lnTo>
                  <a:pt x="38100" y="209550"/>
                </a:lnTo>
                <a:cubicBezTo>
                  <a:pt x="17058" y="209550"/>
                  <a:pt x="0" y="192492"/>
                  <a:pt x="0" y="1714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42925" y="4317206"/>
            <a:ext cx="631825" cy="20955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PHASE 1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42925" y="4562475"/>
            <a:ext cx="8191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Year 1-2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419225" y="4295775"/>
            <a:ext cx="4981575" cy="647700"/>
          </a:xfrm>
          <a:custGeom>
            <a:avLst/>
            <a:gdLst/>
            <a:ahLst/>
            <a:cxnLst/>
            <a:rect l="l" t="t" r="r" b="b"/>
            <a:pathLst>
              <a:path w="4981575" h="647700">
                <a:moveTo>
                  <a:pt x="38098" y="0"/>
                </a:moveTo>
                <a:lnTo>
                  <a:pt x="4943477" y="0"/>
                </a:lnTo>
                <a:cubicBezTo>
                  <a:pt x="4964504" y="0"/>
                  <a:pt x="4981575" y="17071"/>
                  <a:pt x="4981575" y="38098"/>
                </a:cubicBezTo>
                <a:lnTo>
                  <a:pt x="4981575" y="609602"/>
                </a:lnTo>
                <a:cubicBezTo>
                  <a:pt x="4981575" y="630643"/>
                  <a:pt x="4964518" y="647700"/>
                  <a:pt x="4943477" y="647700"/>
                </a:cubicBezTo>
                <a:lnTo>
                  <a:pt x="38098" y="647700"/>
                </a:lnTo>
                <a:cubicBezTo>
                  <a:pt x="17071" y="647700"/>
                  <a:pt x="0" y="630629"/>
                  <a:pt x="0" y="6096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495425" y="4371975"/>
            <a:ext cx="4895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Arctic Beachhead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495425" y="4562475"/>
            <a:ext cx="48863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Utilities, Arctic mining, northern ops • Partners: Engineered Intelligence, C-CORE, ERINL • Revenue: 10 customers × $234K = </a:t>
            </a:r>
            <a:r>
              <a:rPr lang="en-US" sz="90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$2.34M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42925" y="5041106"/>
            <a:ext cx="596582" cy="209550"/>
          </a:xfrm>
          <a:custGeom>
            <a:avLst/>
            <a:gdLst/>
            <a:ahLst/>
            <a:cxnLst/>
            <a:rect l="l" t="t" r="r" b="b"/>
            <a:pathLst>
              <a:path w="596582" h="209550">
                <a:moveTo>
                  <a:pt x="38100" y="0"/>
                </a:moveTo>
                <a:lnTo>
                  <a:pt x="558482" y="0"/>
                </a:lnTo>
                <a:cubicBezTo>
                  <a:pt x="579524" y="0"/>
                  <a:pt x="596582" y="17058"/>
                  <a:pt x="596582" y="38100"/>
                </a:cubicBezTo>
                <a:lnTo>
                  <a:pt x="596582" y="171450"/>
                </a:lnTo>
                <a:cubicBezTo>
                  <a:pt x="596582" y="192492"/>
                  <a:pt x="579524" y="209550"/>
                  <a:pt x="558482" y="209550"/>
                </a:cubicBezTo>
                <a:lnTo>
                  <a:pt x="38100" y="209550"/>
                </a:lnTo>
                <a:cubicBezTo>
                  <a:pt x="17058" y="209550"/>
                  <a:pt x="0" y="192492"/>
                  <a:pt x="0" y="1714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D99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42925" y="5041106"/>
            <a:ext cx="653732" cy="20955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PHASE 2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42925" y="5286375"/>
            <a:ext cx="8191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Year 2-3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1419225" y="5019675"/>
            <a:ext cx="4981575" cy="495300"/>
          </a:xfrm>
          <a:custGeom>
            <a:avLst/>
            <a:gdLst/>
            <a:ahLst/>
            <a:cxnLst/>
            <a:rect l="l" t="t" r="r" b="b"/>
            <a:pathLst>
              <a:path w="4981575" h="495300">
                <a:moveTo>
                  <a:pt x="38098" y="0"/>
                </a:moveTo>
                <a:lnTo>
                  <a:pt x="4943477" y="0"/>
                </a:lnTo>
                <a:cubicBezTo>
                  <a:pt x="4964518" y="0"/>
                  <a:pt x="4981575" y="17057"/>
                  <a:pt x="4981575" y="38098"/>
                </a:cubicBezTo>
                <a:lnTo>
                  <a:pt x="4981575" y="457202"/>
                </a:lnTo>
                <a:cubicBezTo>
                  <a:pt x="4981575" y="478243"/>
                  <a:pt x="4964518" y="495300"/>
                  <a:pt x="4943477" y="495300"/>
                </a:cubicBezTo>
                <a:lnTo>
                  <a:pt x="38098" y="495300"/>
                </a:lnTo>
                <a:cubicBezTo>
                  <a:pt x="17057" y="495300"/>
                  <a:pt x="0" y="478243"/>
                  <a:pt x="0" y="4572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1495425" y="5095875"/>
            <a:ext cx="4895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Aerospace Certification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495425" y="5286375"/>
            <a:ext cx="48863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"Aerospace First" strategy • PEEK printing • Partners: Shield Group, Memorial SMART Lab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42925" y="5612606"/>
            <a:ext cx="599599" cy="209550"/>
          </a:xfrm>
          <a:custGeom>
            <a:avLst/>
            <a:gdLst/>
            <a:ahLst/>
            <a:cxnLst/>
            <a:rect l="l" t="t" r="r" b="b"/>
            <a:pathLst>
              <a:path w="599599" h="209550">
                <a:moveTo>
                  <a:pt x="38100" y="0"/>
                </a:moveTo>
                <a:lnTo>
                  <a:pt x="561498" y="0"/>
                </a:lnTo>
                <a:cubicBezTo>
                  <a:pt x="582541" y="0"/>
                  <a:pt x="599599" y="17058"/>
                  <a:pt x="599599" y="38100"/>
                </a:cubicBezTo>
                <a:lnTo>
                  <a:pt x="599599" y="171450"/>
                </a:lnTo>
                <a:cubicBezTo>
                  <a:pt x="599599" y="192492"/>
                  <a:pt x="582541" y="209550"/>
                  <a:pt x="561498" y="209550"/>
                </a:cubicBezTo>
                <a:lnTo>
                  <a:pt x="38100" y="209550"/>
                </a:lnTo>
                <a:cubicBezTo>
                  <a:pt x="17058" y="209550"/>
                  <a:pt x="0" y="192492"/>
                  <a:pt x="0" y="1714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42925" y="5612606"/>
            <a:ext cx="656749" cy="20955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PHASE 3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42925" y="5857875"/>
            <a:ext cx="8191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Year 3-5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1419225" y="5591175"/>
            <a:ext cx="4981575" cy="647700"/>
          </a:xfrm>
          <a:custGeom>
            <a:avLst/>
            <a:gdLst/>
            <a:ahLst/>
            <a:cxnLst/>
            <a:rect l="l" t="t" r="r" b="b"/>
            <a:pathLst>
              <a:path w="4981575" h="647700">
                <a:moveTo>
                  <a:pt x="38098" y="0"/>
                </a:moveTo>
                <a:lnTo>
                  <a:pt x="4943477" y="0"/>
                </a:lnTo>
                <a:cubicBezTo>
                  <a:pt x="4964504" y="0"/>
                  <a:pt x="4981575" y="17071"/>
                  <a:pt x="4981575" y="38098"/>
                </a:cubicBezTo>
                <a:lnTo>
                  <a:pt x="4981575" y="609602"/>
                </a:lnTo>
                <a:cubicBezTo>
                  <a:pt x="4981575" y="630643"/>
                  <a:pt x="4964518" y="647700"/>
                  <a:pt x="4943477" y="647700"/>
                </a:cubicBezTo>
                <a:lnTo>
                  <a:pt x="38098" y="647700"/>
                </a:lnTo>
                <a:cubicBezTo>
                  <a:pt x="17071" y="647700"/>
                  <a:pt x="0" y="630629"/>
                  <a:pt x="0" y="6096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1495425" y="5667375"/>
            <a:ext cx="4895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Oil &amp; Gas + Defense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495425" y="5857875"/>
            <a:ext cx="48863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ExxonMobil, Equinor partnerships • Canadian Navy (Thales/Cove), Irving Shipbuilding • Global expansion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757988" y="1185863"/>
            <a:ext cx="5048250" cy="3438525"/>
          </a:xfrm>
          <a:custGeom>
            <a:avLst/>
            <a:gdLst/>
            <a:ahLst/>
            <a:cxnLst/>
            <a:rect l="l" t="t" r="r" b="b"/>
            <a:pathLst>
              <a:path w="5048250" h="3438525">
                <a:moveTo>
                  <a:pt x="76198" y="0"/>
                </a:moveTo>
                <a:lnTo>
                  <a:pt x="4972052" y="0"/>
                </a:lnTo>
                <a:cubicBezTo>
                  <a:pt x="5014107" y="0"/>
                  <a:pt x="5048250" y="34143"/>
                  <a:pt x="5048250" y="76198"/>
                </a:cubicBezTo>
                <a:lnTo>
                  <a:pt x="5048250" y="3362327"/>
                </a:lnTo>
                <a:cubicBezTo>
                  <a:pt x="5048250" y="3404382"/>
                  <a:pt x="5014107" y="3438525"/>
                  <a:pt x="4972052" y="3438525"/>
                </a:cubicBezTo>
                <a:lnTo>
                  <a:pt x="76198" y="3438525"/>
                </a:lnTo>
                <a:cubicBezTo>
                  <a:pt x="34143" y="3438525"/>
                  <a:pt x="0" y="3404382"/>
                  <a:pt x="0" y="3362327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2B2D42">
              <a:alpha val="40000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6928247" y="1390650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90045" y="28530"/>
                </a:moveTo>
                <a:lnTo>
                  <a:pt x="51000" y="71929"/>
                </a:lnTo>
                <a:cubicBezTo>
                  <a:pt x="49459" y="73636"/>
                  <a:pt x="49526" y="76282"/>
                  <a:pt x="51167" y="77923"/>
                </a:cubicBezTo>
                <a:cubicBezTo>
                  <a:pt x="61380" y="88136"/>
                  <a:pt x="77956" y="88136"/>
                  <a:pt x="88170" y="77923"/>
                </a:cubicBezTo>
                <a:lnTo>
                  <a:pt x="98818" y="67274"/>
                </a:lnTo>
                <a:cubicBezTo>
                  <a:pt x="100225" y="65868"/>
                  <a:pt x="101999" y="65097"/>
                  <a:pt x="103808" y="64963"/>
                </a:cubicBezTo>
                <a:cubicBezTo>
                  <a:pt x="106085" y="64763"/>
                  <a:pt x="108429" y="65533"/>
                  <a:pt x="110170" y="67274"/>
                </a:cubicBezTo>
                <a:lnTo>
                  <a:pt x="169307" y="125909"/>
                </a:lnTo>
                <a:lnTo>
                  <a:pt x="192881" y="107156"/>
                </a:lnTo>
                <a:lnTo>
                  <a:pt x="192881" y="10716"/>
                </a:lnTo>
                <a:lnTo>
                  <a:pt x="155377" y="32147"/>
                </a:lnTo>
                <a:lnTo>
                  <a:pt x="147407" y="26823"/>
                </a:lnTo>
                <a:cubicBezTo>
                  <a:pt x="142116" y="23306"/>
                  <a:pt x="135921" y="21431"/>
                  <a:pt x="129559" y="21431"/>
                </a:cubicBezTo>
                <a:lnTo>
                  <a:pt x="105984" y="21431"/>
                </a:lnTo>
                <a:cubicBezTo>
                  <a:pt x="105616" y="21431"/>
                  <a:pt x="105214" y="21431"/>
                  <a:pt x="104846" y="21465"/>
                </a:cubicBezTo>
                <a:cubicBezTo>
                  <a:pt x="99187" y="21766"/>
                  <a:pt x="93862" y="24311"/>
                  <a:pt x="90045" y="28530"/>
                </a:cubicBezTo>
                <a:close/>
                <a:moveTo>
                  <a:pt x="39045" y="61180"/>
                </a:moveTo>
                <a:lnTo>
                  <a:pt x="74808" y="21431"/>
                </a:lnTo>
                <a:lnTo>
                  <a:pt x="61548" y="21431"/>
                </a:lnTo>
                <a:cubicBezTo>
                  <a:pt x="53009" y="21431"/>
                  <a:pt x="44838" y="24813"/>
                  <a:pt x="38811" y="30841"/>
                </a:cubicBezTo>
                <a:lnTo>
                  <a:pt x="37505" y="32147"/>
                </a:lnTo>
                <a:lnTo>
                  <a:pt x="0" y="10716"/>
                </a:lnTo>
                <a:lnTo>
                  <a:pt x="0" y="107156"/>
                </a:lnTo>
                <a:lnTo>
                  <a:pt x="52373" y="150789"/>
                </a:lnTo>
                <a:cubicBezTo>
                  <a:pt x="60074" y="157218"/>
                  <a:pt x="69786" y="160734"/>
                  <a:pt x="79798" y="160734"/>
                </a:cubicBezTo>
                <a:lnTo>
                  <a:pt x="85055" y="160734"/>
                </a:lnTo>
                <a:lnTo>
                  <a:pt x="82711" y="158390"/>
                </a:lnTo>
                <a:cubicBezTo>
                  <a:pt x="79564" y="155243"/>
                  <a:pt x="79564" y="150153"/>
                  <a:pt x="82711" y="147038"/>
                </a:cubicBezTo>
                <a:cubicBezTo>
                  <a:pt x="85859" y="143924"/>
                  <a:pt x="90949" y="143891"/>
                  <a:pt x="94063" y="147038"/>
                </a:cubicBezTo>
                <a:lnTo>
                  <a:pt x="107792" y="160768"/>
                </a:lnTo>
                <a:lnTo>
                  <a:pt x="110806" y="160768"/>
                </a:lnTo>
                <a:cubicBezTo>
                  <a:pt x="117202" y="160768"/>
                  <a:pt x="123464" y="159328"/>
                  <a:pt x="129157" y="156649"/>
                </a:cubicBezTo>
                <a:lnTo>
                  <a:pt x="120216" y="147675"/>
                </a:lnTo>
                <a:cubicBezTo>
                  <a:pt x="117068" y="144527"/>
                  <a:pt x="117068" y="139437"/>
                  <a:pt x="120216" y="136323"/>
                </a:cubicBezTo>
                <a:cubicBezTo>
                  <a:pt x="123364" y="133209"/>
                  <a:pt x="128454" y="133175"/>
                  <a:pt x="131568" y="136323"/>
                </a:cubicBezTo>
                <a:lnTo>
                  <a:pt x="142283" y="147038"/>
                </a:lnTo>
                <a:lnTo>
                  <a:pt x="148144" y="141178"/>
                </a:lnTo>
                <a:cubicBezTo>
                  <a:pt x="151124" y="138198"/>
                  <a:pt x="151994" y="133878"/>
                  <a:pt x="150688" y="130094"/>
                </a:cubicBezTo>
                <a:lnTo>
                  <a:pt x="104511" y="84285"/>
                </a:lnTo>
                <a:lnTo>
                  <a:pt x="99521" y="89275"/>
                </a:lnTo>
                <a:cubicBezTo>
                  <a:pt x="83013" y="105783"/>
                  <a:pt x="56291" y="105783"/>
                  <a:pt x="39782" y="89275"/>
                </a:cubicBezTo>
                <a:cubicBezTo>
                  <a:pt x="32080" y="81573"/>
                  <a:pt x="31779" y="69216"/>
                  <a:pt x="39045" y="61146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7134225" y="1343025"/>
            <a:ext cx="4600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Warm Referrals Secured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919913" y="1728788"/>
            <a:ext cx="4724400" cy="1571625"/>
          </a:xfrm>
          <a:custGeom>
            <a:avLst/>
            <a:gdLst/>
            <a:ahLst/>
            <a:cxnLst/>
            <a:rect l="l" t="t" r="r" b="b"/>
            <a:pathLst>
              <a:path w="4724400" h="1571625">
                <a:moveTo>
                  <a:pt x="38096" y="0"/>
                </a:moveTo>
                <a:lnTo>
                  <a:pt x="4686304" y="0"/>
                </a:lnTo>
                <a:cubicBezTo>
                  <a:pt x="4707344" y="0"/>
                  <a:pt x="4724400" y="17056"/>
                  <a:pt x="4724400" y="38096"/>
                </a:cubicBezTo>
                <a:lnTo>
                  <a:pt x="4724400" y="1533529"/>
                </a:lnTo>
                <a:cubicBezTo>
                  <a:pt x="4724400" y="1554569"/>
                  <a:pt x="4707344" y="1571625"/>
                  <a:pt x="4686304" y="1571625"/>
                </a:cubicBezTo>
                <a:lnTo>
                  <a:pt x="38096" y="1571625"/>
                </a:lnTo>
                <a:cubicBezTo>
                  <a:pt x="17056" y="1571625"/>
                  <a:pt x="0" y="1554569"/>
                  <a:pt x="0" y="1533529"/>
                </a:cubicBezTo>
                <a:lnTo>
                  <a:pt x="0" y="38096"/>
                </a:lnTo>
                <a:cubicBezTo>
                  <a:pt x="0" y="17070"/>
                  <a:pt x="17070" y="0"/>
                  <a:pt x="38096" y="0"/>
                </a:cubicBezTo>
                <a:close/>
              </a:path>
            </a:pathLst>
          </a:custGeom>
          <a:solidFill>
            <a:srgbClr val="E07A5F">
              <a:alpha val="10196"/>
            </a:srgbClr>
          </a:solidFill>
          <a:ln w="12700">
            <a:solidFill>
              <a:srgbClr val="E07A5F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7000875" y="1809750"/>
            <a:ext cx="46196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HIGHEST PRIORITY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7008019" y="2047875"/>
            <a:ext cx="128588" cy="114300"/>
          </a:xfrm>
          <a:custGeom>
            <a:avLst/>
            <a:gdLst/>
            <a:ahLst/>
            <a:cxnLst/>
            <a:rect l="l" t="t" r="r" b="b"/>
            <a:pathLst>
              <a:path w="128588" h="114300">
                <a:moveTo>
                  <a:pt x="69093" y="-4219"/>
                </a:moveTo>
                <a:cubicBezTo>
                  <a:pt x="68178" y="-6005"/>
                  <a:pt x="66325" y="-7144"/>
                  <a:pt x="64316" y="-7144"/>
                </a:cubicBezTo>
                <a:cubicBezTo>
                  <a:pt x="62307" y="-7144"/>
                  <a:pt x="60454" y="-6005"/>
                  <a:pt x="59539" y="-4219"/>
                </a:cubicBezTo>
                <a:lnTo>
                  <a:pt x="43108" y="27972"/>
                </a:lnTo>
                <a:lnTo>
                  <a:pt x="7412" y="33643"/>
                </a:lnTo>
                <a:cubicBezTo>
                  <a:pt x="5425" y="33955"/>
                  <a:pt x="3773" y="35362"/>
                  <a:pt x="3148" y="37281"/>
                </a:cubicBezTo>
                <a:cubicBezTo>
                  <a:pt x="2523" y="39201"/>
                  <a:pt x="3036" y="41300"/>
                  <a:pt x="4443" y="42729"/>
                </a:cubicBezTo>
                <a:lnTo>
                  <a:pt x="29981" y="68290"/>
                </a:lnTo>
                <a:lnTo>
                  <a:pt x="24356" y="103986"/>
                </a:lnTo>
                <a:cubicBezTo>
                  <a:pt x="24043" y="105973"/>
                  <a:pt x="24869" y="107982"/>
                  <a:pt x="26499" y="109165"/>
                </a:cubicBezTo>
                <a:cubicBezTo>
                  <a:pt x="28129" y="110349"/>
                  <a:pt x="30272" y="110527"/>
                  <a:pt x="32080" y="109612"/>
                </a:cubicBezTo>
                <a:lnTo>
                  <a:pt x="64316" y="93226"/>
                </a:lnTo>
                <a:lnTo>
                  <a:pt x="96530" y="109612"/>
                </a:lnTo>
                <a:cubicBezTo>
                  <a:pt x="98316" y="110527"/>
                  <a:pt x="100481" y="110349"/>
                  <a:pt x="102111" y="109165"/>
                </a:cubicBezTo>
                <a:cubicBezTo>
                  <a:pt x="103741" y="107982"/>
                  <a:pt x="104567" y="105995"/>
                  <a:pt x="104254" y="103986"/>
                </a:cubicBezTo>
                <a:lnTo>
                  <a:pt x="98606" y="68290"/>
                </a:lnTo>
                <a:lnTo>
                  <a:pt x="124145" y="42729"/>
                </a:lnTo>
                <a:cubicBezTo>
                  <a:pt x="125574" y="41300"/>
                  <a:pt x="126065" y="39201"/>
                  <a:pt x="125440" y="37281"/>
                </a:cubicBezTo>
                <a:cubicBezTo>
                  <a:pt x="124815" y="35362"/>
                  <a:pt x="123185" y="33955"/>
                  <a:pt x="121176" y="33643"/>
                </a:cubicBezTo>
                <a:lnTo>
                  <a:pt x="85502" y="27972"/>
                </a:lnTo>
                <a:lnTo>
                  <a:pt x="69093" y="-4219"/>
                </a:ln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7172325" y="2000250"/>
            <a:ext cx="4457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Greda Aleirum</a:t>
            </a:r>
            <a:r>
              <a:rPr lang="en-US" sz="105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Equinor Global AM Lead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7153275" y="2228850"/>
            <a:ext cx="44672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Tyler Beatty intro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7008019" y="2466975"/>
            <a:ext cx="128588" cy="114300"/>
          </a:xfrm>
          <a:custGeom>
            <a:avLst/>
            <a:gdLst/>
            <a:ahLst/>
            <a:cxnLst/>
            <a:rect l="l" t="t" r="r" b="b"/>
            <a:pathLst>
              <a:path w="128588" h="114300">
                <a:moveTo>
                  <a:pt x="69093" y="-4219"/>
                </a:moveTo>
                <a:cubicBezTo>
                  <a:pt x="68178" y="-6005"/>
                  <a:pt x="66325" y="-7144"/>
                  <a:pt x="64316" y="-7144"/>
                </a:cubicBezTo>
                <a:cubicBezTo>
                  <a:pt x="62307" y="-7144"/>
                  <a:pt x="60454" y="-6005"/>
                  <a:pt x="59539" y="-4219"/>
                </a:cubicBezTo>
                <a:lnTo>
                  <a:pt x="43108" y="27972"/>
                </a:lnTo>
                <a:lnTo>
                  <a:pt x="7412" y="33643"/>
                </a:lnTo>
                <a:cubicBezTo>
                  <a:pt x="5425" y="33955"/>
                  <a:pt x="3773" y="35362"/>
                  <a:pt x="3148" y="37281"/>
                </a:cubicBezTo>
                <a:cubicBezTo>
                  <a:pt x="2523" y="39201"/>
                  <a:pt x="3036" y="41300"/>
                  <a:pt x="4443" y="42729"/>
                </a:cubicBezTo>
                <a:lnTo>
                  <a:pt x="29981" y="68290"/>
                </a:lnTo>
                <a:lnTo>
                  <a:pt x="24356" y="103986"/>
                </a:lnTo>
                <a:cubicBezTo>
                  <a:pt x="24043" y="105973"/>
                  <a:pt x="24869" y="107982"/>
                  <a:pt x="26499" y="109165"/>
                </a:cubicBezTo>
                <a:cubicBezTo>
                  <a:pt x="28129" y="110349"/>
                  <a:pt x="30272" y="110527"/>
                  <a:pt x="32080" y="109612"/>
                </a:cubicBezTo>
                <a:lnTo>
                  <a:pt x="64316" y="93226"/>
                </a:lnTo>
                <a:lnTo>
                  <a:pt x="96530" y="109612"/>
                </a:lnTo>
                <a:cubicBezTo>
                  <a:pt x="98316" y="110527"/>
                  <a:pt x="100481" y="110349"/>
                  <a:pt x="102111" y="109165"/>
                </a:cubicBezTo>
                <a:cubicBezTo>
                  <a:pt x="103741" y="107982"/>
                  <a:pt x="104567" y="105995"/>
                  <a:pt x="104254" y="103986"/>
                </a:cubicBezTo>
                <a:lnTo>
                  <a:pt x="98606" y="68290"/>
                </a:lnTo>
                <a:lnTo>
                  <a:pt x="124145" y="42729"/>
                </a:lnTo>
                <a:cubicBezTo>
                  <a:pt x="125574" y="41300"/>
                  <a:pt x="126065" y="39201"/>
                  <a:pt x="125440" y="37281"/>
                </a:cubicBezTo>
                <a:cubicBezTo>
                  <a:pt x="124815" y="35362"/>
                  <a:pt x="123185" y="33955"/>
                  <a:pt x="121176" y="33643"/>
                </a:cubicBezTo>
                <a:lnTo>
                  <a:pt x="85502" y="27972"/>
                </a:lnTo>
                <a:lnTo>
                  <a:pt x="69093" y="-4219"/>
                </a:ln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7172325" y="2419350"/>
            <a:ext cx="4457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Shawn Sooley</a:t>
            </a:r>
            <a:r>
              <a:rPr lang="en-US" sz="105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Shield Group CEO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7153275" y="2647950"/>
            <a:ext cx="44672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Industry credibility partner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7008019" y="2886075"/>
            <a:ext cx="128588" cy="114300"/>
          </a:xfrm>
          <a:custGeom>
            <a:avLst/>
            <a:gdLst/>
            <a:ahLst/>
            <a:cxnLst/>
            <a:rect l="l" t="t" r="r" b="b"/>
            <a:pathLst>
              <a:path w="128588" h="114300">
                <a:moveTo>
                  <a:pt x="69093" y="-4219"/>
                </a:moveTo>
                <a:cubicBezTo>
                  <a:pt x="68178" y="-6005"/>
                  <a:pt x="66325" y="-7144"/>
                  <a:pt x="64316" y="-7144"/>
                </a:cubicBezTo>
                <a:cubicBezTo>
                  <a:pt x="62307" y="-7144"/>
                  <a:pt x="60454" y="-6005"/>
                  <a:pt x="59539" y="-4219"/>
                </a:cubicBezTo>
                <a:lnTo>
                  <a:pt x="43108" y="27972"/>
                </a:lnTo>
                <a:lnTo>
                  <a:pt x="7412" y="33643"/>
                </a:lnTo>
                <a:cubicBezTo>
                  <a:pt x="5425" y="33955"/>
                  <a:pt x="3773" y="35362"/>
                  <a:pt x="3148" y="37281"/>
                </a:cubicBezTo>
                <a:cubicBezTo>
                  <a:pt x="2523" y="39201"/>
                  <a:pt x="3036" y="41300"/>
                  <a:pt x="4443" y="42729"/>
                </a:cubicBezTo>
                <a:lnTo>
                  <a:pt x="29981" y="68290"/>
                </a:lnTo>
                <a:lnTo>
                  <a:pt x="24356" y="103986"/>
                </a:lnTo>
                <a:cubicBezTo>
                  <a:pt x="24043" y="105973"/>
                  <a:pt x="24869" y="107982"/>
                  <a:pt x="26499" y="109165"/>
                </a:cubicBezTo>
                <a:cubicBezTo>
                  <a:pt x="28129" y="110349"/>
                  <a:pt x="30272" y="110527"/>
                  <a:pt x="32080" y="109612"/>
                </a:cubicBezTo>
                <a:lnTo>
                  <a:pt x="64316" y="93226"/>
                </a:lnTo>
                <a:lnTo>
                  <a:pt x="96530" y="109612"/>
                </a:lnTo>
                <a:cubicBezTo>
                  <a:pt x="98316" y="110527"/>
                  <a:pt x="100481" y="110349"/>
                  <a:pt x="102111" y="109165"/>
                </a:cubicBezTo>
                <a:cubicBezTo>
                  <a:pt x="103741" y="107982"/>
                  <a:pt x="104567" y="105995"/>
                  <a:pt x="104254" y="103986"/>
                </a:cubicBezTo>
                <a:lnTo>
                  <a:pt x="98606" y="68290"/>
                </a:lnTo>
                <a:lnTo>
                  <a:pt x="124145" y="42729"/>
                </a:lnTo>
                <a:cubicBezTo>
                  <a:pt x="125574" y="41300"/>
                  <a:pt x="126065" y="39201"/>
                  <a:pt x="125440" y="37281"/>
                </a:cubicBezTo>
                <a:cubicBezTo>
                  <a:pt x="124815" y="35362"/>
                  <a:pt x="123185" y="33955"/>
                  <a:pt x="121176" y="33643"/>
                </a:cubicBezTo>
                <a:lnTo>
                  <a:pt x="85502" y="27972"/>
                </a:lnTo>
                <a:lnTo>
                  <a:pt x="69093" y="-4219"/>
                </a:ln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7181850" y="2857500"/>
            <a:ext cx="147812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Engineered Intelligence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7153275" y="3067050"/>
            <a:ext cx="44672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asset intelligence (Adam Chubbs)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6919913" y="3386138"/>
            <a:ext cx="4724400" cy="1076325"/>
          </a:xfrm>
          <a:custGeom>
            <a:avLst/>
            <a:gdLst/>
            <a:ahLst/>
            <a:cxnLst/>
            <a:rect l="l" t="t" r="r" b="b"/>
            <a:pathLst>
              <a:path w="4724400" h="1076325">
                <a:moveTo>
                  <a:pt x="38102" y="0"/>
                </a:moveTo>
                <a:lnTo>
                  <a:pt x="4686298" y="0"/>
                </a:lnTo>
                <a:cubicBezTo>
                  <a:pt x="4707341" y="0"/>
                  <a:pt x="4724400" y="17059"/>
                  <a:pt x="4724400" y="38102"/>
                </a:cubicBezTo>
                <a:lnTo>
                  <a:pt x="4724400" y="1038223"/>
                </a:lnTo>
                <a:cubicBezTo>
                  <a:pt x="4724400" y="1059266"/>
                  <a:pt x="4707341" y="1076325"/>
                  <a:pt x="4686298" y="1076325"/>
                </a:cubicBezTo>
                <a:lnTo>
                  <a:pt x="38102" y="1076325"/>
                </a:lnTo>
                <a:cubicBezTo>
                  <a:pt x="17059" y="1076325"/>
                  <a:pt x="0" y="1059266"/>
                  <a:pt x="0" y="1038223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7000875" y="3467100"/>
            <a:ext cx="46196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4A6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ECOSYSTEM ACCESS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7000875" y="3657600"/>
            <a:ext cx="46196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CME NL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7000875" y="3848100"/>
            <a:ext cx="46196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NGen / Canada Makes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7000875" y="4038600"/>
            <a:ext cx="46196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ERINL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7000875" y="4229100"/>
            <a:ext cx="46196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Memorial SMART Lab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6757988" y="4786313"/>
            <a:ext cx="5048250" cy="619125"/>
          </a:xfrm>
          <a:custGeom>
            <a:avLst/>
            <a:gdLst/>
            <a:ahLst/>
            <a:cxnLst/>
            <a:rect l="l" t="t" r="r" b="b"/>
            <a:pathLst>
              <a:path w="5048250" h="619125">
                <a:moveTo>
                  <a:pt x="76202" y="0"/>
                </a:moveTo>
                <a:lnTo>
                  <a:pt x="4972048" y="0"/>
                </a:lnTo>
                <a:cubicBezTo>
                  <a:pt x="5014133" y="0"/>
                  <a:pt x="5048250" y="34117"/>
                  <a:pt x="5048250" y="76202"/>
                </a:cubicBezTo>
                <a:lnTo>
                  <a:pt x="5048250" y="542923"/>
                </a:lnTo>
                <a:cubicBezTo>
                  <a:pt x="5048250" y="585008"/>
                  <a:pt x="5014133" y="619125"/>
                  <a:pt x="4972048" y="619125"/>
                </a:cubicBezTo>
                <a:lnTo>
                  <a:pt x="76202" y="619125"/>
                </a:lnTo>
                <a:cubicBezTo>
                  <a:pt x="34117" y="619125"/>
                  <a:pt x="0" y="585008"/>
                  <a:pt x="0" y="542923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12700">
            <a:solidFill>
              <a:srgbClr val="4A6C8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6877050" y="4905375"/>
            <a:ext cx="4876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"Winter failure = air freight big time" — Adam Chubbs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6877050" y="5133975"/>
            <a:ext cx="48672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"Arctic + sovereign resilience = funding priority" — Keith Healey, ERINL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Competitive Landscape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Market </a:t>
            </a:r>
            <a:r>
              <a:rPr lang="en-US" sz="2700" b="1" dirty="0" err="1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Exists.The</a:t>
            </a:r>
            <a:r>
              <a:rPr lang="en-US" sz="27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Timing Is Perfect.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5763" y="1185863"/>
            <a:ext cx="11420475" cy="2771775"/>
          </a:xfrm>
          <a:custGeom>
            <a:avLst/>
            <a:gdLst/>
            <a:ahLst/>
            <a:cxnLst/>
            <a:rect l="l" t="t" r="r" b="b"/>
            <a:pathLst>
              <a:path w="11420475" h="2771775">
                <a:moveTo>
                  <a:pt x="76196" y="0"/>
                </a:moveTo>
                <a:lnTo>
                  <a:pt x="11344279" y="0"/>
                </a:lnTo>
                <a:cubicBezTo>
                  <a:pt x="11386361" y="0"/>
                  <a:pt x="11420475" y="34114"/>
                  <a:pt x="11420475" y="76196"/>
                </a:cubicBezTo>
                <a:lnTo>
                  <a:pt x="11420475" y="2695579"/>
                </a:lnTo>
                <a:cubicBezTo>
                  <a:pt x="11420475" y="2737661"/>
                  <a:pt x="11386361" y="2771775"/>
                  <a:pt x="11344279" y="2771775"/>
                </a:cubicBezTo>
                <a:lnTo>
                  <a:pt x="76196" y="2771775"/>
                </a:lnTo>
                <a:cubicBezTo>
                  <a:pt x="34114" y="2771775"/>
                  <a:pt x="0" y="2737661"/>
                  <a:pt x="0" y="2695579"/>
                </a:cubicBezTo>
                <a:lnTo>
                  <a:pt x="0" y="76196"/>
                </a:lnTo>
                <a:cubicBezTo>
                  <a:pt x="0" y="34114"/>
                  <a:pt x="34114" y="0"/>
                  <a:pt x="76196" y="0"/>
                </a:cubicBezTo>
                <a:close/>
              </a:path>
            </a:pathLst>
          </a:custGeom>
          <a:solidFill>
            <a:srgbClr val="2B2D42">
              <a:alpha val="40000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2925" y="1343025"/>
          <a:ext cx="11106150" cy="2457448"/>
        </p:xfrm>
        <a:graphic>
          <a:graphicData uri="http://schemas.openxmlformats.org/drawingml/2006/table">
            <a:tbl>
              <a:tblPr/>
              <a:tblGrid>
                <a:gridCol w="1619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1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6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90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38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1064">
                <a:tc>
                  <a:txBody>
                    <a:bodyPr/>
                    <a:lstStyle/>
                    <a:p>
                      <a:pPr algn="l"/>
                      <a:r>
                        <a:rPr lang="en-US" sz="1000" b="1" u="none" dirty="0">
                          <a:solidFill>
                            <a:srgbClr val="EDF2F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Competitor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1" u="none" dirty="0">
                          <a:solidFill>
                            <a:srgbClr val="EDF2F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Market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EDF2F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Threat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1" u="none" dirty="0">
                          <a:solidFill>
                            <a:srgbClr val="EDF2F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What They Do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1" u="none" dirty="0">
                          <a:solidFill>
                            <a:srgbClr val="EDF2F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Why We Win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1064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8D99A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FieldNode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8D99A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Europe O&amp;G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8D99A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HIGH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8D99A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Digital inventory consortium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DF2F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No AI, no cert, Europe → Canada-first, cert-ready, AI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1064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8D99A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Spare Parts 3D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8D99A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Paris, O&amp;G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8D99A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MED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8D99A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DigiPART software, 11% viable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DF2F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Couriers, no cert, file-only → On-site, pre-certified, full recipe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1064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8D99A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Siemens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8D99A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Enterprise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8D99A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HIGH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8D99A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Digital inventory platform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DF2F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Expensive, enterprise-only → Scalable, cert bundled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1064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8D99A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Canada Makes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8D99A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National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8D99A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PARTNER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8D99A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Part ID tool only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DF2F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Part ID only → Integration opportunity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1064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8D99A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3D Printer OEMs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8D99A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Equipment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8D99A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LOW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8D99A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Sell hardware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DF2F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"How do I get my money back?" → Managed service wins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1064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8D99A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Local AM Bureaus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8D99A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Service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8D99A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LOW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8D99A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Print services, no cert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DF2F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No cert expertise → Potential partners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85763" y="4119562"/>
            <a:ext cx="2733675" cy="809625"/>
          </a:xfrm>
          <a:custGeom>
            <a:avLst/>
            <a:gdLst/>
            <a:ahLst/>
            <a:cxnLst/>
            <a:rect l="l" t="t" r="r" b="b"/>
            <a:pathLst>
              <a:path w="2733675" h="809625">
                <a:moveTo>
                  <a:pt x="76202" y="0"/>
                </a:moveTo>
                <a:lnTo>
                  <a:pt x="2657473" y="0"/>
                </a:lnTo>
                <a:cubicBezTo>
                  <a:pt x="2699558" y="0"/>
                  <a:pt x="2733675" y="34117"/>
                  <a:pt x="2733675" y="76202"/>
                </a:cubicBezTo>
                <a:lnTo>
                  <a:pt x="2733675" y="733423"/>
                </a:lnTo>
                <a:cubicBezTo>
                  <a:pt x="2733675" y="775508"/>
                  <a:pt x="2699558" y="809625"/>
                  <a:pt x="2657473" y="809625"/>
                </a:cubicBezTo>
                <a:lnTo>
                  <a:pt x="76202" y="809625"/>
                </a:lnTo>
                <a:cubicBezTo>
                  <a:pt x="34117" y="809625"/>
                  <a:pt x="0" y="775508"/>
                  <a:pt x="0" y="733423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12700">
            <a:solidFill>
              <a:srgbClr val="4A6C8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4"/>
          <p:cNvSpPr/>
          <p:nvPr/>
        </p:nvSpPr>
        <p:spPr>
          <a:xfrm>
            <a:off x="517922" y="4248150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80099" y="-2679"/>
                </a:moveTo>
                <a:cubicBezTo>
                  <a:pt x="78057" y="-4755"/>
                  <a:pt x="75076" y="-5592"/>
                  <a:pt x="72263" y="-4822"/>
                </a:cubicBezTo>
                <a:cubicBezTo>
                  <a:pt x="69451" y="-4052"/>
                  <a:pt x="67274" y="-1875"/>
                  <a:pt x="66571" y="938"/>
                </a:cubicBezTo>
                <a:lnTo>
                  <a:pt x="61447" y="21096"/>
                </a:lnTo>
                <a:cubicBezTo>
                  <a:pt x="61079" y="22570"/>
                  <a:pt x="59572" y="23440"/>
                  <a:pt x="58132" y="23005"/>
                </a:cubicBezTo>
                <a:lnTo>
                  <a:pt x="38107" y="17379"/>
                </a:lnTo>
                <a:cubicBezTo>
                  <a:pt x="35295" y="16576"/>
                  <a:pt x="32281" y="17379"/>
                  <a:pt x="30238" y="19422"/>
                </a:cubicBezTo>
                <a:cubicBezTo>
                  <a:pt x="28195" y="21465"/>
                  <a:pt x="27392" y="24479"/>
                  <a:pt x="28195" y="27291"/>
                </a:cubicBezTo>
                <a:lnTo>
                  <a:pt x="33855" y="47316"/>
                </a:lnTo>
                <a:cubicBezTo>
                  <a:pt x="34257" y="48756"/>
                  <a:pt x="33386" y="50263"/>
                  <a:pt x="31946" y="50631"/>
                </a:cubicBezTo>
                <a:lnTo>
                  <a:pt x="11754" y="55755"/>
                </a:lnTo>
                <a:cubicBezTo>
                  <a:pt x="8941" y="56458"/>
                  <a:pt x="6731" y="58668"/>
                  <a:pt x="5961" y="61481"/>
                </a:cubicBezTo>
                <a:cubicBezTo>
                  <a:pt x="5190" y="64294"/>
                  <a:pt x="6028" y="67274"/>
                  <a:pt x="8104" y="69317"/>
                </a:cubicBezTo>
                <a:lnTo>
                  <a:pt x="23005" y="83816"/>
                </a:lnTo>
                <a:cubicBezTo>
                  <a:pt x="24077" y="84854"/>
                  <a:pt x="24077" y="86596"/>
                  <a:pt x="23005" y="87667"/>
                </a:cubicBezTo>
                <a:lnTo>
                  <a:pt x="8137" y="102167"/>
                </a:lnTo>
                <a:cubicBezTo>
                  <a:pt x="6061" y="104209"/>
                  <a:pt x="5224" y="107190"/>
                  <a:pt x="5994" y="110003"/>
                </a:cubicBezTo>
                <a:cubicBezTo>
                  <a:pt x="6764" y="112815"/>
                  <a:pt x="8974" y="114992"/>
                  <a:pt x="11787" y="115729"/>
                </a:cubicBezTo>
                <a:lnTo>
                  <a:pt x="31946" y="120852"/>
                </a:lnTo>
                <a:cubicBezTo>
                  <a:pt x="33419" y="121221"/>
                  <a:pt x="34290" y="122727"/>
                  <a:pt x="33855" y="124167"/>
                </a:cubicBezTo>
                <a:lnTo>
                  <a:pt x="28195" y="144159"/>
                </a:lnTo>
                <a:cubicBezTo>
                  <a:pt x="27392" y="146971"/>
                  <a:pt x="28195" y="149985"/>
                  <a:pt x="30238" y="152028"/>
                </a:cubicBezTo>
                <a:cubicBezTo>
                  <a:pt x="32281" y="154071"/>
                  <a:pt x="35295" y="154874"/>
                  <a:pt x="38107" y="154071"/>
                </a:cubicBezTo>
                <a:lnTo>
                  <a:pt x="58132" y="148411"/>
                </a:lnTo>
                <a:cubicBezTo>
                  <a:pt x="59572" y="148010"/>
                  <a:pt x="61079" y="148880"/>
                  <a:pt x="61447" y="150320"/>
                </a:cubicBezTo>
                <a:lnTo>
                  <a:pt x="66571" y="170479"/>
                </a:lnTo>
                <a:cubicBezTo>
                  <a:pt x="67274" y="173292"/>
                  <a:pt x="69484" y="175502"/>
                  <a:pt x="72297" y="176272"/>
                </a:cubicBezTo>
                <a:cubicBezTo>
                  <a:pt x="75110" y="177042"/>
                  <a:pt x="78090" y="176205"/>
                  <a:pt x="80133" y="174129"/>
                </a:cubicBezTo>
                <a:lnTo>
                  <a:pt x="94632" y="159227"/>
                </a:lnTo>
                <a:cubicBezTo>
                  <a:pt x="95670" y="158156"/>
                  <a:pt x="97412" y="158156"/>
                  <a:pt x="98483" y="159227"/>
                </a:cubicBezTo>
                <a:lnTo>
                  <a:pt x="112949" y="174129"/>
                </a:lnTo>
                <a:cubicBezTo>
                  <a:pt x="114992" y="176205"/>
                  <a:pt x="117972" y="177042"/>
                  <a:pt x="120785" y="176272"/>
                </a:cubicBezTo>
                <a:cubicBezTo>
                  <a:pt x="123598" y="175502"/>
                  <a:pt x="125775" y="173292"/>
                  <a:pt x="126511" y="170479"/>
                </a:cubicBezTo>
                <a:lnTo>
                  <a:pt x="131635" y="150354"/>
                </a:lnTo>
                <a:cubicBezTo>
                  <a:pt x="132003" y="148880"/>
                  <a:pt x="133510" y="148010"/>
                  <a:pt x="134950" y="148445"/>
                </a:cubicBezTo>
                <a:lnTo>
                  <a:pt x="154975" y="154104"/>
                </a:lnTo>
                <a:cubicBezTo>
                  <a:pt x="157788" y="154908"/>
                  <a:pt x="160801" y="154104"/>
                  <a:pt x="162844" y="152061"/>
                </a:cubicBezTo>
                <a:cubicBezTo>
                  <a:pt x="164887" y="150019"/>
                  <a:pt x="165690" y="147005"/>
                  <a:pt x="164887" y="144192"/>
                </a:cubicBezTo>
                <a:lnTo>
                  <a:pt x="159227" y="124167"/>
                </a:lnTo>
                <a:cubicBezTo>
                  <a:pt x="158826" y="122727"/>
                  <a:pt x="159696" y="121221"/>
                  <a:pt x="161136" y="120852"/>
                </a:cubicBezTo>
                <a:lnTo>
                  <a:pt x="181295" y="115729"/>
                </a:lnTo>
                <a:cubicBezTo>
                  <a:pt x="184108" y="115026"/>
                  <a:pt x="186318" y="112815"/>
                  <a:pt x="187088" y="110003"/>
                </a:cubicBezTo>
                <a:cubicBezTo>
                  <a:pt x="187858" y="107190"/>
                  <a:pt x="187021" y="104176"/>
                  <a:pt x="184945" y="102167"/>
                </a:cubicBezTo>
                <a:lnTo>
                  <a:pt x="170044" y="87667"/>
                </a:lnTo>
                <a:cubicBezTo>
                  <a:pt x="168972" y="86629"/>
                  <a:pt x="168972" y="84888"/>
                  <a:pt x="170044" y="83816"/>
                </a:cubicBezTo>
                <a:lnTo>
                  <a:pt x="184945" y="69317"/>
                </a:lnTo>
                <a:cubicBezTo>
                  <a:pt x="187021" y="67274"/>
                  <a:pt x="187858" y="64294"/>
                  <a:pt x="187088" y="61481"/>
                </a:cubicBezTo>
                <a:cubicBezTo>
                  <a:pt x="186318" y="58668"/>
                  <a:pt x="184108" y="56491"/>
                  <a:pt x="181295" y="55755"/>
                </a:cubicBezTo>
                <a:lnTo>
                  <a:pt x="161136" y="50631"/>
                </a:lnTo>
                <a:cubicBezTo>
                  <a:pt x="159663" y="50263"/>
                  <a:pt x="158792" y="48756"/>
                  <a:pt x="159227" y="47316"/>
                </a:cubicBezTo>
                <a:lnTo>
                  <a:pt x="164887" y="27291"/>
                </a:lnTo>
                <a:cubicBezTo>
                  <a:pt x="165690" y="24479"/>
                  <a:pt x="164887" y="21465"/>
                  <a:pt x="162844" y="19422"/>
                </a:cubicBezTo>
                <a:cubicBezTo>
                  <a:pt x="160801" y="17379"/>
                  <a:pt x="157788" y="16576"/>
                  <a:pt x="154975" y="17379"/>
                </a:cubicBezTo>
                <a:lnTo>
                  <a:pt x="134950" y="23039"/>
                </a:lnTo>
                <a:cubicBezTo>
                  <a:pt x="133510" y="23440"/>
                  <a:pt x="132003" y="22570"/>
                  <a:pt x="131635" y="21130"/>
                </a:cubicBezTo>
                <a:lnTo>
                  <a:pt x="126511" y="938"/>
                </a:lnTo>
                <a:cubicBezTo>
                  <a:pt x="125808" y="-1875"/>
                  <a:pt x="123598" y="-4085"/>
                  <a:pt x="120785" y="-4856"/>
                </a:cubicBezTo>
                <a:cubicBezTo>
                  <a:pt x="117972" y="-5626"/>
                  <a:pt x="114992" y="-4789"/>
                  <a:pt x="112949" y="-2712"/>
                </a:cubicBezTo>
                <a:lnTo>
                  <a:pt x="98450" y="12223"/>
                </a:lnTo>
                <a:cubicBezTo>
                  <a:pt x="97412" y="13294"/>
                  <a:pt x="95670" y="13294"/>
                  <a:pt x="94599" y="12223"/>
                </a:cubicBezTo>
                <a:lnTo>
                  <a:pt x="80099" y="-2679"/>
                </a:ln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95338" y="4238625"/>
            <a:ext cx="1647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Certification Partnerships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04825" y="4505325"/>
            <a:ext cx="2552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DNV, Lloyd's, ABS relationships. Pre-certified parts library with network effects.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281363" y="4119562"/>
            <a:ext cx="2733675" cy="809625"/>
          </a:xfrm>
          <a:custGeom>
            <a:avLst/>
            <a:gdLst/>
            <a:ahLst/>
            <a:cxnLst/>
            <a:rect l="l" t="t" r="r" b="b"/>
            <a:pathLst>
              <a:path w="2733675" h="809625">
                <a:moveTo>
                  <a:pt x="76202" y="0"/>
                </a:moveTo>
                <a:lnTo>
                  <a:pt x="2657473" y="0"/>
                </a:lnTo>
                <a:cubicBezTo>
                  <a:pt x="2699558" y="0"/>
                  <a:pt x="2733675" y="34117"/>
                  <a:pt x="2733675" y="76202"/>
                </a:cubicBezTo>
                <a:lnTo>
                  <a:pt x="2733675" y="733423"/>
                </a:lnTo>
                <a:cubicBezTo>
                  <a:pt x="2733675" y="775508"/>
                  <a:pt x="2699558" y="809625"/>
                  <a:pt x="2657473" y="809625"/>
                </a:cubicBezTo>
                <a:lnTo>
                  <a:pt x="76202" y="809625"/>
                </a:lnTo>
                <a:cubicBezTo>
                  <a:pt x="34117" y="809625"/>
                  <a:pt x="0" y="775508"/>
                  <a:pt x="0" y="733423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12700">
            <a:solidFill>
              <a:srgbClr val="4A6C8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434953" y="4248150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150019" y="68915"/>
                </a:moveTo>
                <a:cubicBezTo>
                  <a:pt x="145063" y="72197"/>
                  <a:pt x="139370" y="74842"/>
                  <a:pt x="133443" y="76952"/>
                </a:cubicBezTo>
                <a:cubicBezTo>
                  <a:pt x="117704" y="82577"/>
                  <a:pt x="97043" y="85725"/>
                  <a:pt x="75009" y="85725"/>
                </a:cubicBezTo>
                <a:cubicBezTo>
                  <a:pt x="52975" y="85725"/>
                  <a:pt x="32281" y="82544"/>
                  <a:pt x="16576" y="76952"/>
                </a:cubicBezTo>
                <a:cubicBezTo>
                  <a:pt x="10682" y="74842"/>
                  <a:pt x="4956" y="72197"/>
                  <a:pt x="0" y="68915"/>
                </a:cubicBezTo>
                <a:lnTo>
                  <a:pt x="0" y="96441"/>
                </a:lnTo>
                <a:cubicBezTo>
                  <a:pt x="0" y="111242"/>
                  <a:pt x="33587" y="123230"/>
                  <a:pt x="75009" y="123230"/>
                </a:cubicBezTo>
                <a:cubicBezTo>
                  <a:pt x="116432" y="123230"/>
                  <a:pt x="150019" y="111242"/>
                  <a:pt x="150019" y="96441"/>
                </a:cubicBezTo>
                <a:lnTo>
                  <a:pt x="150019" y="68915"/>
                </a:lnTo>
                <a:close/>
                <a:moveTo>
                  <a:pt x="150019" y="42863"/>
                </a:moveTo>
                <a:lnTo>
                  <a:pt x="150019" y="26789"/>
                </a:lnTo>
                <a:cubicBezTo>
                  <a:pt x="150019" y="11988"/>
                  <a:pt x="116432" y="0"/>
                  <a:pt x="75009" y="0"/>
                </a:cubicBezTo>
                <a:cubicBezTo>
                  <a:pt x="33587" y="0"/>
                  <a:pt x="0" y="11988"/>
                  <a:pt x="0" y="26789"/>
                </a:cubicBezTo>
                <a:lnTo>
                  <a:pt x="0" y="42863"/>
                </a:lnTo>
                <a:cubicBezTo>
                  <a:pt x="0" y="57663"/>
                  <a:pt x="33587" y="69652"/>
                  <a:pt x="75009" y="69652"/>
                </a:cubicBezTo>
                <a:cubicBezTo>
                  <a:pt x="116432" y="69652"/>
                  <a:pt x="150019" y="57663"/>
                  <a:pt x="150019" y="42863"/>
                </a:cubicBezTo>
                <a:close/>
                <a:moveTo>
                  <a:pt x="133443" y="130530"/>
                </a:moveTo>
                <a:cubicBezTo>
                  <a:pt x="117738" y="136122"/>
                  <a:pt x="97077" y="139303"/>
                  <a:pt x="75009" y="139303"/>
                </a:cubicBezTo>
                <a:cubicBezTo>
                  <a:pt x="52942" y="139303"/>
                  <a:pt x="32281" y="136122"/>
                  <a:pt x="16576" y="130530"/>
                </a:cubicBezTo>
                <a:cubicBezTo>
                  <a:pt x="10682" y="128420"/>
                  <a:pt x="4956" y="125775"/>
                  <a:pt x="0" y="122493"/>
                </a:cubicBezTo>
                <a:lnTo>
                  <a:pt x="0" y="144661"/>
                </a:lnTo>
                <a:cubicBezTo>
                  <a:pt x="0" y="159462"/>
                  <a:pt x="33587" y="171450"/>
                  <a:pt x="75009" y="171450"/>
                </a:cubicBezTo>
                <a:cubicBezTo>
                  <a:pt x="116432" y="171450"/>
                  <a:pt x="150019" y="159462"/>
                  <a:pt x="150019" y="144661"/>
                </a:cubicBezTo>
                <a:lnTo>
                  <a:pt x="150019" y="122493"/>
                </a:lnTo>
                <a:cubicBezTo>
                  <a:pt x="145063" y="125775"/>
                  <a:pt x="139370" y="128420"/>
                  <a:pt x="133443" y="130530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3690937" y="4238625"/>
            <a:ext cx="1152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Full-Stack Recipe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3400425" y="4505325"/>
            <a:ext cx="2552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 just CAD—machine parameters, materials, QA protocols. 9 publications database.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176963" y="4119562"/>
            <a:ext cx="2733675" cy="809625"/>
          </a:xfrm>
          <a:custGeom>
            <a:avLst/>
            <a:gdLst/>
            <a:ahLst/>
            <a:cxnLst/>
            <a:rect l="l" t="t" r="r" b="b"/>
            <a:pathLst>
              <a:path w="2733675" h="809625">
                <a:moveTo>
                  <a:pt x="76202" y="0"/>
                </a:moveTo>
                <a:lnTo>
                  <a:pt x="2657473" y="0"/>
                </a:lnTo>
                <a:cubicBezTo>
                  <a:pt x="2699558" y="0"/>
                  <a:pt x="2733675" y="34117"/>
                  <a:pt x="2733675" y="76202"/>
                </a:cubicBezTo>
                <a:lnTo>
                  <a:pt x="2733675" y="733423"/>
                </a:lnTo>
                <a:cubicBezTo>
                  <a:pt x="2733675" y="775508"/>
                  <a:pt x="2699558" y="809625"/>
                  <a:pt x="2657473" y="809625"/>
                </a:cubicBezTo>
                <a:lnTo>
                  <a:pt x="76202" y="809625"/>
                </a:lnTo>
                <a:cubicBezTo>
                  <a:pt x="34117" y="809625"/>
                  <a:pt x="0" y="775508"/>
                  <a:pt x="0" y="733423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12700">
            <a:solidFill>
              <a:srgbClr val="4A6C8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6298406" y="4248150"/>
            <a:ext cx="214313" cy="171450"/>
          </a:xfrm>
          <a:custGeom>
            <a:avLst/>
            <a:gdLst/>
            <a:ahLst/>
            <a:cxnLst/>
            <a:rect l="l" t="t" r="r" b="b"/>
            <a:pathLst>
              <a:path w="214313" h="171450">
                <a:moveTo>
                  <a:pt x="107156" y="5358"/>
                </a:moveTo>
                <a:cubicBezTo>
                  <a:pt x="126377" y="5358"/>
                  <a:pt x="141982" y="20963"/>
                  <a:pt x="141982" y="40184"/>
                </a:cubicBezTo>
                <a:cubicBezTo>
                  <a:pt x="141982" y="59404"/>
                  <a:pt x="126377" y="75009"/>
                  <a:pt x="107156" y="75009"/>
                </a:cubicBezTo>
                <a:cubicBezTo>
                  <a:pt x="87935" y="75009"/>
                  <a:pt x="72330" y="59404"/>
                  <a:pt x="72330" y="40184"/>
                </a:cubicBezTo>
                <a:cubicBezTo>
                  <a:pt x="72330" y="20963"/>
                  <a:pt x="87935" y="5358"/>
                  <a:pt x="107156" y="5358"/>
                </a:cubicBezTo>
                <a:close/>
                <a:moveTo>
                  <a:pt x="32147" y="29468"/>
                </a:moveTo>
                <a:cubicBezTo>
                  <a:pt x="45454" y="29468"/>
                  <a:pt x="56257" y="40271"/>
                  <a:pt x="56257" y="53578"/>
                </a:cubicBezTo>
                <a:cubicBezTo>
                  <a:pt x="56257" y="66885"/>
                  <a:pt x="45454" y="77688"/>
                  <a:pt x="32147" y="77688"/>
                </a:cubicBezTo>
                <a:cubicBezTo>
                  <a:pt x="18840" y="77688"/>
                  <a:pt x="8037" y="66885"/>
                  <a:pt x="8037" y="53578"/>
                </a:cubicBezTo>
                <a:cubicBezTo>
                  <a:pt x="8037" y="40271"/>
                  <a:pt x="18840" y="29468"/>
                  <a:pt x="32147" y="29468"/>
                </a:cubicBezTo>
                <a:close/>
                <a:moveTo>
                  <a:pt x="0" y="139303"/>
                </a:moveTo>
                <a:cubicBezTo>
                  <a:pt x="0" y="115628"/>
                  <a:pt x="19188" y="96441"/>
                  <a:pt x="42863" y="96441"/>
                </a:cubicBezTo>
                <a:cubicBezTo>
                  <a:pt x="47149" y="96441"/>
                  <a:pt x="51301" y="97077"/>
                  <a:pt x="55219" y="98249"/>
                </a:cubicBezTo>
                <a:cubicBezTo>
                  <a:pt x="44202" y="110572"/>
                  <a:pt x="37505" y="126846"/>
                  <a:pt x="37505" y="144661"/>
                </a:cubicBezTo>
                <a:lnTo>
                  <a:pt x="37505" y="150019"/>
                </a:lnTo>
                <a:cubicBezTo>
                  <a:pt x="37505" y="153836"/>
                  <a:pt x="38308" y="157453"/>
                  <a:pt x="39748" y="160734"/>
                </a:cubicBezTo>
                <a:lnTo>
                  <a:pt x="10716" y="160734"/>
                </a:lnTo>
                <a:cubicBezTo>
                  <a:pt x="4789" y="160734"/>
                  <a:pt x="0" y="155946"/>
                  <a:pt x="0" y="150019"/>
                </a:cubicBezTo>
                <a:lnTo>
                  <a:pt x="0" y="139303"/>
                </a:lnTo>
                <a:close/>
                <a:moveTo>
                  <a:pt x="174564" y="160734"/>
                </a:moveTo>
                <a:cubicBezTo>
                  <a:pt x="176004" y="157453"/>
                  <a:pt x="176808" y="153836"/>
                  <a:pt x="176808" y="150019"/>
                </a:cubicBezTo>
                <a:lnTo>
                  <a:pt x="176808" y="144661"/>
                </a:lnTo>
                <a:cubicBezTo>
                  <a:pt x="176808" y="126846"/>
                  <a:pt x="170111" y="110572"/>
                  <a:pt x="159094" y="98249"/>
                </a:cubicBezTo>
                <a:cubicBezTo>
                  <a:pt x="163011" y="97077"/>
                  <a:pt x="167164" y="96441"/>
                  <a:pt x="171450" y="96441"/>
                </a:cubicBezTo>
                <a:cubicBezTo>
                  <a:pt x="195125" y="96441"/>
                  <a:pt x="214313" y="115628"/>
                  <a:pt x="214313" y="139303"/>
                </a:cubicBezTo>
                <a:lnTo>
                  <a:pt x="214313" y="150019"/>
                </a:lnTo>
                <a:cubicBezTo>
                  <a:pt x="214313" y="155946"/>
                  <a:pt x="209524" y="160734"/>
                  <a:pt x="203597" y="160734"/>
                </a:cubicBezTo>
                <a:lnTo>
                  <a:pt x="174564" y="160734"/>
                </a:lnTo>
                <a:close/>
                <a:moveTo>
                  <a:pt x="158055" y="53578"/>
                </a:moveTo>
                <a:cubicBezTo>
                  <a:pt x="158055" y="40271"/>
                  <a:pt x="168859" y="29468"/>
                  <a:pt x="182166" y="29468"/>
                </a:cubicBezTo>
                <a:cubicBezTo>
                  <a:pt x="195472" y="29468"/>
                  <a:pt x="206276" y="40271"/>
                  <a:pt x="206276" y="53578"/>
                </a:cubicBezTo>
                <a:cubicBezTo>
                  <a:pt x="206276" y="66885"/>
                  <a:pt x="195472" y="77688"/>
                  <a:pt x="182166" y="77688"/>
                </a:cubicBezTo>
                <a:cubicBezTo>
                  <a:pt x="168859" y="77688"/>
                  <a:pt x="158055" y="66885"/>
                  <a:pt x="158055" y="53578"/>
                </a:cubicBezTo>
                <a:close/>
                <a:moveTo>
                  <a:pt x="53578" y="144661"/>
                </a:moveTo>
                <a:cubicBezTo>
                  <a:pt x="53578" y="115059"/>
                  <a:pt x="77554" y="91083"/>
                  <a:pt x="107156" y="91083"/>
                </a:cubicBezTo>
                <a:cubicBezTo>
                  <a:pt x="136758" y="91083"/>
                  <a:pt x="160734" y="115059"/>
                  <a:pt x="160734" y="144661"/>
                </a:cubicBezTo>
                <a:lnTo>
                  <a:pt x="160734" y="150019"/>
                </a:lnTo>
                <a:cubicBezTo>
                  <a:pt x="160734" y="155946"/>
                  <a:pt x="155946" y="160734"/>
                  <a:pt x="150019" y="160734"/>
                </a:cubicBezTo>
                <a:lnTo>
                  <a:pt x="64294" y="160734"/>
                </a:lnTo>
                <a:cubicBezTo>
                  <a:pt x="58367" y="160734"/>
                  <a:pt x="53578" y="155946"/>
                  <a:pt x="53578" y="150019"/>
                </a:cubicBezTo>
                <a:lnTo>
                  <a:pt x="53578" y="144661"/>
                </a:ln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586538" y="4238625"/>
            <a:ext cx="1247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Industry Credibility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296025" y="4505325"/>
            <a:ext cx="2552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Dr. Nasiri (CRC), Shawn Sooley (Shield Group).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9072563" y="4119562"/>
            <a:ext cx="2733675" cy="809625"/>
          </a:xfrm>
          <a:custGeom>
            <a:avLst/>
            <a:gdLst/>
            <a:ahLst/>
            <a:cxnLst/>
            <a:rect l="l" t="t" r="r" b="b"/>
            <a:pathLst>
              <a:path w="2733675" h="809625">
                <a:moveTo>
                  <a:pt x="76202" y="0"/>
                </a:moveTo>
                <a:lnTo>
                  <a:pt x="2657473" y="0"/>
                </a:lnTo>
                <a:cubicBezTo>
                  <a:pt x="2699558" y="0"/>
                  <a:pt x="2733675" y="34117"/>
                  <a:pt x="2733675" y="76202"/>
                </a:cubicBezTo>
                <a:lnTo>
                  <a:pt x="2733675" y="733423"/>
                </a:lnTo>
                <a:cubicBezTo>
                  <a:pt x="2733675" y="775508"/>
                  <a:pt x="2699558" y="809625"/>
                  <a:pt x="2657473" y="809625"/>
                </a:cubicBezTo>
                <a:lnTo>
                  <a:pt x="76202" y="809625"/>
                </a:lnTo>
                <a:cubicBezTo>
                  <a:pt x="34117" y="809625"/>
                  <a:pt x="0" y="775508"/>
                  <a:pt x="0" y="733423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12700">
            <a:solidFill>
              <a:srgbClr val="4A6C8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9226153" y="4248150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96441" y="0"/>
                </a:moveTo>
                <a:lnTo>
                  <a:pt x="42863" y="0"/>
                </a:lnTo>
                <a:cubicBezTo>
                  <a:pt x="36935" y="0"/>
                  <a:pt x="32147" y="4789"/>
                  <a:pt x="32147" y="10716"/>
                </a:cubicBezTo>
                <a:cubicBezTo>
                  <a:pt x="32147" y="16643"/>
                  <a:pt x="36935" y="21431"/>
                  <a:pt x="42863" y="21431"/>
                </a:cubicBezTo>
                <a:lnTo>
                  <a:pt x="42863" y="72163"/>
                </a:lnTo>
                <a:lnTo>
                  <a:pt x="2511" y="142752"/>
                </a:lnTo>
                <a:cubicBezTo>
                  <a:pt x="871" y="145666"/>
                  <a:pt x="0" y="148914"/>
                  <a:pt x="0" y="152262"/>
                </a:cubicBezTo>
                <a:cubicBezTo>
                  <a:pt x="0" y="162878"/>
                  <a:pt x="8573" y="171450"/>
                  <a:pt x="19188" y="171450"/>
                </a:cubicBezTo>
                <a:lnTo>
                  <a:pt x="130831" y="171450"/>
                </a:lnTo>
                <a:cubicBezTo>
                  <a:pt x="141413" y="171450"/>
                  <a:pt x="150019" y="162878"/>
                  <a:pt x="150019" y="152262"/>
                </a:cubicBezTo>
                <a:cubicBezTo>
                  <a:pt x="150019" y="148914"/>
                  <a:pt x="149148" y="145632"/>
                  <a:pt x="147507" y="142752"/>
                </a:cubicBezTo>
                <a:lnTo>
                  <a:pt x="107156" y="72163"/>
                </a:lnTo>
                <a:lnTo>
                  <a:pt x="107156" y="21431"/>
                </a:lnTo>
                <a:cubicBezTo>
                  <a:pt x="113083" y="21431"/>
                  <a:pt x="117872" y="16643"/>
                  <a:pt x="117872" y="10716"/>
                </a:cubicBezTo>
                <a:cubicBezTo>
                  <a:pt x="117872" y="4789"/>
                  <a:pt x="113083" y="0"/>
                  <a:pt x="107156" y="0"/>
                </a:cubicBezTo>
                <a:lnTo>
                  <a:pt x="96441" y="0"/>
                </a:lnTo>
                <a:close/>
                <a:moveTo>
                  <a:pt x="64294" y="72163"/>
                </a:moveTo>
                <a:lnTo>
                  <a:pt x="64294" y="21431"/>
                </a:lnTo>
                <a:lnTo>
                  <a:pt x="85725" y="21431"/>
                </a:lnTo>
                <a:lnTo>
                  <a:pt x="85725" y="72163"/>
                </a:lnTo>
                <a:cubicBezTo>
                  <a:pt x="85725" y="75880"/>
                  <a:pt x="86696" y="79564"/>
                  <a:pt x="88538" y="82812"/>
                </a:cubicBezTo>
                <a:lnTo>
                  <a:pt x="102468" y="107156"/>
                </a:lnTo>
                <a:lnTo>
                  <a:pt x="47551" y="107156"/>
                </a:lnTo>
                <a:lnTo>
                  <a:pt x="61481" y="82812"/>
                </a:lnTo>
                <a:cubicBezTo>
                  <a:pt x="63323" y="79564"/>
                  <a:pt x="64294" y="75914"/>
                  <a:pt x="64294" y="72163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9482138" y="4238625"/>
            <a:ext cx="1247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Material Science IP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9191625" y="4505325"/>
            <a:ext cx="2552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 peer-reviewed publications. PH Martensitic SS development. Future: PEEK.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385763" y="5091113"/>
            <a:ext cx="11420475" cy="619125"/>
          </a:xfrm>
          <a:custGeom>
            <a:avLst/>
            <a:gdLst/>
            <a:ahLst/>
            <a:cxnLst/>
            <a:rect l="l" t="t" r="r" b="b"/>
            <a:pathLst>
              <a:path w="11420475" h="619125">
                <a:moveTo>
                  <a:pt x="76202" y="0"/>
                </a:moveTo>
                <a:lnTo>
                  <a:pt x="11344273" y="0"/>
                </a:lnTo>
                <a:cubicBezTo>
                  <a:pt x="11386358" y="0"/>
                  <a:pt x="11420475" y="34117"/>
                  <a:pt x="11420475" y="76202"/>
                </a:cubicBezTo>
                <a:lnTo>
                  <a:pt x="11420475" y="542923"/>
                </a:lnTo>
                <a:cubicBezTo>
                  <a:pt x="11420475" y="585008"/>
                  <a:pt x="11386358" y="619125"/>
                  <a:pt x="11344273" y="619125"/>
                </a:cubicBezTo>
                <a:lnTo>
                  <a:pt x="76202" y="619125"/>
                </a:lnTo>
                <a:cubicBezTo>
                  <a:pt x="34117" y="619125"/>
                  <a:pt x="0" y="585008"/>
                  <a:pt x="0" y="542923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E07A5F">
              <a:alpha val="10196"/>
            </a:srgbClr>
          </a:solidFill>
          <a:ln w="12700">
            <a:solidFill>
              <a:srgbClr val="E07A5F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540544" y="5305425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0" y="80367"/>
                </a:moveTo>
                <a:cubicBezTo>
                  <a:pt x="0" y="55699"/>
                  <a:pt x="19980" y="35719"/>
                  <a:pt x="44648" y="35719"/>
                </a:cubicBezTo>
                <a:lnTo>
                  <a:pt x="47625" y="35719"/>
                </a:lnTo>
                <a:cubicBezTo>
                  <a:pt x="54211" y="35719"/>
                  <a:pt x="59531" y="41039"/>
                  <a:pt x="59531" y="47625"/>
                </a:cubicBezTo>
                <a:cubicBezTo>
                  <a:pt x="59531" y="54211"/>
                  <a:pt x="54211" y="59531"/>
                  <a:pt x="47625" y="59531"/>
                </a:cubicBezTo>
                <a:lnTo>
                  <a:pt x="44648" y="59531"/>
                </a:lnTo>
                <a:cubicBezTo>
                  <a:pt x="33151" y="59531"/>
                  <a:pt x="23812" y="68870"/>
                  <a:pt x="23812" y="80367"/>
                </a:cubicBezTo>
                <a:lnTo>
                  <a:pt x="23812" y="83344"/>
                </a:lnTo>
                <a:lnTo>
                  <a:pt x="47625" y="83344"/>
                </a:lnTo>
                <a:cubicBezTo>
                  <a:pt x="60759" y="83344"/>
                  <a:pt x="71438" y="94022"/>
                  <a:pt x="71438" y="107156"/>
                </a:cubicBezTo>
                <a:lnTo>
                  <a:pt x="71438" y="130969"/>
                </a:lnTo>
                <a:cubicBezTo>
                  <a:pt x="71438" y="144103"/>
                  <a:pt x="60759" y="154781"/>
                  <a:pt x="47625" y="154781"/>
                </a:cubicBezTo>
                <a:lnTo>
                  <a:pt x="23812" y="154781"/>
                </a:lnTo>
                <a:cubicBezTo>
                  <a:pt x="10678" y="154781"/>
                  <a:pt x="0" y="144103"/>
                  <a:pt x="0" y="130969"/>
                </a:cubicBezTo>
                <a:lnTo>
                  <a:pt x="0" y="80367"/>
                </a:lnTo>
                <a:close/>
                <a:moveTo>
                  <a:pt x="95250" y="80367"/>
                </a:moveTo>
                <a:cubicBezTo>
                  <a:pt x="95250" y="55699"/>
                  <a:pt x="115230" y="35719"/>
                  <a:pt x="139898" y="35719"/>
                </a:cubicBezTo>
                <a:lnTo>
                  <a:pt x="142875" y="35719"/>
                </a:lnTo>
                <a:cubicBezTo>
                  <a:pt x="149461" y="35719"/>
                  <a:pt x="154781" y="41039"/>
                  <a:pt x="154781" y="47625"/>
                </a:cubicBezTo>
                <a:cubicBezTo>
                  <a:pt x="154781" y="54211"/>
                  <a:pt x="149461" y="59531"/>
                  <a:pt x="142875" y="59531"/>
                </a:cubicBezTo>
                <a:lnTo>
                  <a:pt x="139898" y="59531"/>
                </a:lnTo>
                <a:cubicBezTo>
                  <a:pt x="128401" y="59531"/>
                  <a:pt x="119063" y="68870"/>
                  <a:pt x="119063" y="80367"/>
                </a:cubicBezTo>
                <a:lnTo>
                  <a:pt x="119063" y="83344"/>
                </a:lnTo>
                <a:lnTo>
                  <a:pt x="142875" y="83344"/>
                </a:lnTo>
                <a:cubicBezTo>
                  <a:pt x="156009" y="83344"/>
                  <a:pt x="166688" y="94022"/>
                  <a:pt x="166688" y="107156"/>
                </a:cubicBezTo>
                <a:lnTo>
                  <a:pt x="166688" y="130969"/>
                </a:lnTo>
                <a:cubicBezTo>
                  <a:pt x="166688" y="144103"/>
                  <a:pt x="156009" y="154781"/>
                  <a:pt x="142875" y="154781"/>
                </a:cubicBezTo>
                <a:lnTo>
                  <a:pt x="119063" y="154781"/>
                </a:lnTo>
                <a:cubicBezTo>
                  <a:pt x="105928" y="154781"/>
                  <a:pt x="95250" y="144103"/>
                  <a:pt x="95250" y="130969"/>
                </a:cubicBezTo>
                <a:lnTo>
                  <a:pt x="95250" y="80367"/>
                </a:ln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857250" y="5210175"/>
            <a:ext cx="4924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"How do you make it BETTER than what already exists?" — Nathan Smeenk challenge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857250" y="5400675"/>
            <a:ext cx="4924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Our Answer: Certification + Full Recipe + AI + Canada-First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3391" y="353391"/>
            <a:ext cx="11547061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4" b="1" kern="0" spc="49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Business Model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53391" y="600765"/>
            <a:ext cx="11644243" cy="353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04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Managed Service Model: Setup + Subscription + Per-Part Revenue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71061" y="1095513"/>
            <a:ext cx="3719443" cy="2588591"/>
          </a:xfrm>
          <a:custGeom>
            <a:avLst/>
            <a:gdLst/>
            <a:ahLst/>
            <a:cxnLst/>
            <a:rect l="l" t="t" r="r" b="b"/>
            <a:pathLst>
              <a:path w="3719443" h="2588591">
                <a:moveTo>
                  <a:pt x="35339" y="0"/>
                </a:moveTo>
                <a:lnTo>
                  <a:pt x="3648775" y="0"/>
                </a:lnTo>
                <a:cubicBezTo>
                  <a:pt x="3687804" y="0"/>
                  <a:pt x="3719443" y="31639"/>
                  <a:pt x="3719443" y="70669"/>
                </a:cubicBezTo>
                <a:lnTo>
                  <a:pt x="3719443" y="2517923"/>
                </a:lnTo>
                <a:cubicBezTo>
                  <a:pt x="3719443" y="2556952"/>
                  <a:pt x="3687804" y="2588591"/>
                  <a:pt x="3648775" y="2588591"/>
                </a:cubicBezTo>
                <a:lnTo>
                  <a:pt x="35339" y="2588591"/>
                </a:lnTo>
                <a:cubicBezTo>
                  <a:pt x="15822" y="2588591"/>
                  <a:pt x="0" y="2572769"/>
                  <a:pt x="0" y="2553252"/>
                </a:cubicBezTo>
                <a:lnTo>
                  <a:pt x="0" y="35339"/>
                </a:lnTo>
                <a:cubicBezTo>
                  <a:pt x="0" y="15835"/>
                  <a:pt x="15835" y="0"/>
                  <a:pt x="35339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C8C">
                  <a:alpha val="40000"/>
                </a:srgbClr>
              </a:gs>
              <a:gs pos="100000">
                <a:srgbClr val="4A6C8C">
                  <a:alpha val="2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71061" y="1095513"/>
            <a:ext cx="35339" cy="2588591"/>
          </a:xfrm>
          <a:custGeom>
            <a:avLst/>
            <a:gdLst/>
            <a:ahLst/>
            <a:cxnLst/>
            <a:rect l="l" t="t" r="r" b="b"/>
            <a:pathLst>
              <a:path w="35339" h="2588591">
                <a:moveTo>
                  <a:pt x="35339" y="0"/>
                </a:moveTo>
                <a:lnTo>
                  <a:pt x="35339" y="0"/>
                </a:lnTo>
                <a:lnTo>
                  <a:pt x="35339" y="2588591"/>
                </a:lnTo>
                <a:lnTo>
                  <a:pt x="35339" y="2588591"/>
                </a:lnTo>
                <a:cubicBezTo>
                  <a:pt x="15822" y="2588591"/>
                  <a:pt x="0" y="2572769"/>
                  <a:pt x="0" y="2553252"/>
                </a:cubicBezTo>
                <a:lnTo>
                  <a:pt x="0" y="35339"/>
                </a:lnTo>
                <a:cubicBezTo>
                  <a:pt x="0" y="15835"/>
                  <a:pt x="15835" y="0"/>
                  <a:pt x="35339" y="0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30087" y="1236870"/>
            <a:ext cx="353391" cy="353391"/>
          </a:xfrm>
          <a:custGeom>
            <a:avLst/>
            <a:gdLst/>
            <a:ahLst/>
            <a:cxnLst/>
            <a:rect l="l" t="t" r="r" b="b"/>
            <a:pathLst>
              <a:path w="353391" h="353391">
                <a:moveTo>
                  <a:pt x="176696" y="0"/>
                </a:moveTo>
                <a:lnTo>
                  <a:pt x="176696" y="0"/>
                </a:lnTo>
                <a:cubicBezTo>
                  <a:pt x="274217" y="0"/>
                  <a:pt x="353391" y="79175"/>
                  <a:pt x="353391" y="176696"/>
                </a:cubicBezTo>
                <a:lnTo>
                  <a:pt x="353391" y="176696"/>
                </a:lnTo>
                <a:cubicBezTo>
                  <a:pt x="353391" y="274217"/>
                  <a:pt x="274217" y="353391"/>
                  <a:pt x="176696" y="353391"/>
                </a:cubicBezTo>
                <a:lnTo>
                  <a:pt x="176696" y="353391"/>
                </a:lnTo>
                <a:cubicBezTo>
                  <a:pt x="79175" y="353391"/>
                  <a:pt x="0" y="274217"/>
                  <a:pt x="0" y="176696"/>
                </a:cubicBezTo>
                <a:lnTo>
                  <a:pt x="0" y="176696"/>
                </a:lnTo>
                <a:cubicBezTo>
                  <a:pt x="0" y="79175"/>
                  <a:pt x="79175" y="0"/>
                  <a:pt x="176696" y="0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94748" y="1236870"/>
            <a:ext cx="424070" cy="353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13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89496" y="1289878"/>
            <a:ext cx="954157" cy="247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2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Initial Setup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30087" y="1696278"/>
            <a:ext cx="3480904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4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Assessment + Equipment + Training + Integration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30087" y="1943652"/>
            <a:ext cx="3472070" cy="141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3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Digital inventory audit (5-20% viable for AM?)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30087" y="2120348"/>
            <a:ext cx="3472070" cy="141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3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3D printer installation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30087" y="2297043"/>
            <a:ext cx="3472070" cy="141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3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Operator training &amp; certification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30087" y="2473739"/>
            <a:ext cx="3472070" cy="141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3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ERP/digital inventory integration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30087" y="2650435"/>
            <a:ext cx="3472070" cy="141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3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Initial pre-certified parts library (10-20 parts)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30087" y="2902226"/>
            <a:ext cx="3419061" cy="8835"/>
          </a:xfrm>
          <a:custGeom>
            <a:avLst/>
            <a:gdLst/>
            <a:ahLst/>
            <a:cxnLst/>
            <a:rect l="l" t="t" r="r" b="b"/>
            <a:pathLst>
              <a:path w="3419061" h="8835">
                <a:moveTo>
                  <a:pt x="0" y="0"/>
                </a:moveTo>
                <a:lnTo>
                  <a:pt x="3419061" y="0"/>
                </a:lnTo>
                <a:lnTo>
                  <a:pt x="3419061" y="8835"/>
                </a:lnTo>
                <a:lnTo>
                  <a:pt x="0" y="8835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30087" y="2977322"/>
            <a:ext cx="768626" cy="141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3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Price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30087" y="3118678"/>
            <a:ext cx="803965" cy="247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1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$90,000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567191" y="2977322"/>
            <a:ext cx="379896" cy="141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83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Margin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540686" y="3118678"/>
            <a:ext cx="406400" cy="247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52" b="1" dirty="0">
                <a:solidFill>
                  <a:srgbClr val="4A6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40%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245260" y="1095513"/>
            <a:ext cx="3719443" cy="2588591"/>
          </a:xfrm>
          <a:custGeom>
            <a:avLst/>
            <a:gdLst/>
            <a:ahLst/>
            <a:cxnLst/>
            <a:rect l="l" t="t" r="r" b="b"/>
            <a:pathLst>
              <a:path w="3719443" h="2588591">
                <a:moveTo>
                  <a:pt x="35339" y="0"/>
                </a:moveTo>
                <a:lnTo>
                  <a:pt x="3648775" y="0"/>
                </a:lnTo>
                <a:cubicBezTo>
                  <a:pt x="3687804" y="0"/>
                  <a:pt x="3719443" y="31639"/>
                  <a:pt x="3719443" y="70669"/>
                </a:cubicBezTo>
                <a:lnTo>
                  <a:pt x="3719443" y="2517923"/>
                </a:lnTo>
                <a:cubicBezTo>
                  <a:pt x="3719443" y="2556952"/>
                  <a:pt x="3687804" y="2588591"/>
                  <a:pt x="3648775" y="2588591"/>
                </a:cubicBezTo>
                <a:lnTo>
                  <a:pt x="35339" y="2588591"/>
                </a:lnTo>
                <a:cubicBezTo>
                  <a:pt x="15822" y="2588591"/>
                  <a:pt x="0" y="2572769"/>
                  <a:pt x="0" y="2553252"/>
                </a:cubicBezTo>
                <a:lnTo>
                  <a:pt x="0" y="35339"/>
                </a:lnTo>
                <a:cubicBezTo>
                  <a:pt x="0" y="15835"/>
                  <a:pt x="15835" y="0"/>
                  <a:pt x="35339" y="0"/>
                </a:cubicBezTo>
                <a:close/>
              </a:path>
            </a:pathLst>
          </a:custGeom>
          <a:gradFill flip="none" rotWithShape="1">
            <a:gsLst>
              <a:gs pos="0">
                <a:srgbClr val="8D99AE">
                  <a:alpha val="40000"/>
                </a:srgbClr>
              </a:gs>
              <a:gs pos="100000">
                <a:srgbClr val="8D99AE">
                  <a:alpha val="2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245260" y="1095513"/>
            <a:ext cx="35339" cy="2588591"/>
          </a:xfrm>
          <a:custGeom>
            <a:avLst/>
            <a:gdLst/>
            <a:ahLst/>
            <a:cxnLst/>
            <a:rect l="l" t="t" r="r" b="b"/>
            <a:pathLst>
              <a:path w="35339" h="2588591">
                <a:moveTo>
                  <a:pt x="35339" y="0"/>
                </a:moveTo>
                <a:lnTo>
                  <a:pt x="35339" y="0"/>
                </a:lnTo>
                <a:lnTo>
                  <a:pt x="35339" y="2588591"/>
                </a:lnTo>
                <a:lnTo>
                  <a:pt x="35339" y="2588591"/>
                </a:lnTo>
                <a:cubicBezTo>
                  <a:pt x="15822" y="2588591"/>
                  <a:pt x="0" y="2572769"/>
                  <a:pt x="0" y="2553252"/>
                </a:cubicBezTo>
                <a:lnTo>
                  <a:pt x="0" y="35339"/>
                </a:lnTo>
                <a:cubicBezTo>
                  <a:pt x="0" y="15835"/>
                  <a:pt x="15835" y="0"/>
                  <a:pt x="35339" y="0"/>
                </a:cubicBezTo>
                <a:close/>
              </a:path>
            </a:pathLst>
          </a:custGeom>
          <a:solidFill>
            <a:srgbClr val="8D99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404286" y="1236870"/>
            <a:ext cx="353391" cy="353391"/>
          </a:xfrm>
          <a:custGeom>
            <a:avLst/>
            <a:gdLst/>
            <a:ahLst/>
            <a:cxnLst/>
            <a:rect l="l" t="t" r="r" b="b"/>
            <a:pathLst>
              <a:path w="353391" h="353391">
                <a:moveTo>
                  <a:pt x="176696" y="0"/>
                </a:moveTo>
                <a:lnTo>
                  <a:pt x="176696" y="0"/>
                </a:lnTo>
                <a:cubicBezTo>
                  <a:pt x="274217" y="0"/>
                  <a:pt x="353391" y="79175"/>
                  <a:pt x="353391" y="176696"/>
                </a:cubicBezTo>
                <a:lnTo>
                  <a:pt x="353391" y="176696"/>
                </a:lnTo>
                <a:cubicBezTo>
                  <a:pt x="353391" y="274217"/>
                  <a:pt x="274217" y="353391"/>
                  <a:pt x="176696" y="353391"/>
                </a:cubicBezTo>
                <a:lnTo>
                  <a:pt x="176696" y="353391"/>
                </a:lnTo>
                <a:cubicBezTo>
                  <a:pt x="79175" y="353391"/>
                  <a:pt x="0" y="274217"/>
                  <a:pt x="0" y="176696"/>
                </a:cubicBezTo>
                <a:lnTo>
                  <a:pt x="0" y="176696"/>
                </a:lnTo>
                <a:cubicBezTo>
                  <a:pt x="0" y="79175"/>
                  <a:pt x="79175" y="0"/>
                  <a:pt x="176696" y="0"/>
                </a:cubicBezTo>
                <a:close/>
              </a:path>
            </a:pathLst>
          </a:custGeom>
          <a:solidFill>
            <a:srgbClr val="8D99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368947" y="1236870"/>
            <a:ext cx="424070" cy="353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13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863695" y="1289878"/>
            <a:ext cx="1652104" cy="247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2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Monthly Subscription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404286" y="1696278"/>
            <a:ext cx="3480904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4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Platform Access + Support + Maintenance + Materials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404286" y="1943652"/>
            <a:ext cx="3472070" cy="141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3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Digital inventory platform (AI-enhanced)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404286" y="2120348"/>
            <a:ext cx="3472070" cy="141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3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Predictive maintenance integration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404286" y="2297043"/>
            <a:ext cx="3472070" cy="141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3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Equipment maintenance &amp; troubleshooting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404286" y="2473739"/>
            <a:ext cx="3472070" cy="141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3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Material supply (metal powders)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404286" y="2650435"/>
            <a:ext cx="3472070" cy="141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3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Ongoing operator support &amp; training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404286" y="2827130"/>
            <a:ext cx="3472070" cy="141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3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Certification updates &amp; compliance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404286" y="3078922"/>
            <a:ext cx="3419061" cy="8835"/>
          </a:xfrm>
          <a:custGeom>
            <a:avLst/>
            <a:gdLst/>
            <a:ahLst/>
            <a:cxnLst/>
            <a:rect l="l" t="t" r="r" b="b"/>
            <a:pathLst>
              <a:path w="3419061" h="8835">
                <a:moveTo>
                  <a:pt x="0" y="0"/>
                </a:moveTo>
                <a:lnTo>
                  <a:pt x="3419061" y="0"/>
                </a:lnTo>
                <a:lnTo>
                  <a:pt x="3419061" y="8835"/>
                </a:lnTo>
                <a:lnTo>
                  <a:pt x="0" y="8835"/>
                </a:lnTo>
                <a:lnTo>
                  <a:pt x="0" y="0"/>
                </a:lnTo>
                <a:close/>
              </a:path>
            </a:pathLst>
          </a:custGeom>
          <a:solidFill>
            <a:srgbClr val="8D99AE">
              <a:alpha val="3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404286" y="3154017"/>
            <a:ext cx="750957" cy="141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3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Price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404286" y="3295374"/>
            <a:ext cx="786296" cy="247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1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$12K/mo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434617" y="3154017"/>
            <a:ext cx="388730" cy="141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83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Margin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408112" y="3295374"/>
            <a:ext cx="415235" cy="247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52" b="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60%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119460" y="1095513"/>
            <a:ext cx="3719443" cy="2588591"/>
          </a:xfrm>
          <a:custGeom>
            <a:avLst/>
            <a:gdLst/>
            <a:ahLst/>
            <a:cxnLst/>
            <a:rect l="l" t="t" r="r" b="b"/>
            <a:pathLst>
              <a:path w="3719443" h="2588591">
                <a:moveTo>
                  <a:pt x="35339" y="0"/>
                </a:moveTo>
                <a:lnTo>
                  <a:pt x="3648775" y="0"/>
                </a:lnTo>
                <a:cubicBezTo>
                  <a:pt x="3687804" y="0"/>
                  <a:pt x="3719443" y="31639"/>
                  <a:pt x="3719443" y="70669"/>
                </a:cubicBezTo>
                <a:lnTo>
                  <a:pt x="3719443" y="2517923"/>
                </a:lnTo>
                <a:cubicBezTo>
                  <a:pt x="3719443" y="2556952"/>
                  <a:pt x="3687804" y="2588591"/>
                  <a:pt x="3648775" y="2588591"/>
                </a:cubicBezTo>
                <a:lnTo>
                  <a:pt x="35339" y="2588591"/>
                </a:lnTo>
                <a:cubicBezTo>
                  <a:pt x="15822" y="2588591"/>
                  <a:pt x="0" y="2572769"/>
                  <a:pt x="0" y="2553252"/>
                </a:cubicBezTo>
                <a:lnTo>
                  <a:pt x="0" y="35339"/>
                </a:lnTo>
                <a:cubicBezTo>
                  <a:pt x="0" y="15835"/>
                  <a:pt x="15835" y="0"/>
                  <a:pt x="35339" y="0"/>
                </a:cubicBezTo>
                <a:close/>
              </a:path>
            </a:pathLst>
          </a:custGeom>
          <a:gradFill flip="none" rotWithShape="1">
            <a:gsLst>
              <a:gs pos="0">
                <a:srgbClr val="E07A5F">
                  <a:alpha val="40000"/>
                </a:srgbClr>
              </a:gs>
              <a:gs pos="100000">
                <a:srgbClr val="E07A5F">
                  <a:alpha val="2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8119460" y="1095513"/>
            <a:ext cx="35339" cy="2588591"/>
          </a:xfrm>
          <a:custGeom>
            <a:avLst/>
            <a:gdLst/>
            <a:ahLst/>
            <a:cxnLst/>
            <a:rect l="l" t="t" r="r" b="b"/>
            <a:pathLst>
              <a:path w="35339" h="2588591">
                <a:moveTo>
                  <a:pt x="35339" y="0"/>
                </a:moveTo>
                <a:lnTo>
                  <a:pt x="35339" y="0"/>
                </a:lnTo>
                <a:lnTo>
                  <a:pt x="35339" y="2588591"/>
                </a:lnTo>
                <a:lnTo>
                  <a:pt x="35339" y="2588591"/>
                </a:lnTo>
                <a:cubicBezTo>
                  <a:pt x="15822" y="2588591"/>
                  <a:pt x="0" y="2572769"/>
                  <a:pt x="0" y="2553252"/>
                </a:cubicBezTo>
                <a:lnTo>
                  <a:pt x="0" y="35339"/>
                </a:lnTo>
                <a:cubicBezTo>
                  <a:pt x="0" y="15835"/>
                  <a:pt x="15835" y="0"/>
                  <a:pt x="35339" y="0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8278486" y="1236870"/>
            <a:ext cx="353391" cy="353391"/>
          </a:xfrm>
          <a:custGeom>
            <a:avLst/>
            <a:gdLst/>
            <a:ahLst/>
            <a:cxnLst/>
            <a:rect l="l" t="t" r="r" b="b"/>
            <a:pathLst>
              <a:path w="353391" h="353391">
                <a:moveTo>
                  <a:pt x="176696" y="0"/>
                </a:moveTo>
                <a:lnTo>
                  <a:pt x="176696" y="0"/>
                </a:lnTo>
                <a:cubicBezTo>
                  <a:pt x="274217" y="0"/>
                  <a:pt x="353391" y="79175"/>
                  <a:pt x="353391" y="176696"/>
                </a:cubicBezTo>
                <a:lnTo>
                  <a:pt x="353391" y="176696"/>
                </a:lnTo>
                <a:cubicBezTo>
                  <a:pt x="353391" y="274217"/>
                  <a:pt x="274217" y="353391"/>
                  <a:pt x="176696" y="353391"/>
                </a:cubicBezTo>
                <a:lnTo>
                  <a:pt x="176696" y="353391"/>
                </a:lnTo>
                <a:cubicBezTo>
                  <a:pt x="79175" y="353391"/>
                  <a:pt x="0" y="274217"/>
                  <a:pt x="0" y="176696"/>
                </a:cubicBezTo>
                <a:lnTo>
                  <a:pt x="0" y="176696"/>
                </a:lnTo>
                <a:cubicBezTo>
                  <a:pt x="0" y="79175"/>
                  <a:pt x="79175" y="0"/>
                  <a:pt x="176696" y="0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8243147" y="1236870"/>
            <a:ext cx="424070" cy="353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13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8737894" y="1289878"/>
            <a:ext cx="1537252" cy="247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2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Per-Part Production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278486" y="1696278"/>
            <a:ext cx="3480904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4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Print-on-Demand Certified Parts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278486" y="1943652"/>
            <a:ext cx="3472070" cy="141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3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Pre-certified: Cost + </a:t>
            </a:r>
            <a:r>
              <a:rPr lang="en-US" sz="835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30%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278486" y="2120348"/>
            <a:ext cx="3472070" cy="141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3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New cert: Cost + cert fee + </a:t>
            </a:r>
            <a:r>
              <a:rPr lang="en-US" sz="835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40%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278486" y="2297043"/>
            <a:ext cx="3472070" cy="141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3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Emergency: Cost + </a:t>
            </a:r>
            <a:r>
              <a:rPr lang="en-US" sz="835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50-100%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8278486" y="2509078"/>
            <a:ext cx="3472070" cy="141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3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Average: </a:t>
            </a:r>
            <a:r>
              <a:rPr lang="en-US" sz="835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$5K-$50K</a:t>
            </a:r>
            <a:r>
              <a:rPr lang="en-US" sz="83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per part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278486" y="2685774"/>
            <a:ext cx="3472070" cy="141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3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Volume: 10-50 parts/site/year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8278486" y="2937565"/>
            <a:ext cx="3419061" cy="8835"/>
          </a:xfrm>
          <a:custGeom>
            <a:avLst/>
            <a:gdLst/>
            <a:ahLst/>
            <a:cxnLst/>
            <a:rect l="l" t="t" r="r" b="b"/>
            <a:pathLst>
              <a:path w="3419061" h="8835">
                <a:moveTo>
                  <a:pt x="0" y="0"/>
                </a:moveTo>
                <a:lnTo>
                  <a:pt x="3419061" y="0"/>
                </a:lnTo>
                <a:lnTo>
                  <a:pt x="3419061" y="8835"/>
                </a:lnTo>
                <a:lnTo>
                  <a:pt x="0" y="8835"/>
                </a:lnTo>
                <a:lnTo>
                  <a:pt x="0" y="0"/>
                </a:lnTo>
                <a:close/>
              </a:path>
            </a:pathLst>
          </a:custGeom>
          <a:solidFill>
            <a:srgbClr val="E07A5F">
              <a:alpha val="3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8278486" y="3012661"/>
            <a:ext cx="715617" cy="141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3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Revenue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8278486" y="3154017"/>
            <a:ext cx="750957" cy="247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1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Variable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10996653" y="3012661"/>
            <a:ext cx="697948" cy="141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83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 Value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10970149" y="3154017"/>
            <a:ext cx="724452" cy="247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52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Premium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357809" y="3829878"/>
            <a:ext cx="5663096" cy="2473739"/>
          </a:xfrm>
          <a:custGeom>
            <a:avLst/>
            <a:gdLst/>
            <a:ahLst/>
            <a:cxnLst/>
            <a:rect l="l" t="t" r="r" b="b"/>
            <a:pathLst>
              <a:path w="5663096" h="2473739">
                <a:moveTo>
                  <a:pt x="70675" y="0"/>
                </a:moveTo>
                <a:lnTo>
                  <a:pt x="5592421" y="0"/>
                </a:lnTo>
                <a:cubicBezTo>
                  <a:pt x="5631453" y="0"/>
                  <a:pt x="5663096" y="31642"/>
                  <a:pt x="5663096" y="70675"/>
                </a:cubicBezTo>
                <a:lnTo>
                  <a:pt x="5663096" y="2403064"/>
                </a:lnTo>
                <a:cubicBezTo>
                  <a:pt x="5663096" y="2442097"/>
                  <a:pt x="5631453" y="2473739"/>
                  <a:pt x="5592421" y="2473739"/>
                </a:cubicBezTo>
                <a:lnTo>
                  <a:pt x="70675" y="2473739"/>
                </a:lnTo>
                <a:cubicBezTo>
                  <a:pt x="31642" y="2473739"/>
                  <a:pt x="0" y="2442097"/>
                  <a:pt x="0" y="2403064"/>
                </a:cubicBezTo>
                <a:lnTo>
                  <a:pt x="0" y="70675"/>
                </a:lnTo>
                <a:cubicBezTo>
                  <a:pt x="0" y="31642"/>
                  <a:pt x="31642" y="0"/>
                  <a:pt x="70675" y="0"/>
                </a:cubicBezTo>
                <a:close/>
              </a:path>
            </a:pathLst>
          </a:custGeom>
          <a:solidFill>
            <a:srgbClr val="2B2D42">
              <a:alpha val="40000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503583" y="3975652"/>
            <a:ext cx="5451061" cy="247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2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Unit Economics (Per Customer)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503583" y="4616174"/>
            <a:ext cx="5371548" cy="8835"/>
          </a:xfrm>
          <a:custGeom>
            <a:avLst/>
            <a:gdLst/>
            <a:ahLst/>
            <a:cxnLst/>
            <a:rect l="l" t="t" r="r" b="b"/>
            <a:pathLst>
              <a:path w="5371548" h="8835">
                <a:moveTo>
                  <a:pt x="0" y="0"/>
                </a:moveTo>
                <a:lnTo>
                  <a:pt x="5371548" y="0"/>
                </a:lnTo>
                <a:lnTo>
                  <a:pt x="5371548" y="8835"/>
                </a:lnTo>
                <a:lnTo>
                  <a:pt x="0" y="8835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503583" y="4382052"/>
            <a:ext cx="565426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4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Setup fee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5295421" y="4364383"/>
            <a:ext cx="644939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$90,000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503583" y="4978400"/>
            <a:ext cx="5371548" cy="8835"/>
          </a:xfrm>
          <a:custGeom>
            <a:avLst/>
            <a:gdLst/>
            <a:ahLst/>
            <a:cxnLst/>
            <a:rect l="l" t="t" r="r" b="b"/>
            <a:pathLst>
              <a:path w="5371548" h="8835">
                <a:moveTo>
                  <a:pt x="0" y="0"/>
                </a:moveTo>
                <a:lnTo>
                  <a:pt x="5371548" y="0"/>
                </a:lnTo>
                <a:lnTo>
                  <a:pt x="5371548" y="8835"/>
                </a:lnTo>
                <a:lnTo>
                  <a:pt x="0" y="8835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503583" y="4744278"/>
            <a:ext cx="1607930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4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Monthly subscription (12 mo)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5273334" y="4726609"/>
            <a:ext cx="671443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$144,000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503583" y="5340626"/>
            <a:ext cx="5371548" cy="8835"/>
          </a:xfrm>
          <a:custGeom>
            <a:avLst/>
            <a:gdLst/>
            <a:ahLst/>
            <a:cxnLst/>
            <a:rect l="l" t="t" r="r" b="b"/>
            <a:pathLst>
              <a:path w="5371548" h="8835">
                <a:moveTo>
                  <a:pt x="0" y="0"/>
                </a:moveTo>
                <a:lnTo>
                  <a:pt x="5371548" y="0"/>
                </a:lnTo>
                <a:lnTo>
                  <a:pt x="5371548" y="8835"/>
                </a:lnTo>
                <a:lnTo>
                  <a:pt x="0" y="8835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503583" y="5106504"/>
            <a:ext cx="1934817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4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Per-part revenue (20 parts @ $10K)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5206337" y="5088835"/>
            <a:ext cx="733287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$200,000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503583" y="5415722"/>
            <a:ext cx="5371548" cy="388730"/>
          </a:xfrm>
          <a:custGeom>
            <a:avLst/>
            <a:gdLst/>
            <a:ahLst/>
            <a:cxnLst/>
            <a:rect l="l" t="t" r="r" b="b"/>
            <a:pathLst>
              <a:path w="5371548" h="388730">
                <a:moveTo>
                  <a:pt x="35339" y="0"/>
                </a:moveTo>
                <a:lnTo>
                  <a:pt x="5336208" y="0"/>
                </a:lnTo>
                <a:cubicBezTo>
                  <a:pt x="5355726" y="0"/>
                  <a:pt x="5371548" y="15822"/>
                  <a:pt x="5371548" y="35339"/>
                </a:cubicBezTo>
                <a:lnTo>
                  <a:pt x="5371548" y="353391"/>
                </a:lnTo>
                <a:cubicBezTo>
                  <a:pt x="5371548" y="372908"/>
                  <a:pt x="5355726" y="388730"/>
                  <a:pt x="5336208" y="388730"/>
                </a:cubicBezTo>
                <a:lnTo>
                  <a:pt x="35339" y="388730"/>
                </a:lnTo>
                <a:cubicBezTo>
                  <a:pt x="15822" y="388730"/>
                  <a:pt x="0" y="372908"/>
                  <a:pt x="0" y="353391"/>
                </a:cubicBezTo>
                <a:lnTo>
                  <a:pt x="0" y="35339"/>
                </a:lnTo>
                <a:cubicBezTo>
                  <a:pt x="0" y="15822"/>
                  <a:pt x="15822" y="0"/>
                  <a:pt x="35339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574261" y="5521739"/>
            <a:ext cx="1219200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4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 Year 1 Revenue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5017126" y="5486400"/>
            <a:ext cx="874643" cy="247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1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$434,000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503583" y="5928139"/>
            <a:ext cx="1413565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4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Ongoing Annual (Year 2+)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5242412" y="5910470"/>
            <a:ext cx="697948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b="1" dirty="0">
                <a:solidFill>
                  <a:srgbClr val="4A6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$344,000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6169181" y="3829878"/>
            <a:ext cx="5663096" cy="2473739"/>
          </a:xfrm>
          <a:custGeom>
            <a:avLst/>
            <a:gdLst/>
            <a:ahLst/>
            <a:cxnLst/>
            <a:rect l="l" t="t" r="r" b="b"/>
            <a:pathLst>
              <a:path w="5663096" h="2473739">
                <a:moveTo>
                  <a:pt x="70675" y="0"/>
                </a:moveTo>
                <a:lnTo>
                  <a:pt x="5592421" y="0"/>
                </a:lnTo>
                <a:cubicBezTo>
                  <a:pt x="5631453" y="0"/>
                  <a:pt x="5663096" y="31642"/>
                  <a:pt x="5663096" y="70675"/>
                </a:cubicBezTo>
                <a:lnTo>
                  <a:pt x="5663096" y="2403064"/>
                </a:lnTo>
                <a:cubicBezTo>
                  <a:pt x="5663096" y="2442097"/>
                  <a:pt x="5631453" y="2473739"/>
                  <a:pt x="5592421" y="2473739"/>
                </a:cubicBezTo>
                <a:lnTo>
                  <a:pt x="70675" y="2473739"/>
                </a:lnTo>
                <a:cubicBezTo>
                  <a:pt x="31642" y="2473739"/>
                  <a:pt x="0" y="2442097"/>
                  <a:pt x="0" y="2403064"/>
                </a:cubicBezTo>
                <a:lnTo>
                  <a:pt x="0" y="70675"/>
                </a:lnTo>
                <a:cubicBezTo>
                  <a:pt x="0" y="31642"/>
                  <a:pt x="31642" y="0"/>
                  <a:pt x="70675" y="0"/>
                </a:cubicBezTo>
                <a:close/>
              </a:path>
            </a:pathLst>
          </a:custGeom>
          <a:solidFill>
            <a:srgbClr val="2B2D42">
              <a:alpha val="40000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6314955" y="3975652"/>
            <a:ext cx="5451061" cy="247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2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Market Sizing (Conservative)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6314955" y="4329043"/>
            <a:ext cx="5371548" cy="494748"/>
          </a:xfrm>
          <a:custGeom>
            <a:avLst/>
            <a:gdLst/>
            <a:ahLst/>
            <a:cxnLst/>
            <a:rect l="l" t="t" r="r" b="b"/>
            <a:pathLst>
              <a:path w="5371548" h="494748">
                <a:moveTo>
                  <a:pt x="35340" y="0"/>
                </a:moveTo>
                <a:lnTo>
                  <a:pt x="5336208" y="0"/>
                </a:lnTo>
                <a:cubicBezTo>
                  <a:pt x="5355726" y="0"/>
                  <a:pt x="5371548" y="15822"/>
                  <a:pt x="5371548" y="35340"/>
                </a:cubicBezTo>
                <a:lnTo>
                  <a:pt x="5371548" y="459408"/>
                </a:lnTo>
                <a:cubicBezTo>
                  <a:pt x="5371548" y="478926"/>
                  <a:pt x="5355726" y="494748"/>
                  <a:pt x="5336208" y="494748"/>
                </a:cubicBezTo>
                <a:lnTo>
                  <a:pt x="35340" y="494748"/>
                </a:lnTo>
                <a:cubicBezTo>
                  <a:pt x="15822" y="494748"/>
                  <a:pt x="0" y="478926"/>
                  <a:pt x="0" y="459408"/>
                </a:cubicBezTo>
                <a:lnTo>
                  <a:pt x="0" y="35340"/>
                </a:lnTo>
                <a:cubicBezTo>
                  <a:pt x="0" y="15835"/>
                  <a:pt x="15835" y="0"/>
                  <a:pt x="3534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6385634" y="4399722"/>
            <a:ext cx="1219200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4" b="1" dirty="0">
                <a:solidFill>
                  <a:srgbClr val="4A6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Canada (Beachhead)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11240641" y="4417391"/>
            <a:ext cx="424070" cy="141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3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Year 1-3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6385634" y="4611757"/>
            <a:ext cx="697948" cy="141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3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50 sites target</a:t>
            </a:r>
            <a:endParaRPr lang="en-US" sz="1600" dirty="0"/>
          </a:p>
        </p:txBody>
      </p:sp>
      <p:sp>
        <p:nvSpPr>
          <p:cNvPr id="75" name="Text 73"/>
          <p:cNvSpPr/>
          <p:nvPr/>
        </p:nvSpPr>
        <p:spPr>
          <a:xfrm>
            <a:off x="10989439" y="4611757"/>
            <a:ext cx="680278" cy="141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35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$17.2M by Y3</a:t>
            </a:r>
            <a:endParaRPr lang="en-US" sz="1600" dirty="0"/>
          </a:p>
        </p:txBody>
      </p:sp>
      <p:sp>
        <p:nvSpPr>
          <p:cNvPr id="76" name="Shape 74"/>
          <p:cNvSpPr/>
          <p:nvPr/>
        </p:nvSpPr>
        <p:spPr>
          <a:xfrm>
            <a:off x="6314955" y="4894470"/>
            <a:ext cx="5371548" cy="494748"/>
          </a:xfrm>
          <a:custGeom>
            <a:avLst/>
            <a:gdLst/>
            <a:ahLst/>
            <a:cxnLst/>
            <a:rect l="l" t="t" r="r" b="b"/>
            <a:pathLst>
              <a:path w="5371548" h="494748">
                <a:moveTo>
                  <a:pt x="35340" y="0"/>
                </a:moveTo>
                <a:lnTo>
                  <a:pt x="5336208" y="0"/>
                </a:lnTo>
                <a:cubicBezTo>
                  <a:pt x="5355726" y="0"/>
                  <a:pt x="5371548" y="15822"/>
                  <a:pt x="5371548" y="35340"/>
                </a:cubicBezTo>
                <a:lnTo>
                  <a:pt x="5371548" y="459408"/>
                </a:lnTo>
                <a:cubicBezTo>
                  <a:pt x="5371548" y="478926"/>
                  <a:pt x="5355726" y="494748"/>
                  <a:pt x="5336208" y="494748"/>
                </a:cubicBezTo>
                <a:lnTo>
                  <a:pt x="35340" y="494748"/>
                </a:lnTo>
                <a:cubicBezTo>
                  <a:pt x="15822" y="494748"/>
                  <a:pt x="0" y="478926"/>
                  <a:pt x="0" y="459408"/>
                </a:cubicBezTo>
                <a:lnTo>
                  <a:pt x="0" y="35340"/>
                </a:lnTo>
                <a:cubicBezTo>
                  <a:pt x="0" y="15835"/>
                  <a:pt x="15835" y="0"/>
                  <a:pt x="3534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6385634" y="4965148"/>
            <a:ext cx="883478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4" b="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North America</a:t>
            </a:r>
            <a:endParaRPr lang="en-US" sz="1600" dirty="0"/>
          </a:p>
        </p:txBody>
      </p:sp>
      <p:sp>
        <p:nvSpPr>
          <p:cNvPr id="78" name="Text 76"/>
          <p:cNvSpPr/>
          <p:nvPr/>
        </p:nvSpPr>
        <p:spPr>
          <a:xfrm>
            <a:off x="11220027" y="4982817"/>
            <a:ext cx="450574" cy="141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3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Year 4-5</a:t>
            </a:r>
            <a:endParaRPr lang="en-US" sz="1600" dirty="0"/>
          </a:p>
        </p:txBody>
      </p:sp>
      <p:sp>
        <p:nvSpPr>
          <p:cNvPr id="79" name="Text 77"/>
          <p:cNvSpPr/>
          <p:nvPr/>
        </p:nvSpPr>
        <p:spPr>
          <a:xfrm>
            <a:off x="6385634" y="5177183"/>
            <a:ext cx="1113183" cy="141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3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1,500 sites, 5% capture</a:t>
            </a:r>
            <a:endParaRPr lang="en-US" sz="1600" dirty="0"/>
          </a:p>
        </p:txBody>
      </p:sp>
      <p:sp>
        <p:nvSpPr>
          <p:cNvPr id="80" name="Text 78"/>
          <p:cNvSpPr/>
          <p:nvPr/>
        </p:nvSpPr>
        <p:spPr>
          <a:xfrm>
            <a:off x="11287760" y="5177183"/>
            <a:ext cx="379896" cy="141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35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$17.5M</a:t>
            </a:r>
            <a:endParaRPr lang="en-US" sz="1600" dirty="0"/>
          </a:p>
        </p:txBody>
      </p:sp>
      <p:sp>
        <p:nvSpPr>
          <p:cNvPr id="81" name="Shape 79"/>
          <p:cNvSpPr/>
          <p:nvPr/>
        </p:nvSpPr>
        <p:spPr>
          <a:xfrm>
            <a:off x="6314955" y="5459896"/>
            <a:ext cx="5371548" cy="494748"/>
          </a:xfrm>
          <a:custGeom>
            <a:avLst/>
            <a:gdLst/>
            <a:ahLst/>
            <a:cxnLst/>
            <a:rect l="l" t="t" r="r" b="b"/>
            <a:pathLst>
              <a:path w="5371548" h="494748">
                <a:moveTo>
                  <a:pt x="35340" y="0"/>
                </a:moveTo>
                <a:lnTo>
                  <a:pt x="5336208" y="0"/>
                </a:lnTo>
                <a:cubicBezTo>
                  <a:pt x="5355726" y="0"/>
                  <a:pt x="5371548" y="15822"/>
                  <a:pt x="5371548" y="35340"/>
                </a:cubicBezTo>
                <a:lnTo>
                  <a:pt x="5371548" y="459408"/>
                </a:lnTo>
                <a:cubicBezTo>
                  <a:pt x="5371548" y="478926"/>
                  <a:pt x="5355726" y="494748"/>
                  <a:pt x="5336208" y="494748"/>
                </a:cubicBezTo>
                <a:lnTo>
                  <a:pt x="35340" y="494748"/>
                </a:lnTo>
                <a:cubicBezTo>
                  <a:pt x="15822" y="494748"/>
                  <a:pt x="0" y="478926"/>
                  <a:pt x="0" y="459408"/>
                </a:cubicBezTo>
                <a:lnTo>
                  <a:pt x="0" y="35340"/>
                </a:lnTo>
                <a:cubicBezTo>
                  <a:pt x="0" y="15835"/>
                  <a:pt x="15835" y="0"/>
                  <a:pt x="3534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2" name="Text 80"/>
          <p:cNvSpPr/>
          <p:nvPr/>
        </p:nvSpPr>
        <p:spPr>
          <a:xfrm>
            <a:off x="6385634" y="5530574"/>
            <a:ext cx="1139687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4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Global (Long-term)</a:t>
            </a:r>
            <a:endParaRPr lang="en-US" sz="1600" dirty="0"/>
          </a:p>
        </p:txBody>
      </p:sp>
      <p:sp>
        <p:nvSpPr>
          <p:cNvPr id="83" name="Text 81"/>
          <p:cNvSpPr/>
          <p:nvPr/>
        </p:nvSpPr>
        <p:spPr>
          <a:xfrm>
            <a:off x="11280103" y="5548243"/>
            <a:ext cx="388730" cy="141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3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Year 10</a:t>
            </a:r>
            <a:endParaRPr lang="en-US" sz="1600" dirty="0"/>
          </a:p>
        </p:txBody>
      </p:sp>
      <p:sp>
        <p:nvSpPr>
          <p:cNvPr id="84" name="Text 82"/>
          <p:cNvSpPr/>
          <p:nvPr/>
        </p:nvSpPr>
        <p:spPr>
          <a:xfrm>
            <a:off x="6385634" y="5742609"/>
            <a:ext cx="1104348" cy="141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3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6,000 rigs, 2% capture</a:t>
            </a:r>
            <a:endParaRPr lang="en-US" sz="1600" dirty="0"/>
          </a:p>
        </p:txBody>
      </p:sp>
      <p:sp>
        <p:nvSpPr>
          <p:cNvPr id="85" name="Text 83"/>
          <p:cNvSpPr/>
          <p:nvPr/>
        </p:nvSpPr>
        <p:spPr>
          <a:xfrm>
            <a:off x="11344155" y="5742609"/>
            <a:ext cx="326887" cy="141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35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$28M</a:t>
            </a:r>
            <a:endParaRPr lang="en-US" sz="1600" dirty="0"/>
          </a:p>
        </p:txBody>
      </p:sp>
      <p:sp>
        <p:nvSpPr>
          <p:cNvPr id="86" name="Shape 84"/>
          <p:cNvSpPr/>
          <p:nvPr/>
        </p:nvSpPr>
        <p:spPr>
          <a:xfrm>
            <a:off x="357809" y="6453809"/>
            <a:ext cx="11476383" cy="397565"/>
          </a:xfrm>
          <a:custGeom>
            <a:avLst/>
            <a:gdLst/>
            <a:ahLst/>
            <a:cxnLst/>
            <a:rect l="l" t="t" r="r" b="b"/>
            <a:pathLst>
              <a:path w="11476383" h="397565">
                <a:moveTo>
                  <a:pt x="70679" y="0"/>
                </a:moveTo>
                <a:lnTo>
                  <a:pt x="11405703" y="0"/>
                </a:lnTo>
                <a:cubicBezTo>
                  <a:pt x="11444738" y="0"/>
                  <a:pt x="11476383" y="31644"/>
                  <a:pt x="11476383" y="70679"/>
                </a:cubicBezTo>
                <a:lnTo>
                  <a:pt x="11476383" y="326886"/>
                </a:lnTo>
                <a:cubicBezTo>
                  <a:pt x="11476383" y="365921"/>
                  <a:pt x="11444738" y="397565"/>
                  <a:pt x="11405703" y="397565"/>
                </a:cubicBezTo>
                <a:lnTo>
                  <a:pt x="70679" y="397565"/>
                </a:lnTo>
                <a:cubicBezTo>
                  <a:pt x="31670" y="397565"/>
                  <a:pt x="0" y="365895"/>
                  <a:pt x="0" y="326886"/>
                </a:cubicBezTo>
                <a:lnTo>
                  <a:pt x="0" y="70679"/>
                </a:lnTo>
                <a:cubicBezTo>
                  <a:pt x="0" y="31670"/>
                  <a:pt x="31670" y="0"/>
                  <a:pt x="70679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12700">
            <a:solidFill>
              <a:srgbClr val="4A6C8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Shape 85"/>
          <p:cNvSpPr/>
          <p:nvPr/>
        </p:nvSpPr>
        <p:spPr>
          <a:xfrm>
            <a:off x="490330" y="6564243"/>
            <a:ext cx="176696" cy="176696"/>
          </a:xfrm>
          <a:custGeom>
            <a:avLst/>
            <a:gdLst/>
            <a:ahLst/>
            <a:cxnLst/>
            <a:rect l="l" t="t" r="r" b="b"/>
            <a:pathLst>
              <a:path w="176696" h="176696">
                <a:moveTo>
                  <a:pt x="88348" y="176696"/>
                </a:moveTo>
                <a:cubicBezTo>
                  <a:pt x="137108" y="176696"/>
                  <a:pt x="176696" y="137108"/>
                  <a:pt x="176696" y="88348"/>
                </a:cubicBezTo>
                <a:cubicBezTo>
                  <a:pt x="176696" y="39587"/>
                  <a:pt x="137108" y="0"/>
                  <a:pt x="88348" y="0"/>
                </a:cubicBezTo>
                <a:cubicBezTo>
                  <a:pt x="39587" y="0"/>
                  <a:pt x="0" y="39587"/>
                  <a:pt x="0" y="88348"/>
                </a:cubicBezTo>
                <a:cubicBezTo>
                  <a:pt x="0" y="137108"/>
                  <a:pt x="39587" y="176696"/>
                  <a:pt x="88348" y="176696"/>
                </a:cubicBezTo>
                <a:close/>
                <a:moveTo>
                  <a:pt x="117475" y="73405"/>
                </a:moveTo>
                <a:lnTo>
                  <a:pt x="89866" y="117579"/>
                </a:lnTo>
                <a:cubicBezTo>
                  <a:pt x="88417" y="119891"/>
                  <a:pt x="85932" y="121340"/>
                  <a:pt x="83206" y="121478"/>
                </a:cubicBezTo>
                <a:cubicBezTo>
                  <a:pt x="80479" y="121616"/>
                  <a:pt x="77857" y="120374"/>
                  <a:pt x="76235" y="118165"/>
                </a:cubicBezTo>
                <a:lnTo>
                  <a:pt x="59669" y="96078"/>
                </a:lnTo>
                <a:cubicBezTo>
                  <a:pt x="56908" y="92420"/>
                  <a:pt x="57668" y="87243"/>
                  <a:pt x="61326" y="84483"/>
                </a:cubicBezTo>
                <a:cubicBezTo>
                  <a:pt x="64984" y="81722"/>
                  <a:pt x="70161" y="82481"/>
                  <a:pt x="72921" y="86139"/>
                </a:cubicBezTo>
                <a:lnTo>
                  <a:pt x="82239" y="98563"/>
                </a:lnTo>
                <a:lnTo>
                  <a:pt x="103429" y="64639"/>
                </a:lnTo>
                <a:cubicBezTo>
                  <a:pt x="105845" y="60774"/>
                  <a:pt x="110952" y="59566"/>
                  <a:pt x="114852" y="62016"/>
                </a:cubicBezTo>
                <a:cubicBezTo>
                  <a:pt x="118752" y="64466"/>
                  <a:pt x="119925" y="69539"/>
                  <a:pt x="117475" y="73439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8" name="Text 86"/>
          <p:cNvSpPr/>
          <p:nvPr/>
        </p:nvSpPr>
        <p:spPr>
          <a:xfrm>
            <a:off x="830470" y="6581913"/>
            <a:ext cx="998330" cy="141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3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 Recurring revenue</a:t>
            </a:r>
            <a:endParaRPr lang="en-US" sz="1600" dirty="0"/>
          </a:p>
        </p:txBody>
      </p:sp>
      <p:sp>
        <p:nvSpPr>
          <p:cNvPr id="89" name="Text 87"/>
          <p:cNvSpPr/>
          <p:nvPr/>
        </p:nvSpPr>
        <p:spPr>
          <a:xfrm>
            <a:off x="1917295" y="6581913"/>
            <a:ext cx="1051339" cy="141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3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 High switching cost</a:t>
            </a:r>
            <a:endParaRPr lang="en-US" sz="1600" dirty="0"/>
          </a:p>
        </p:txBody>
      </p:sp>
      <p:sp>
        <p:nvSpPr>
          <p:cNvPr id="90" name="Text 88"/>
          <p:cNvSpPr/>
          <p:nvPr/>
        </p:nvSpPr>
        <p:spPr>
          <a:xfrm>
            <a:off x="3057571" y="6581913"/>
            <a:ext cx="892313" cy="141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3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 Network effects</a:t>
            </a:r>
            <a:endParaRPr lang="en-US" sz="1600" dirty="0"/>
          </a:p>
        </p:txBody>
      </p:sp>
      <p:sp>
        <p:nvSpPr>
          <p:cNvPr id="91" name="Text 89"/>
          <p:cNvSpPr/>
          <p:nvPr/>
        </p:nvSpPr>
        <p:spPr>
          <a:xfrm>
            <a:off x="4034845" y="6581913"/>
            <a:ext cx="989496" cy="141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3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 Aligned incentives</a:t>
            </a:r>
            <a:endParaRPr lang="en-US" sz="1600" dirty="0"/>
          </a:p>
        </p:txBody>
      </p:sp>
      <p:sp>
        <p:nvSpPr>
          <p:cNvPr id="92" name="Text 90"/>
          <p:cNvSpPr/>
          <p:nvPr/>
        </p:nvSpPr>
        <p:spPr>
          <a:xfrm>
            <a:off x="5114750" y="6581913"/>
            <a:ext cx="538922" cy="141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3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 Scalable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Traction &amp; Validation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35+ Customer Interviews. $20 M Industry Investment. Warm Intros to Global AM Leads.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5763" y="1566863"/>
            <a:ext cx="5610225" cy="2409825"/>
          </a:xfrm>
          <a:custGeom>
            <a:avLst/>
            <a:gdLst/>
            <a:ahLst/>
            <a:cxnLst/>
            <a:rect l="l" t="t" r="r" b="b"/>
            <a:pathLst>
              <a:path w="5610225" h="2409825">
                <a:moveTo>
                  <a:pt x="76199" y="0"/>
                </a:moveTo>
                <a:lnTo>
                  <a:pt x="5534026" y="0"/>
                </a:lnTo>
                <a:cubicBezTo>
                  <a:pt x="5576110" y="0"/>
                  <a:pt x="5610225" y="34115"/>
                  <a:pt x="5610225" y="76199"/>
                </a:cubicBezTo>
                <a:lnTo>
                  <a:pt x="5610225" y="2333626"/>
                </a:lnTo>
                <a:cubicBezTo>
                  <a:pt x="5610225" y="2375710"/>
                  <a:pt x="5576110" y="2409825"/>
                  <a:pt x="5534026" y="2409825"/>
                </a:cubicBezTo>
                <a:lnTo>
                  <a:pt x="76199" y="2409825"/>
                </a:lnTo>
                <a:cubicBezTo>
                  <a:pt x="34115" y="2409825"/>
                  <a:pt x="0" y="2375710"/>
                  <a:pt x="0" y="2333626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2B2D42">
              <a:alpha val="40000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56022" y="1771650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128588" y="48220"/>
                </a:moveTo>
                <a:cubicBezTo>
                  <a:pt x="128588" y="80769"/>
                  <a:pt x="99789" y="107156"/>
                  <a:pt x="64294" y="107156"/>
                </a:cubicBezTo>
                <a:cubicBezTo>
                  <a:pt x="55353" y="107156"/>
                  <a:pt x="46847" y="105482"/>
                  <a:pt x="39112" y="102468"/>
                </a:cubicBezTo>
                <a:lnTo>
                  <a:pt x="11787" y="116934"/>
                </a:lnTo>
                <a:cubicBezTo>
                  <a:pt x="8673" y="118575"/>
                  <a:pt x="4856" y="118006"/>
                  <a:pt x="2344" y="115528"/>
                </a:cubicBezTo>
                <a:cubicBezTo>
                  <a:pt x="-167" y="113050"/>
                  <a:pt x="-737" y="109199"/>
                  <a:pt x="938" y="106085"/>
                </a:cubicBezTo>
                <a:lnTo>
                  <a:pt x="12859" y="83582"/>
                </a:lnTo>
                <a:cubicBezTo>
                  <a:pt x="4789" y="73737"/>
                  <a:pt x="0" y="61481"/>
                  <a:pt x="0" y="48220"/>
                </a:cubicBezTo>
                <a:cubicBezTo>
                  <a:pt x="0" y="15672"/>
                  <a:pt x="28798" y="-10716"/>
                  <a:pt x="64294" y="-10716"/>
                </a:cubicBezTo>
                <a:cubicBezTo>
                  <a:pt x="99789" y="-10716"/>
                  <a:pt x="128588" y="15672"/>
                  <a:pt x="128588" y="48220"/>
                </a:cubicBezTo>
                <a:close/>
                <a:moveTo>
                  <a:pt x="128588" y="171450"/>
                </a:moveTo>
                <a:cubicBezTo>
                  <a:pt x="97077" y="171450"/>
                  <a:pt x="70857" y="150655"/>
                  <a:pt x="65365" y="123230"/>
                </a:cubicBezTo>
                <a:cubicBezTo>
                  <a:pt x="105549" y="122727"/>
                  <a:pt x="140475" y="94130"/>
                  <a:pt x="144326" y="55353"/>
                </a:cubicBezTo>
                <a:cubicBezTo>
                  <a:pt x="172220" y="61782"/>
                  <a:pt x="192881" y="84921"/>
                  <a:pt x="192881" y="112514"/>
                </a:cubicBezTo>
                <a:cubicBezTo>
                  <a:pt x="192881" y="125775"/>
                  <a:pt x="188093" y="138031"/>
                  <a:pt x="180023" y="147876"/>
                </a:cubicBezTo>
                <a:lnTo>
                  <a:pt x="191944" y="170378"/>
                </a:lnTo>
                <a:cubicBezTo>
                  <a:pt x="193584" y="173493"/>
                  <a:pt x="193015" y="177310"/>
                  <a:pt x="190537" y="179822"/>
                </a:cubicBezTo>
                <a:cubicBezTo>
                  <a:pt x="188059" y="182333"/>
                  <a:pt x="184208" y="182902"/>
                  <a:pt x="181094" y="181228"/>
                </a:cubicBezTo>
                <a:lnTo>
                  <a:pt x="153769" y="166762"/>
                </a:lnTo>
                <a:cubicBezTo>
                  <a:pt x="146034" y="169776"/>
                  <a:pt x="137528" y="171450"/>
                  <a:pt x="128588" y="171450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62000" y="1724025"/>
            <a:ext cx="5162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Customer Discovery Sprint (Jan-Feb 2026)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2925" y="2105025"/>
            <a:ext cx="2590800" cy="723900"/>
          </a:xfrm>
          <a:custGeom>
            <a:avLst/>
            <a:gdLst/>
            <a:ahLst/>
            <a:cxnLst/>
            <a:rect l="l" t="t" r="r" b="b"/>
            <a:pathLst>
              <a:path w="2590800" h="723900">
                <a:moveTo>
                  <a:pt x="38099" y="0"/>
                </a:moveTo>
                <a:lnTo>
                  <a:pt x="2552701" y="0"/>
                </a:lnTo>
                <a:cubicBezTo>
                  <a:pt x="2573728" y="0"/>
                  <a:pt x="2590800" y="17072"/>
                  <a:pt x="2590800" y="38099"/>
                </a:cubicBezTo>
                <a:lnTo>
                  <a:pt x="2590800" y="685801"/>
                </a:lnTo>
                <a:cubicBezTo>
                  <a:pt x="2590800" y="706828"/>
                  <a:pt x="2573728" y="723900"/>
                  <a:pt x="2552701" y="723900"/>
                </a:cubicBezTo>
                <a:lnTo>
                  <a:pt x="38099" y="723900"/>
                </a:lnTo>
                <a:cubicBezTo>
                  <a:pt x="17072" y="723900"/>
                  <a:pt x="0" y="706828"/>
                  <a:pt x="0" y="685801"/>
                </a:cubicBezTo>
                <a:lnTo>
                  <a:pt x="0" y="38099"/>
                </a:lnTo>
                <a:cubicBezTo>
                  <a:pt x="0" y="17072"/>
                  <a:pt x="17072" y="0"/>
                  <a:pt x="38099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85788" y="2219325"/>
            <a:ext cx="25050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35+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28650" y="2562225"/>
            <a:ext cx="24193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Customer Interviews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248025" y="2105025"/>
            <a:ext cx="2590800" cy="723900"/>
          </a:xfrm>
          <a:custGeom>
            <a:avLst/>
            <a:gdLst/>
            <a:ahLst/>
            <a:cxnLst/>
            <a:rect l="l" t="t" r="r" b="b"/>
            <a:pathLst>
              <a:path w="2590800" h="723900">
                <a:moveTo>
                  <a:pt x="38099" y="0"/>
                </a:moveTo>
                <a:lnTo>
                  <a:pt x="2552701" y="0"/>
                </a:lnTo>
                <a:cubicBezTo>
                  <a:pt x="2573728" y="0"/>
                  <a:pt x="2590800" y="17072"/>
                  <a:pt x="2590800" y="38099"/>
                </a:cubicBezTo>
                <a:lnTo>
                  <a:pt x="2590800" y="685801"/>
                </a:lnTo>
                <a:cubicBezTo>
                  <a:pt x="2590800" y="706828"/>
                  <a:pt x="2573728" y="723900"/>
                  <a:pt x="2552701" y="723900"/>
                </a:cubicBezTo>
                <a:lnTo>
                  <a:pt x="38099" y="723900"/>
                </a:lnTo>
                <a:cubicBezTo>
                  <a:pt x="17072" y="723900"/>
                  <a:pt x="0" y="706828"/>
                  <a:pt x="0" y="685801"/>
                </a:cubicBezTo>
                <a:lnTo>
                  <a:pt x="0" y="38099"/>
                </a:lnTo>
                <a:cubicBezTo>
                  <a:pt x="0" y="17072"/>
                  <a:pt x="17072" y="0"/>
                  <a:pt x="38099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90888" y="2219325"/>
            <a:ext cx="25050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$20 M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333750" y="2562225"/>
            <a:ext cx="24193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Industry Investment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70309" y="29718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14375" y="2943225"/>
            <a:ext cx="5191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ExxonMobil R&amp;D Advisor (18-year veteran)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70309" y="32004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14375" y="3171825"/>
            <a:ext cx="5191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Equinor/Siemens digital inventory validation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70309" y="34290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14375" y="3400425"/>
            <a:ext cx="5191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Canadian Navy AM program discovery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70309" y="36576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14375" y="3629025"/>
            <a:ext cx="5191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Utilities, offshore, Arctic mining, defense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85763" y="4138613"/>
            <a:ext cx="5610225" cy="2066925"/>
          </a:xfrm>
          <a:custGeom>
            <a:avLst/>
            <a:gdLst/>
            <a:ahLst/>
            <a:cxnLst/>
            <a:rect l="l" t="t" r="r" b="b"/>
            <a:pathLst>
              <a:path w="5610225" h="2066925">
                <a:moveTo>
                  <a:pt x="76208" y="0"/>
                </a:moveTo>
                <a:lnTo>
                  <a:pt x="5534017" y="0"/>
                </a:lnTo>
                <a:cubicBezTo>
                  <a:pt x="5576106" y="0"/>
                  <a:pt x="5610225" y="34119"/>
                  <a:pt x="5610225" y="76208"/>
                </a:cubicBezTo>
                <a:lnTo>
                  <a:pt x="5610225" y="1990717"/>
                </a:lnTo>
                <a:cubicBezTo>
                  <a:pt x="5610225" y="2032806"/>
                  <a:pt x="5576106" y="2066925"/>
                  <a:pt x="5534017" y="2066925"/>
                </a:cubicBezTo>
                <a:lnTo>
                  <a:pt x="76208" y="2066925"/>
                </a:lnTo>
                <a:cubicBezTo>
                  <a:pt x="34119" y="2066925"/>
                  <a:pt x="0" y="2032806"/>
                  <a:pt x="0" y="1990717"/>
                </a:cubicBezTo>
                <a:lnTo>
                  <a:pt x="0" y="76208"/>
                </a:lnTo>
                <a:cubicBezTo>
                  <a:pt x="0" y="34147"/>
                  <a:pt x="34147" y="0"/>
                  <a:pt x="76208" y="0"/>
                </a:cubicBezTo>
                <a:close/>
              </a:path>
            </a:pathLst>
          </a:custGeom>
          <a:solidFill>
            <a:srgbClr val="2B2D42">
              <a:alpha val="40000"/>
            </a:srgbClr>
          </a:solidFill>
          <a:ln w="12700">
            <a:solidFill>
              <a:srgbClr val="E07A5F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42925" y="4295775"/>
            <a:ext cx="5381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Validations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42925" y="4676775"/>
            <a:ext cx="2609850" cy="647700"/>
          </a:xfrm>
          <a:custGeom>
            <a:avLst/>
            <a:gdLst/>
            <a:ahLst/>
            <a:cxnLst/>
            <a:rect l="l" t="t" r="r" b="b"/>
            <a:pathLst>
              <a:path w="2609850" h="647700">
                <a:moveTo>
                  <a:pt x="38098" y="0"/>
                </a:moveTo>
                <a:lnTo>
                  <a:pt x="2571752" y="0"/>
                </a:lnTo>
                <a:cubicBezTo>
                  <a:pt x="2592779" y="0"/>
                  <a:pt x="2609850" y="17071"/>
                  <a:pt x="2609850" y="38098"/>
                </a:cubicBezTo>
                <a:lnTo>
                  <a:pt x="2609850" y="609602"/>
                </a:lnTo>
                <a:cubicBezTo>
                  <a:pt x="2609850" y="630643"/>
                  <a:pt x="2592793" y="647700"/>
                  <a:pt x="2571752" y="647700"/>
                </a:cubicBezTo>
                <a:lnTo>
                  <a:pt x="38098" y="647700"/>
                </a:lnTo>
                <a:cubicBezTo>
                  <a:pt x="17071" y="647700"/>
                  <a:pt x="0" y="630629"/>
                  <a:pt x="0" y="6096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19125" y="4752975"/>
            <a:ext cx="2514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$4-5M inventory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19125" y="4905375"/>
            <a:ext cx="2514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 $50M utility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19125" y="5095875"/>
            <a:ext cx="2514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4A6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— Adam Chubbs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228975" y="4676775"/>
            <a:ext cx="2609850" cy="647700"/>
          </a:xfrm>
          <a:custGeom>
            <a:avLst/>
            <a:gdLst/>
            <a:ahLst/>
            <a:cxnLst/>
            <a:rect l="l" t="t" r="r" b="b"/>
            <a:pathLst>
              <a:path w="2609850" h="647700">
                <a:moveTo>
                  <a:pt x="38098" y="0"/>
                </a:moveTo>
                <a:lnTo>
                  <a:pt x="2571752" y="0"/>
                </a:lnTo>
                <a:cubicBezTo>
                  <a:pt x="2592779" y="0"/>
                  <a:pt x="2609850" y="17071"/>
                  <a:pt x="2609850" y="38098"/>
                </a:cubicBezTo>
                <a:lnTo>
                  <a:pt x="2609850" y="609602"/>
                </a:lnTo>
                <a:cubicBezTo>
                  <a:pt x="2609850" y="630643"/>
                  <a:pt x="2592793" y="647700"/>
                  <a:pt x="2571752" y="647700"/>
                </a:cubicBezTo>
                <a:lnTo>
                  <a:pt x="38098" y="647700"/>
                </a:lnTo>
                <a:cubicBezTo>
                  <a:pt x="17071" y="647700"/>
                  <a:pt x="0" y="630629"/>
                  <a:pt x="0" y="6096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305175" y="4752975"/>
            <a:ext cx="2514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$30-50M inventory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3305175" y="4905375"/>
            <a:ext cx="2514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 offshore vessel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3305175" y="5095875"/>
            <a:ext cx="2514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4A6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— Jason Power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42925" y="5400675"/>
            <a:ext cx="2609850" cy="647700"/>
          </a:xfrm>
          <a:custGeom>
            <a:avLst/>
            <a:gdLst/>
            <a:ahLst/>
            <a:cxnLst/>
            <a:rect l="l" t="t" r="r" b="b"/>
            <a:pathLst>
              <a:path w="2609850" h="647700">
                <a:moveTo>
                  <a:pt x="38098" y="0"/>
                </a:moveTo>
                <a:lnTo>
                  <a:pt x="2571752" y="0"/>
                </a:lnTo>
                <a:cubicBezTo>
                  <a:pt x="2592779" y="0"/>
                  <a:pt x="2609850" y="17071"/>
                  <a:pt x="2609850" y="38098"/>
                </a:cubicBezTo>
                <a:lnTo>
                  <a:pt x="2609850" y="609602"/>
                </a:lnTo>
                <a:cubicBezTo>
                  <a:pt x="2609850" y="630643"/>
                  <a:pt x="2592793" y="647700"/>
                  <a:pt x="2571752" y="647700"/>
                </a:cubicBezTo>
                <a:lnTo>
                  <a:pt x="38098" y="647700"/>
                </a:lnTo>
                <a:cubicBezTo>
                  <a:pt x="17071" y="647700"/>
                  <a:pt x="0" y="630629"/>
                  <a:pt x="0" y="6096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19125" y="5476875"/>
            <a:ext cx="2514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$88M annual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19125" y="5629275"/>
            <a:ext cx="2514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downtime cost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19125" y="5819775"/>
            <a:ext cx="2514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4A6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— GE Oil &amp; Gas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3228975" y="5400675"/>
            <a:ext cx="2609850" cy="647700"/>
          </a:xfrm>
          <a:custGeom>
            <a:avLst/>
            <a:gdLst/>
            <a:ahLst/>
            <a:cxnLst/>
            <a:rect l="l" t="t" r="r" b="b"/>
            <a:pathLst>
              <a:path w="2609850" h="647700">
                <a:moveTo>
                  <a:pt x="38098" y="0"/>
                </a:moveTo>
                <a:lnTo>
                  <a:pt x="2571752" y="0"/>
                </a:lnTo>
                <a:cubicBezTo>
                  <a:pt x="2592779" y="0"/>
                  <a:pt x="2609850" y="17071"/>
                  <a:pt x="2609850" y="38098"/>
                </a:cubicBezTo>
                <a:lnTo>
                  <a:pt x="2609850" y="609602"/>
                </a:lnTo>
                <a:cubicBezTo>
                  <a:pt x="2609850" y="630643"/>
                  <a:pt x="2592793" y="647700"/>
                  <a:pt x="2571752" y="647700"/>
                </a:cubicBezTo>
                <a:lnTo>
                  <a:pt x="38098" y="647700"/>
                </a:lnTo>
                <a:cubicBezTo>
                  <a:pt x="17071" y="647700"/>
                  <a:pt x="0" y="630629"/>
                  <a:pt x="0" y="6096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305175" y="5476875"/>
            <a:ext cx="2514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Certification =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3305175" y="5629275"/>
            <a:ext cx="2514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barrier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3305175" y="5819775"/>
            <a:ext cx="2514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4A6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— Tyler Beatty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196013" y="1566863"/>
            <a:ext cx="5610225" cy="2562225"/>
          </a:xfrm>
          <a:custGeom>
            <a:avLst/>
            <a:gdLst/>
            <a:ahLst/>
            <a:cxnLst/>
            <a:rect l="l" t="t" r="r" b="b"/>
            <a:pathLst>
              <a:path w="5610225" h="2562225">
                <a:moveTo>
                  <a:pt x="76201" y="0"/>
                </a:moveTo>
                <a:lnTo>
                  <a:pt x="5534024" y="0"/>
                </a:lnTo>
                <a:cubicBezTo>
                  <a:pt x="5576081" y="0"/>
                  <a:pt x="5610225" y="34144"/>
                  <a:pt x="5610225" y="76201"/>
                </a:cubicBezTo>
                <a:lnTo>
                  <a:pt x="5610225" y="2486024"/>
                </a:lnTo>
                <a:cubicBezTo>
                  <a:pt x="5610225" y="2528081"/>
                  <a:pt x="5576081" y="2562225"/>
                  <a:pt x="5534024" y="2562225"/>
                </a:cubicBezTo>
                <a:lnTo>
                  <a:pt x="76201" y="2562225"/>
                </a:lnTo>
                <a:cubicBezTo>
                  <a:pt x="34144" y="2562225"/>
                  <a:pt x="0" y="2528081"/>
                  <a:pt x="0" y="2486024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2B2D42">
              <a:alpha val="40000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353175" y="1724025"/>
            <a:ext cx="5381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Warm Referrals &amp; Partnerships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357938" y="2109788"/>
            <a:ext cx="5286375" cy="1076325"/>
          </a:xfrm>
          <a:custGeom>
            <a:avLst/>
            <a:gdLst/>
            <a:ahLst/>
            <a:cxnLst/>
            <a:rect l="l" t="t" r="r" b="b"/>
            <a:pathLst>
              <a:path w="5286375" h="1076325">
                <a:moveTo>
                  <a:pt x="38102" y="0"/>
                </a:moveTo>
                <a:lnTo>
                  <a:pt x="5248273" y="0"/>
                </a:lnTo>
                <a:cubicBezTo>
                  <a:pt x="5269316" y="0"/>
                  <a:pt x="5286375" y="17059"/>
                  <a:pt x="5286375" y="38102"/>
                </a:cubicBezTo>
                <a:lnTo>
                  <a:pt x="5286375" y="1038223"/>
                </a:lnTo>
                <a:cubicBezTo>
                  <a:pt x="5286375" y="1059266"/>
                  <a:pt x="5269316" y="1076325"/>
                  <a:pt x="5248273" y="1076325"/>
                </a:cubicBezTo>
                <a:lnTo>
                  <a:pt x="38102" y="1076325"/>
                </a:lnTo>
                <a:cubicBezTo>
                  <a:pt x="17059" y="1076325"/>
                  <a:pt x="0" y="1059266"/>
                  <a:pt x="0" y="1038223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E07A5F">
              <a:alpha val="10196"/>
            </a:srgbClr>
          </a:solidFill>
          <a:ln w="12700">
            <a:solidFill>
              <a:srgbClr val="E07A5F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438900" y="2190750"/>
            <a:ext cx="5181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HIGHEST PRIORITY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446044" y="2419350"/>
            <a:ext cx="128588" cy="114300"/>
          </a:xfrm>
          <a:custGeom>
            <a:avLst/>
            <a:gdLst/>
            <a:ahLst/>
            <a:cxnLst/>
            <a:rect l="l" t="t" r="r" b="b"/>
            <a:pathLst>
              <a:path w="128588" h="114300">
                <a:moveTo>
                  <a:pt x="69093" y="-4219"/>
                </a:moveTo>
                <a:cubicBezTo>
                  <a:pt x="68178" y="-6005"/>
                  <a:pt x="66325" y="-7144"/>
                  <a:pt x="64316" y="-7144"/>
                </a:cubicBezTo>
                <a:cubicBezTo>
                  <a:pt x="62307" y="-7144"/>
                  <a:pt x="60454" y="-6005"/>
                  <a:pt x="59539" y="-4219"/>
                </a:cubicBezTo>
                <a:lnTo>
                  <a:pt x="43108" y="27972"/>
                </a:lnTo>
                <a:lnTo>
                  <a:pt x="7412" y="33643"/>
                </a:lnTo>
                <a:cubicBezTo>
                  <a:pt x="5425" y="33955"/>
                  <a:pt x="3773" y="35362"/>
                  <a:pt x="3148" y="37281"/>
                </a:cubicBezTo>
                <a:cubicBezTo>
                  <a:pt x="2523" y="39201"/>
                  <a:pt x="3036" y="41300"/>
                  <a:pt x="4443" y="42729"/>
                </a:cubicBezTo>
                <a:lnTo>
                  <a:pt x="29981" y="68290"/>
                </a:lnTo>
                <a:lnTo>
                  <a:pt x="24356" y="103986"/>
                </a:lnTo>
                <a:cubicBezTo>
                  <a:pt x="24043" y="105973"/>
                  <a:pt x="24869" y="107982"/>
                  <a:pt x="26499" y="109165"/>
                </a:cubicBezTo>
                <a:cubicBezTo>
                  <a:pt x="28129" y="110349"/>
                  <a:pt x="30272" y="110527"/>
                  <a:pt x="32080" y="109612"/>
                </a:cubicBezTo>
                <a:lnTo>
                  <a:pt x="64316" y="93226"/>
                </a:lnTo>
                <a:lnTo>
                  <a:pt x="96530" y="109612"/>
                </a:lnTo>
                <a:cubicBezTo>
                  <a:pt x="98316" y="110527"/>
                  <a:pt x="100481" y="110349"/>
                  <a:pt x="102111" y="109165"/>
                </a:cubicBezTo>
                <a:cubicBezTo>
                  <a:pt x="103741" y="107982"/>
                  <a:pt x="104567" y="105995"/>
                  <a:pt x="104254" y="103986"/>
                </a:cubicBezTo>
                <a:lnTo>
                  <a:pt x="98606" y="68290"/>
                </a:lnTo>
                <a:lnTo>
                  <a:pt x="124145" y="42729"/>
                </a:lnTo>
                <a:cubicBezTo>
                  <a:pt x="125574" y="41300"/>
                  <a:pt x="126065" y="39201"/>
                  <a:pt x="125440" y="37281"/>
                </a:cubicBezTo>
                <a:cubicBezTo>
                  <a:pt x="124815" y="35362"/>
                  <a:pt x="123185" y="33955"/>
                  <a:pt x="121176" y="33643"/>
                </a:cubicBezTo>
                <a:lnTo>
                  <a:pt x="85502" y="27972"/>
                </a:lnTo>
                <a:lnTo>
                  <a:pt x="69093" y="-4219"/>
                </a:ln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657975" y="2381250"/>
            <a:ext cx="1257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Greda Aleirum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657975" y="2571750"/>
            <a:ext cx="12477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Equinor Global AM Lead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446044" y="2800350"/>
            <a:ext cx="128588" cy="114300"/>
          </a:xfrm>
          <a:custGeom>
            <a:avLst/>
            <a:gdLst/>
            <a:ahLst/>
            <a:cxnLst/>
            <a:rect l="l" t="t" r="r" b="b"/>
            <a:pathLst>
              <a:path w="128588" h="114300">
                <a:moveTo>
                  <a:pt x="69093" y="-4219"/>
                </a:moveTo>
                <a:cubicBezTo>
                  <a:pt x="68178" y="-6005"/>
                  <a:pt x="66325" y="-7144"/>
                  <a:pt x="64316" y="-7144"/>
                </a:cubicBezTo>
                <a:cubicBezTo>
                  <a:pt x="62307" y="-7144"/>
                  <a:pt x="60454" y="-6005"/>
                  <a:pt x="59539" y="-4219"/>
                </a:cubicBezTo>
                <a:lnTo>
                  <a:pt x="43108" y="27972"/>
                </a:lnTo>
                <a:lnTo>
                  <a:pt x="7412" y="33643"/>
                </a:lnTo>
                <a:cubicBezTo>
                  <a:pt x="5425" y="33955"/>
                  <a:pt x="3773" y="35362"/>
                  <a:pt x="3148" y="37281"/>
                </a:cubicBezTo>
                <a:cubicBezTo>
                  <a:pt x="2523" y="39201"/>
                  <a:pt x="3036" y="41300"/>
                  <a:pt x="4443" y="42729"/>
                </a:cubicBezTo>
                <a:lnTo>
                  <a:pt x="29981" y="68290"/>
                </a:lnTo>
                <a:lnTo>
                  <a:pt x="24356" y="103986"/>
                </a:lnTo>
                <a:cubicBezTo>
                  <a:pt x="24043" y="105973"/>
                  <a:pt x="24869" y="107982"/>
                  <a:pt x="26499" y="109165"/>
                </a:cubicBezTo>
                <a:cubicBezTo>
                  <a:pt x="28129" y="110349"/>
                  <a:pt x="30272" y="110527"/>
                  <a:pt x="32080" y="109612"/>
                </a:cubicBezTo>
                <a:lnTo>
                  <a:pt x="64316" y="93226"/>
                </a:lnTo>
                <a:lnTo>
                  <a:pt x="96530" y="109612"/>
                </a:lnTo>
                <a:cubicBezTo>
                  <a:pt x="98316" y="110527"/>
                  <a:pt x="100481" y="110349"/>
                  <a:pt x="102111" y="109165"/>
                </a:cubicBezTo>
                <a:cubicBezTo>
                  <a:pt x="103741" y="107982"/>
                  <a:pt x="104567" y="105995"/>
                  <a:pt x="104254" y="103986"/>
                </a:cubicBezTo>
                <a:lnTo>
                  <a:pt x="98606" y="68290"/>
                </a:lnTo>
                <a:lnTo>
                  <a:pt x="124145" y="42729"/>
                </a:lnTo>
                <a:cubicBezTo>
                  <a:pt x="125574" y="41300"/>
                  <a:pt x="126065" y="39201"/>
                  <a:pt x="125440" y="37281"/>
                </a:cubicBezTo>
                <a:cubicBezTo>
                  <a:pt x="124815" y="35362"/>
                  <a:pt x="123185" y="33955"/>
                  <a:pt x="121176" y="33643"/>
                </a:cubicBezTo>
                <a:lnTo>
                  <a:pt x="85502" y="27972"/>
                </a:lnTo>
                <a:lnTo>
                  <a:pt x="69093" y="-4219"/>
                </a:ln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657975" y="2762250"/>
            <a:ext cx="95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Shawn Sooley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657975" y="2952750"/>
            <a:ext cx="9429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Shield Group CEO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357938" y="3271838"/>
            <a:ext cx="5286375" cy="695325"/>
          </a:xfrm>
          <a:custGeom>
            <a:avLst/>
            <a:gdLst/>
            <a:ahLst/>
            <a:cxnLst/>
            <a:rect l="l" t="t" r="r" b="b"/>
            <a:pathLst>
              <a:path w="5286375" h="695325">
                <a:moveTo>
                  <a:pt x="38097" y="0"/>
                </a:moveTo>
                <a:lnTo>
                  <a:pt x="5248278" y="0"/>
                </a:lnTo>
                <a:cubicBezTo>
                  <a:pt x="5269304" y="0"/>
                  <a:pt x="5286375" y="17071"/>
                  <a:pt x="5286375" y="38097"/>
                </a:cubicBezTo>
                <a:lnTo>
                  <a:pt x="5286375" y="657228"/>
                </a:lnTo>
                <a:cubicBezTo>
                  <a:pt x="5286375" y="678254"/>
                  <a:pt x="5269304" y="695325"/>
                  <a:pt x="5248278" y="695325"/>
                </a:cubicBezTo>
                <a:lnTo>
                  <a:pt x="38097" y="695325"/>
                </a:lnTo>
                <a:cubicBezTo>
                  <a:pt x="17071" y="695325"/>
                  <a:pt x="0" y="678254"/>
                  <a:pt x="0" y="657228"/>
                </a:cubicBezTo>
                <a:lnTo>
                  <a:pt x="0" y="38097"/>
                </a:lnTo>
                <a:cubicBezTo>
                  <a:pt x="0" y="17071"/>
                  <a:pt x="17071" y="0"/>
                  <a:pt x="38097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6438900" y="3352800"/>
            <a:ext cx="5181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4A6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ECOSYSTEM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438900" y="3543300"/>
            <a:ext cx="26003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CME NL</a:t>
            </a:r>
            <a:r>
              <a:rPr lang="en-US" sz="9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1000+ mfg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9020175" y="3543300"/>
            <a:ext cx="26003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NGen</a:t>
            </a:r>
            <a:r>
              <a:rPr lang="en-US" sz="9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National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438900" y="3733800"/>
            <a:ext cx="26003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ERINL</a:t>
            </a:r>
            <a:r>
              <a:rPr lang="en-US" sz="9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$100-500K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9020175" y="3733800"/>
            <a:ext cx="26003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Memorial</a:t>
            </a:r>
            <a:r>
              <a:rPr lang="en-US" sz="9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$17.5M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6196013" y="4291013"/>
            <a:ext cx="5610225" cy="1419225"/>
          </a:xfrm>
          <a:custGeom>
            <a:avLst/>
            <a:gdLst/>
            <a:ahLst/>
            <a:cxnLst/>
            <a:rect l="l" t="t" r="r" b="b"/>
            <a:pathLst>
              <a:path w="5610225" h="1419225">
                <a:moveTo>
                  <a:pt x="76198" y="0"/>
                </a:moveTo>
                <a:lnTo>
                  <a:pt x="5534027" y="0"/>
                </a:lnTo>
                <a:cubicBezTo>
                  <a:pt x="5576110" y="0"/>
                  <a:pt x="5610225" y="34115"/>
                  <a:pt x="5610225" y="76198"/>
                </a:cubicBezTo>
                <a:lnTo>
                  <a:pt x="5610225" y="1343027"/>
                </a:lnTo>
                <a:cubicBezTo>
                  <a:pt x="5610225" y="1385110"/>
                  <a:pt x="5576110" y="1419225"/>
                  <a:pt x="5534027" y="1419225"/>
                </a:cubicBezTo>
                <a:lnTo>
                  <a:pt x="76198" y="1419225"/>
                </a:lnTo>
                <a:cubicBezTo>
                  <a:pt x="34115" y="1419225"/>
                  <a:pt x="0" y="1385110"/>
                  <a:pt x="0" y="1343027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2B2D42">
              <a:alpha val="40000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6353175" y="4448175"/>
            <a:ext cx="5381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Technical Progress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6372225" y="485775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05DF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6596063" y="4848225"/>
            <a:ext cx="9185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 publications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7480618" y="4848225"/>
            <a:ext cx="156257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(carbon &amp; stainless steels)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6372225" y="512445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54173" y="12502"/>
                </a:moveTo>
                <a:cubicBezTo>
                  <a:pt x="54173" y="5602"/>
                  <a:pt x="59775" y="0"/>
                  <a:pt x="66675" y="0"/>
                </a:cubicBezTo>
                <a:cubicBezTo>
                  <a:pt x="73575" y="0"/>
                  <a:pt x="79177" y="5602"/>
                  <a:pt x="79177" y="12502"/>
                </a:cubicBezTo>
                <a:cubicBezTo>
                  <a:pt x="79177" y="19401"/>
                  <a:pt x="73575" y="25003"/>
                  <a:pt x="66675" y="25003"/>
                </a:cubicBezTo>
                <a:cubicBezTo>
                  <a:pt x="59775" y="25003"/>
                  <a:pt x="54173" y="19401"/>
                  <a:pt x="54173" y="12502"/>
                </a:cubicBezTo>
                <a:close/>
                <a:moveTo>
                  <a:pt x="54173" y="120848"/>
                </a:moveTo>
                <a:cubicBezTo>
                  <a:pt x="54173" y="113949"/>
                  <a:pt x="59775" y="108347"/>
                  <a:pt x="66675" y="108347"/>
                </a:cubicBezTo>
                <a:cubicBezTo>
                  <a:pt x="73575" y="108347"/>
                  <a:pt x="79177" y="113949"/>
                  <a:pt x="79177" y="120848"/>
                </a:cubicBezTo>
                <a:cubicBezTo>
                  <a:pt x="79177" y="127748"/>
                  <a:pt x="73575" y="133350"/>
                  <a:pt x="66675" y="133350"/>
                </a:cubicBezTo>
                <a:cubicBezTo>
                  <a:pt x="59775" y="133350"/>
                  <a:pt x="54173" y="127748"/>
                  <a:pt x="54173" y="120848"/>
                </a:cubicBezTo>
                <a:close/>
                <a:moveTo>
                  <a:pt x="12502" y="54173"/>
                </a:moveTo>
                <a:cubicBezTo>
                  <a:pt x="19401" y="54173"/>
                  <a:pt x="25003" y="59775"/>
                  <a:pt x="25003" y="66675"/>
                </a:cubicBezTo>
                <a:cubicBezTo>
                  <a:pt x="25003" y="73575"/>
                  <a:pt x="19401" y="79177"/>
                  <a:pt x="12502" y="79177"/>
                </a:cubicBezTo>
                <a:cubicBezTo>
                  <a:pt x="5602" y="79177"/>
                  <a:pt x="0" y="73575"/>
                  <a:pt x="0" y="66675"/>
                </a:cubicBezTo>
                <a:cubicBezTo>
                  <a:pt x="0" y="59775"/>
                  <a:pt x="5602" y="54173"/>
                  <a:pt x="12502" y="54173"/>
                </a:cubicBezTo>
                <a:close/>
                <a:moveTo>
                  <a:pt x="108347" y="66675"/>
                </a:moveTo>
                <a:cubicBezTo>
                  <a:pt x="108347" y="59775"/>
                  <a:pt x="113949" y="54173"/>
                  <a:pt x="120848" y="54173"/>
                </a:cubicBezTo>
                <a:cubicBezTo>
                  <a:pt x="127748" y="54173"/>
                  <a:pt x="133350" y="59775"/>
                  <a:pt x="133350" y="66675"/>
                </a:cubicBezTo>
                <a:cubicBezTo>
                  <a:pt x="133350" y="73575"/>
                  <a:pt x="127748" y="79177"/>
                  <a:pt x="120848" y="79177"/>
                </a:cubicBezTo>
                <a:cubicBezTo>
                  <a:pt x="113949" y="79177"/>
                  <a:pt x="108347" y="73575"/>
                  <a:pt x="108347" y="66675"/>
                </a:cubicBezTo>
                <a:close/>
                <a:moveTo>
                  <a:pt x="19534" y="96132"/>
                </a:moveTo>
                <a:cubicBezTo>
                  <a:pt x="24414" y="91252"/>
                  <a:pt x="32338" y="91252"/>
                  <a:pt x="37218" y="96132"/>
                </a:cubicBezTo>
                <a:cubicBezTo>
                  <a:pt x="42098" y="101012"/>
                  <a:pt x="42098" y="108936"/>
                  <a:pt x="37218" y="113816"/>
                </a:cubicBezTo>
                <a:cubicBezTo>
                  <a:pt x="32338" y="118696"/>
                  <a:pt x="24414" y="118696"/>
                  <a:pt x="19534" y="113816"/>
                </a:cubicBezTo>
                <a:cubicBezTo>
                  <a:pt x="14654" y="108936"/>
                  <a:pt x="14654" y="101012"/>
                  <a:pt x="19534" y="96132"/>
                </a:cubicBezTo>
                <a:close/>
                <a:moveTo>
                  <a:pt x="19534" y="19534"/>
                </a:moveTo>
                <a:cubicBezTo>
                  <a:pt x="24414" y="14654"/>
                  <a:pt x="32338" y="14654"/>
                  <a:pt x="37218" y="19534"/>
                </a:cubicBezTo>
                <a:cubicBezTo>
                  <a:pt x="42098" y="24414"/>
                  <a:pt x="42098" y="32338"/>
                  <a:pt x="37218" y="37218"/>
                </a:cubicBezTo>
                <a:cubicBezTo>
                  <a:pt x="32338" y="42098"/>
                  <a:pt x="24414" y="42098"/>
                  <a:pt x="19534" y="37218"/>
                </a:cubicBezTo>
                <a:cubicBezTo>
                  <a:pt x="14654" y="32338"/>
                  <a:pt x="14654" y="24414"/>
                  <a:pt x="19534" y="19534"/>
                </a:cubicBezTo>
                <a:close/>
                <a:moveTo>
                  <a:pt x="113816" y="96132"/>
                </a:moveTo>
                <a:cubicBezTo>
                  <a:pt x="118700" y="101015"/>
                  <a:pt x="118700" y="108933"/>
                  <a:pt x="113816" y="113816"/>
                </a:cubicBezTo>
                <a:cubicBezTo>
                  <a:pt x="108933" y="118700"/>
                  <a:pt x="101015" y="118700"/>
                  <a:pt x="96132" y="113816"/>
                </a:cubicBezTo>
                <a:cubicBezTo>
                  <a:pt x="91248" y="108933"/>
                  <a:pt x="91248" y="101015"/>
                  <a:pt x="96132" y="96132"/>
                </a:cubicBezTo>
                <a:cubicBezTo>
                  <a:pt x="101015" y="91248"/>
                  <a:pt x="108933" y="91248"/>
                  <a:pt x="113816" y="96132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6596063" y="5114925"/>
            <a:ext cx="113696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 Martensitic SS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7699057" y="5114925"/>
            <a:ext cx="105029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(in development)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6372225" y="539115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0"/>
                </a:moveTo>
                <a:cubicBezTo>
                  <a:pt x="103474" y="0"/>
                  <a:pt x="133350" y="29876"/>
                  <a:pt x="133350" y="66675"/>
                </a:cubicBezTo>
                <a:cubicBezTo>
                  <a:pt x="133350" y="103474"/>
                  <a:pt x="103474" y="133350"/>
                  <a:pt x="66675" y="133350"/>
                </a:cubicBezTo>
                <a:cubicBezTo>
                  <a:pt x="29876" y="133350"/>
                  <a:pt x="0" y="103474"/>
                  <a:pt x="0" y="66675"/>
                </a:cubicBezTo>
                <a:cubicBezTo>
                  <a:pt x="0" y="29876"/>
                  <a:pt x="29876" y="0"/>
                  <a:pt x="66675" y="0"/>
                </a:cubicBezTo>
                <a:close/>
                <a:moveTo>
                  <a:pt x="60424" y="31254"/>
                </a:moveTo>
                <a:lnTo>
                  <a:pt x="60424" y="66675"/>
                </a:lnTo>
                <a:cubicBezTo>
                  <a:pt x="60424" y="68759"/>
                  <a:pt x="61466" y="70712"/>
                  <a:pt x="63211" y="71884"/>
                </a:cubicBezTo>
                <a:lnTo>
                  <a:pt x="88214" y="88553"/>
                </a:lnTo>
                <a:cubicBezTo>
                  <a:pt x="91079" y="90480"/>
                  <a:pt x="94960" y="89699"/>
                  <a:pt x="96887" y="86808"/>
                </a:cubicBezTo>
                <a:cubicBezTo>
                  <a:pt x="98814" y="83917"/>
                  <a:pt x="98033" y="80062"/>
                  <a:pt x="95142" y="78135"/>
                </a:cubicBezTo>
                <a:lnTo>
                  <a:pt x="72926" y="63341"/>
                </a:lnTo>
                <a:lnTo>
                  <a:pt x="72926" y="31254"/>
                </a:lnTo>
                <a:cubicBezTo>
                  <a:pt x="72926" y="27790"/>
                  <a:pt x="70139" y="25003"/>
                  <a:pt x="66675" y="25003"/>
                </a:cubicBezTo>
                <a:cubicBezTo>
                  <a:pt x="63211" y="25003"/>
                  <a:pt x="60424" y="27790"/>
                  <a:pt x="60424" y="31254"/>
                </a:cubicBezTo>
                <a:close/>
              </a:path>
            </a:pathLst>
          </a:custGeom>
          <a:solidFill>
            <a:srgbClr val="8D99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6596063" y="5381625"/>
            <a:ext cx="129047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Non-ferrous &amp; PEEK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7852569" y="5381625"/>
            <a:ext cx="98123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(future pipeline)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6196013" y="5872163"/>
            <a:ext cx="5610225" cy="428625"/>
          </a:xfrm>
          <a:custGeom>
            <a:avLst/>
            <a:gdLst/>
            <a:ahLst/>
            <a:cxnLst/>
            <a:rect l="l" t="t" r="r" b="b"/>
            <a:pathLst>
              <a:path w="5610225" h="428625">
                <a:moveTo>
                  <a:pt x="76201" y="0"/>
                </a:moveTo>
                <a:lnTo>
                  <a:pt x="5534024" y="0"/>
                </a:lnTo>
                <a:cubicBezTo>
                  <a:pt x="5576109" y="0"/>
                  <a:pt x="5610225" y="34116"/>
                  <a:pt x="5610225" y="76201"/>
                </a:cubicBezTo>
                <a:lnTo>
                  <a:pt x="5610225" y="352424"/>
                </a:lnTo>
                <a:cubicBezTo>
                  <a:pt x="5610225" y="394509"/>
                  <a:pt x="5576109" y="428625"/>
                  <a:pt x="5534024" y="428625"/>
                </a:cubicBezTo>
                <a:lnTo>
                  <a:pt x="76201" y="428625"/>
                </a:lnTo>
                <a:cubicBezTo>
                  <a:pt x="34116" y="428625"/>
                  <a:pt x="0" y="394509"/>
                  <a:pt x="0" y="35242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12700">
            <a:solidFill>
              <a:srgbClr val="4A6C8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6315075" y="5991225"/>
            <a:ext cx="5438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Current Support:</a:t>
            </a: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Emera ideaHUB, CleanTech Commons, Lab2Market Oceans, Dalhousie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0578" y="370578"/>
            <a:ext cx="11515696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b="1" kern="0" spc="5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Team &amp; Advisors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70578" y="629982"/>
            <a:ext cx="11617605" cy="370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26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World-Class Material Science + Industry Insiders + Ecosystem Access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75210" y="1153422"/>
            <a:ext cx="5623514" cy="2936827"/>
          </a:xfrm>
          <a:custGeom>
            <a:avLst/>
            <a:gdLst/>
            <a:ahLst/>
            <a:cxnLst/>
            <a:rect l="l" t="t" r="r" b="b"/>
            <a:pathLst>
              <a:path w="5623514" h="2936827">
                <a:moveTo>
                  <a:pt x="74126" y="0"/>
                </a:moveTo>
                <a:lnTo>
                  <a:pt x="5549388" y="0"/>
                </a:lnTo>
                <a:cubicBezTo>
                  <a:pt x="5590327" y="0"/>
                  <a:pt x="5623514" y="33187"/>
                  <a:pt x="5623514" y="74126"/>
                </a:cubicBezTo>
                <a:lnTo>
                  <a:pt x="5623514" y="2862701"/>
                </a:lnTo>
                <a:cubicBezTo>
                  <a:pt x="5623514" y="2903640"/>
                  <a:pt x="5590327" y="2936827"/>
                  <a:pt x="5549388" y="2936827"/>
                </a:cubicBezTo>
                <a:lnTo>
                  <a:pt x="74126" y="2936827"/>
                </a:lnTo>
                <a:cubicBezTo>
                  <a:pt x="33187" y="2936827"/>
                  <a:pt x="0" y="2903640"/>
                  <a:pt x="0" y="2862701"/>
                </a:cubicBezTo>
                <a:lnTo>
                  <a:pt x="0" y="74126"/>
                </a:lnTo>
                <a:cubicBezTo>
                  <a:pt x="0" y="33215"/>
                  <a:pt x="33215" y="0"/>
                  <a:pt x="74126" y="0"/>
                </a:cubicBezTo>
                <a:close/>
              </a:path>
            </a:pathLst>
          </a:custGeom>
          <a:solidFill>
            <a:srgbClr val="2B2D42">
              <a:alpha val="40000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28073" y="1343343"/>
            <a:ext cx="231611" cy="185289"/>
          </a:xfrm>
          <a:custGeom>
            <a:avLst/>
            <a:gdLst/>
            <a:ahLst/>
            <a:cxnLst/>
            <a:rect l="l" t="t" r="r" b="b"/>
            <a:pathLst>
              <a:path w="231611" h="185289">
                <a:moveTo>
                  <a:pt x="115805" y="5790"/>
                </a:moveTo>
                <a:cubicBezTo>
                  <a:pt x="136578" y="5790"/>
                  <a:pt x="153442" y="22655"/>
                  <a:pt x="153442" y="43427"/>
                </a:cubicBezTo>
                <a:cubicBezTo>
                  <a:pt x="153442" y="64199"/>
                  <a:pt x="136578" y="81064"/>
                  <a:pt x="115805" y="81064"/>
                </a:cubicBezTo>
                <a:cubicBezTo>
                  <a:pt x="95033" y="81064"/>
                  <a:pt x="78169" y="64199"/>
                  <a:pt x="78169" y="43427"/>
                </a:cubicBezTo>
                <a:cubicBezTo>
                  <a:pt x="78169" y="22655"/>
                  <a:pt x="95033" y="5790"/>
                  <a:pt x="115805" y="5790"/>
                </a:cubicBezTo>
                <a:close/>
                <a:moveTo>
                  <a:pt x="34742" y="31847"/>
                </a:moveTo>
                <a:cubicBezTo>
                  <a:pt x="49122" y="31847"/>
                  <a:pt x="60798" y="43522"/>
                  <a:pt x="60798" y="57903"/>
                </a:cubicBezTo>
                <a:cubicBezTo>
                  <a:pt x="60798" y="72284"/>
                  <a:pt x="49122" y="83959"/>
                  <a:pt x="34742" y="83959"/>
                </a:cubicBezTo>
                <a:cubicBezTo>
                  <a:pt x="20361" y="83959"/>
                  <a:pt x="8685" y="72284"/>
                  <a:pt x="8685" y="57903"/>
                </a:cubicBezTo>
                <a:cubicBezTo>
                  <a:pt x="8685" y="43522"/>
                  <a:pt x="20361" y="31847"/>
                  <a:pt x="34742" y="31847"/>
                </a:cubicBezTo>
                <a:close/>
                <a:moveTo>
                  <a:pt x="0" y="150547"/>
                </a:moveTo>
                <a:cubicBezTo>
                  <a:pt x="0" y="124961"/>
                  <a:pt x="20736" y="104225"/>
                  <a:pt x="46322" y="104225"/>
                </a:cubicBezTo>
                <a:cubicBezTo>
                  <a:pt x="50954" y="104225"/>
                  <a:pt x="55442" y="104913"/>
                  <a:pt x="59676" y="106179"/>
                </a:cubicBezTo>
                <a:cubicBezTo>
                  <a:pt x="47770" y="119497"/>
                  <a:pt x="40532" y="137085"/>
                  <a:pt x="40532" y="156337"/>
                </a:cubicBezTo>
                <a:lnTo>
                  <a:pt x="40532" y="162128"/>
                </a:lnTo>
                <a:cubicBezTo>
                  <a:pt x="40532" y="166253"/>
                  <a:pt x="41400" y="170162"/>
                  <a:pt x="42957" y="173708"/>
                </a:cubicBezTo>
                <a:lnTo>
                  <a:pt x="11581" y="173708"/>
                </a:lnTo>
                <a:cubicBezTo>
                  <a:pt x="5175" y="173708"/>
                  <a:pt x="0" y="168533"/>
                  <a:pt x="0" y="162128"/>
                </a:cubicBezTo>
                <a:lnTo>
                  <a:pt x="0" y="150547"/>
                </a:lnTo>
                <a:close/>
                <a:moveTo>
                  <a:pt x="188654" y="173708"/>
                </a:moveTo>
                <a:cubicBezTo>
                  <a:pt x="190210" y="170162"/>
                  <a:pt x="191079" y="166253"/>
                  <a:pt x="191079" y="162128"/>
                </a:cubicBezTo>
                <a:lnTo>
                  <a:pt x="191079" y="156337"/>
                </a:lnTo>
                <a:cubicBezTo>
                  <a:pt x="191079" y="137085"/>
                  <a:pt x="183841" y="119497"/>
                  <a:pt x="171935" y="106179"/>
                </a:cubicBezTo>
                <a:cubicBezTo>
                  <a:pt x="176169" y="104913"/>
                  <a:pt x="180657" y="104225"/>
                  <a:pt x="185289" y="104225"/>
                </a:cubicBezTo>
                <a:cubicBezTo>
                  <a:pt x="210875" y="104225"/>
                  <a:pt x="231611" y="124961"/>
                  <a:pt x="231611" y="150547"/>
                </a:cubicBezTo>
                <a:lnTo>
                  <a:pt x="231611" y="162128"/>
                </a:lnTo>
                <a:cubicBezTo>
                  <a:pt x="231611" y="168533"/>
                  <a:pt x="226436" y="173708"/>
                  <a:pt x="220030" y="173708"/>
                </a:cubicBezTo>
                <a:lnTo>
                  <a:pt x="188654" y="173708"/>
                </a:lnTo>
                <a:close/>
                <a:moveTo>
                  <a:pt x="170813" y="57903"/>
                </a:moveTo>
                <a:cubicBezTo>
                  <a:pt x="170813" y="43522"/>
                  <a:pt x="182488" y="31847"/>
                  <a:pt x="196869" y="31847"/>
                </a:cubicBezTo>
                <a:cubicBezTo>
                  <a:pt x="211250" y="31847"/>
                  <a:pt x="222926" y="43522"/>
                  <a:pt x="222926" y="57903"/>
                </a:cubicBezTo>
                <a:cubicBezTo>
                  <a:pt x="222926" y="72284"/>
                  <a:pt x="211250" y="83959"/>
                  <a:pt x="196869" y="83959"/>
                </a:cubicBezTo>
                <a:cubicBezTo>
                  <a:pt x="182488" y="83959"/>
                  <a:pt x="170813" y="72284"/>
                  <a:pt x="170813" y="57903"/>
                </a:cubicBezTo>
                <a:close/>
                <a:moveTo>
                  <a:pt x="57903" y="156337"/>
                </a:moveTo>
                <a:cubicBezTo>
                  <a:pt x="57903" y="124346"/>
                  <a:pt x="83814" y="98435"/>
                  <a:pt x="115805" y="98435"/>
                </a:cubicBezTo>
                <a:cubicBezTo>
                  <a:pt x="147797" y="98435"/>
                  <a:pt x="173708" y="124346"/>
                  <a:pt x="173708" y="156337"/>
                </a:cubicBezTo>
                <a:lnTo>
                  <a:pt x="173708" y="162128"/>
                </a:lnTo>
                <a:cubicBezTo>
                  <a:pt x="173708" y="168533"/>
                  <a:pt x="168533" y="173708"/>
                  <a:pt x="162128" y="173708"/>
                </a:cubicBezTo>
                <a:lnTo>
                  <a:pt x="69483" y="173708"/>
                </a:lnTo>
                <a:cubicBezTo>
                  <a:pt x="63078" y="173708"/>
                  <a:pt x="57903" y="168533"/>
                  <a:pt x="57903" y="162128"/>
                </a:cubicBezTo>
                <a:lnTo>
                  <a:pt x="57903" y="156337"/>
                </a:ln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59684" y="1306286"/>
            <a:ext cx="5178821" cy="2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9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Founders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28073" y="1676863"/>
            <a:ext cx="5317787" cy="1074675"/>
          </a:xfrm>
          <a:custGeom>
            <a:avLst/>
            <a:gdLst/>
            <a:ahLst/>
            <a:cxnLst/>
            <a:rect l="l" t="t" r="r" b="b"/>
            <a:pathLst>
              <a:path w="5317787" h="1074675">
                <a:moveTo>
                  <a:pt x="37055" y="0"/>
                </a:moveTo>
                <a:lnTo>
                  <a:pt x="5280732" y="0"/>
                </a:lnTo>
                <a:cubicBezTo>
                  <a:pt x="5301197" y="0"/>
                  <a:pt x="5317787" y="16590"/>
                  <a:pt x="5317787" y="37055"/>
                </a:cubicBezTo>
                <a:lnTo>
                  <a:pt x="5317787" y="1037620"/>
                </a:lnTo>
                <a:cubicBezTo>
                  <a:pt x="5317787" y="1058085"/>
                  <a:pt x="5301197" y="1074675"/>
                  <a:pt x="5280732" y="1074675"/>
                </a:cubicBezTo>
                <a:lnTo>
                  <a:pt x="37055" y="1074675"/>
                </a:lnTo>
                <a:cubicBezTo>
                  <a:pt x="16590" y="1074675"/>
                  <a:pt x="0" y="1058085"/>
                  <a:pt x="0" y="1037620"/>
                </a:cubicBezTo>
                <a:lnTo>
                  <a:pt x="0" y="37055"/>
                </a:lnTo>
                <a:cubicBezTo>
                  <a:pt x="0" y="16604"/>
                  <a:pt x="16604" y="0"/>
                  <a:pt x="37055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39246" y="1788036"/>
            <a:ext cx="444693" cy="444693"/>
          </a:xfrm>
          <a:custGeom>
            <a:avLst/>
            <a:gdLst/>
            <a:ahLst/>
            <a:cxnLst/>
            <a:rect l="l" t="t" r="r" b="b"/>
            <a:pathLst>
              <a:path w="444693" h="444693">
                <a:moveTo>
                  <a:pt x="222347" y="0"/>
                </a:moveTo>
                <a:lnTo>
                  <a:pt x="222347" y="0"/>
                </a:lnTo>
                <a:cubicBezTo>
                  <a:pt x="345145" y="0"/>
                  <a:pt x="444693" y="99548"/>
                  <a:pt x="444693" y="222347"/>
                </a:cubicBezTo>
                <a:lnTo>
                  <a:pt x="444693" y="222347"/>
                </a:lnTo>
                <a:cubicBezTo>
                  <a:pt x="444693" y="345145"/>
                  <a:pt x="345145" y="444693"/>
                  <a:pt x="222347" y="444693"/>
                </a:cubicBezTo>
                <a:lnTo>
                  <a:pt x="222347" y="444693"/>
                </a:lnTo>
                <a:cubicBezTo>
                  <a:pt x="99548" y="444693"/>
                  <a:pt x="0" y="345145"/>
                  <a:pt x="0" y="222347"/>
                </a:cubicBezTo>
                <a:lnTo>
                  <a:pt x="0" y="222347"/>
                </a:lnTo>
                <a:cubicBezTo>
                  <a:pt x="0" y="99548"/>
                  <a:pt x="99548" y="0"/>
                  <a:pt x="222347" y="0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97556" y="1788036"/>
            <a:ext cx="528073" cy="444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13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95112" y="1788036"/>
            <a:ext cx="4613690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Alireza Vahedi Nemani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95112" y="2010383"/>
            <a:ext cx="4595161" cy="148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5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Co-founder &amp; CEO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95112" y="2195672"/>
            <a:ext cx="4595161" cy="148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PhD Candidate, Materials Engineering, Dalhousie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195112" y="2418018"/>
            <a:ext cx="815271" cy="222347"/>
          </a:xfrm>
          <a:custGeom>
            <a:avLst/>
            <a:gdLst/>
            <a:ahLst/>
            <a:cxnLst/>
            <a:rect l="l" t="t" r="r" b="b"/>
            <a:pathLst>
              <a:path w="815271" h="222347">
                <a:moveTo>
                  <a:pt x="37058" y="0"/>
                </a:moveTo>
                <a:lnTo>
                  <a:pt x="778212" y="0"/>
                </a:lnTo>
                <a:cubicBezTo>
                  <a:pt x="798679" y="0"/>
                  <a:pt x="815271" y="16592"/>
                  <a:pt x="815271" y="37058"/>
                </a:cubicBezTo>
                <a:lnTo>
                  <a:pt x="815271" y="185288"/>
                </a:lnTo>
                <a:cubicBezTo>
                  <a:pt x="815271" y="205755"/>
                  <a:pt x="798679" y="222347"/>
                  <a:pt x="778212" y="222347"/>
                </a:cubicBezTo>
                <a:lnTo>
                  <a:pt x="37058" y="222347"/>
                </a:lnTo>
                <a:cubicBezTo>
                  <a:pt x="16605" y="222347"/>
                  <a:pt x="0" y="205741"/>
                  <a:pt x="0" y="185288"/>
                </a:cubicBezTo>
                <a:lnTo>
                  <a:pt x="0" y="37058"/>
                </a:lnTo>
                <a:cubicBezTo>
                  <a:pt x="0" y="16605"/>
                  <a:pt x="16605" y="0"/>
                  <a:pt x="37058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195112" y="2418018"/>
            <a:ext cx="870857" cy="222347"/>
          </a:xfrm>
          <a:prstGeom prst="rect">
            <a:avLst/>
          </a:prstGeom>
          <a:noFill/>
          <a:ln/>
        </p:spPr>
        <p:txBody>
          <a:bodyPr wrap="square" lIns="74116" tIns="37058" rIns="74116" bIns="37058" rtlCol="0" anchor="ctr"/>
          <a:lstStyle/>
          <a:p>
            <a:pPr>
              <a:lnSpc>
                <a:spcPct val="110000"/>
              </a:lnSpc>
            </a:pPr>
            <a:r>
              <a:rPr lang="en-US" sz="875" dirty="0">
                <a:solidFill>
                  <a:srgbClr val="4A6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 Publications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083726" y="2418018"/>
            <a:ext cx="713362" cy="222347"/>
          </a:xfrm>
          <a:custGeom>
            <a:avLst/>
            <a:gdLst/>
            <a:ahLst/>
            <a:cxnLst/>
            <a:rect l="l" t="t" r="r" b="b"/>
            <a:pathLst>
              <a:path w="713362" h="222347">
                <a:moveTo>
                  <a:pt x="37058" y="0"/>
                </a:moveTo>
                <a:lnTo>
                  <a:pt x="676303" y="0"/>
                </a:lnTo>
                <a:cubicBezTo>
                  <a:pt x="696770" y="0"/>
                  <a:pt x="713362" y="16592"/>
                  <a:pt x="713362" y="37058"/>
                </a:cubicBezTo>
                <a:lnTo>
                  <a:pt x="713362" y="185288"/>
                </a:lnTo>
                <a:cubicBezTo>
                  <a:pt x="713362" y="205755"/>
                  <a:pt x="696770" y="222347"/>
                  <a:pt x="676303" y="222347"/>
                </a:cubicBezTo>
                <a:lnTo>
                  <a:pt x="37058" y="222347"/>
                </a:lnTo>
                <a:cubicBezTo>
                  <a:pt x="16605" y="222347"/>
                  <a:pt x="0" y="205741"/>
                  <a:pt x="0" y="185288"/>
                </a:cubicBezTo>
                <a:lnTo>
                  <a:pt x="0" y="37058"/>
                </a:lnTo>
                <a:cubicBezTo>
                  <a:pt x="0" y="16605"/>
                  <a:pt x="16605" y="0"/>
                  <a:pt x="37058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083726" y="2418018"/>
            <a:ext cx="768948" cy="222347"/>
          </a:xfrm>
          <a:prstGeom prst="rect">
            <a:avLst/>
          </a:prstGeom>
          <a:noFill/>
          <a:ln/>
        </p:spPr>
        <p:txBody>
          <a:bodyPr wrap="square" lIns="74116" tIns="37058" rIns="74116" bIns="37058" rtlCol="0" anchor="ctr"/>
          <a:lstStyle/>
          <a:p>
            <a:pPr>
              <a:lnSpc>
                <a:spcPct val="110000"/>
              </a:lnSpc>
            </a:pPr>
            <a:r>
              <a:rPr lang="en-US" sz="875" dirty="0">
                <a:solidFill>
                  <a:srgbClr val="4A6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LPBF Expert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28073" y="2862711"/>
            <a:ext cx="5317787" cy="1074675"/>
          </a:xfrm>
          <a:custGeom>
            <a:avLst/>
            <a:gdLst/>
            <a:ahLst/>
            <a:cxnLst/>
            <a:rect l="l" t="t" r="r" b="b"/>
            <a:pathLst>
              <a:path w="5317787" h="1074675">
                <a:moveTo>
                  <a:pt x="37055" y="0"/>
                </a:moveTo>
                <a:lnTo>
                  <a:pt x="5280732" y="0"/>
                </a:lnTo>
                <a:cubicBezTo>
                  <a:pt x="5301197" y="0"/>
                  <a:pt x="5317787" y="16590"/>
                  <a:pt x="5317787" y="37055"/>
                </a:cubicBezTo>
                <a:lnTo>
                  <a:pt x="5317787" y="1037620"/>
                </a:lnTo>
                <a:cubicBezTo>
                  <a:pt x="5317787" y="1058085"/>
                  <a:pt x="5301197" y="1074675"/>
                  <a:pt x="5280732" y="1074675"/>
                </a:cubicBezTo>
                <a:lnTo>
                  <a:pt x="37055" y="1074675"/>
                </a:lnTo>
                <a:cubicBezTo>
                  <a:pt x="16590" y="1074675"/>
                  <a:pt x="0" y="1058085"/>
                  <a:pt x="0" y="1037620"/>
                </a:cubicBezTo>
                <a:lnTo>
                  <a:pt x="0" y="37055"/>
                </a:lnTo>
                <a:cubicBezTo>
                  <a:pt x="0" y="16604"/>
                  <a:pt x="16604" y="0"/>
                  <a:pt x="37055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39246" y="2973884"/>
            <a:ext cx="444693" cy="444693"/>
          </a:xfrm>
          <a:custGeom>
            <a:avLst/>
            <a:gdLst/>
            <a:ahLst/>
            <a:cxnLst/>
            <a:rect l="l" t="t" r="r" b="b"/>
            <a:pathLst>
              <a:path w="444693" h="444693">
                <a:moveTo>
                  <a:pt x="222347" y="0"/>
                </a:moveTo>
                <a:lnTo>
                  <a:pt x="222347" y="0"/>
                </a:lnTo>
                <a:cubicBezTo>
                  <a:pt x="345145" y="0"/>
                  <a:pt x="444693" y="99548"/>
                  <a:pt x="444693" y="222347"/>
                </a:cubicBezTo>
                <a:lnTo>
                  <a:pt x="444693" y="222347"/>
                </a:lnTo>
                <a:cubicBezTo>
                  <a:pt x="444693" y="345145"/>
                  <a:pt x="345145" y="444693"/>
                  <a:pt x="222347" y="444693"/>
                </a:cubicBezTo>
                <a:lnTo>
                  <a:pt x="222347" y="444693"/>
                </a:lnTo>
                <a:cubicBezTo>
                  <a:pt x="99548" y="444693"/>
                  <a:pt x="0" y="345145"/>
                  <a:pt x="0" y="222347"/>
                </a:cubicBezTo>
                <a:lnTo>
                  <a:pt x="0" y="222347"/>
                </a:lnTo>
                <a:cubicBezTo>
                  <a:pt x="0" y="99548"/>
                  <a:pt x="99548" y="0"/>
                  <a:pt x="222347" y="0"/>
                </a:cubicBezTo>
                <a:close/>
              </a:path>
            </a:pathLst>
          </a:custGeom>
          <a:solidFill>
            <a:srgbClr val="8D99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97556" y="2973884"/>
            <a:ext cx="528073" cy="444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13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MG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95112" y="2973884"/>
            <a:ext cx="4613690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Mahya Ghaffari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95112" y="3196231"/>
            <a:ext cx="4595161" cy="148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5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Co-founder &amp; CTO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95112" y="3381520"/>
            <a:ext cx="4595161" cy="148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PhD Candidate, Materials Engineering, Dalhousie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195112" y="3603866"/>
            <a:ext cx="815271" cy="222347"/>
          </a:xfrm>
          <a:custGeom>
            <a:avLst/>
            <a:gdLst/>
            <a:ahLst/>
            <a:cxnLst/>
            <a:rect l="l" t="t" r="r" b="b"/>
            <a:pathLst>
              <a:path w="815271" h="222347">
                <a:moveTo>
                  <a:pt x="37058" y="0"/>
                </a:moveTo>
                <a:lnTo>
                  <a:pt x="778212" y="0"/>
                </a:lnTo>
                <a:cubicBezTo>
                  <a:pt x="798679" y="0"/>
                  <a:pt x="815271" y="16592"/>
                  <a:pt x="815271" y="37058"/>
                </a:cubicBezTo>
                <a:lnTo>
                  <a:pt x="815271" y="185288"/>
                </a:lnTo>
                <a:cubicBezTo>
                  <a:pt x="815271" y="205755"/>
                  <a:pt x="798679" y="222347"/>
                  <a:pt x="778212" y="222347"/>
                </a:cubicBezTo>
                <a:lnTo>
                  <a:pt x="37058" y="222347"/>
                </a:lnTo>
                <a:cubicBezTo>
                  <a:pt x="16605" y="222347"/>
                  <a:pt x="0" y="205741"/>
                  <a:pt x="0" y="185288"/>
                </a:cubicBezTo>
                <a:lnTo>
                  <a:pt x="0" y="37058"/>
                </a:lnTo>
                <a:cubicBezTo>
                  <a:pt x="0" y="16605"/>
                  <a:pt x="16605" y="0"/>
                  <a:pt x="37058" y="0"/>
                </a:cubicBezTo>
                <a:close/>
              </a:path>
            </a:pathLst>
          </a:custGeom>
          <a:solidFill>
            <a:srgbClr val="8D99AE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195112" y="3603866"/>
            <a:ext cx="870857" cy="222347"/>
          </a:xfrm>
          <a:prstGeom prst="rect">
            <a:avLst/>
          </a:prstGeom>
          <a:noFill/>
          <a:ln/>
        </p:spPr>
        <p:txBody>
          <a:bodyPr wrap="square" lIns="74116" tIns="37058" rIns="74116" bIns="37058" rtlCol="0" anchor="ctr"/>
          <a:lstStyle/>
          <a:p>
            <a:pPr>
              <a:lnSpc>
                <a:spcPct val="110000"/>
              </a:lnSpc>
            </a:pPr>
            <a:r>
              <a:rPr lang="en-US" sz="87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 Publications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2083726" y="3603866"/>
            <a:ext cx="778213" cy="222347"/>
          </a:xfrm>
          <a:custGeom>
            <a:avLst/>
            <a:gdLst/>
            <a:ahLst/>
            <a:cxnLst/>
            <a:rect l="l" t="t" r="r" b="b"/>
            <a:pathLst>
              <a:path w="778213" h="222347">
                <a:moveTo>
                  <a:pt x="37058" y="0"/>
                </a:moveTo>
                <a:lnTo>
                  <a:pt x="741154" y="0"/>
                </a:lnTo>
                <a:cubicBezTo>
                  <a:pt x="761621" y="0"/>
                  <a:pt x="778213" y="16592"/>
                  <a:pt x="778213" y="37058"/>
                </a:cubicBezTo>
                <a:lnTo>
                  <a:pt x="778213" y="185288"/>
                </a:lnTo>
                <a:cubicBezTo>
                  <a:pt x="778213" y="205755"/>
                  <a:pt x="761621" y="222347"/>
                  <a:pt x="741154" y="222347"/>
                </a:cubicBezTo>
                <a:lnTo>
                  <a:pt x="37058" y="222347"/>
                </a:lnTo>
                <a:cubicBezTo>
                  <a:pt x="16605" y="222347"/>
                  <a:pt x="0" y="205741"/>
                  <a:pt x="0" y="185288"/>
                </a:cubicBezTo>
                <a:lnTo>
                  <a:pt x="0" y="37058"/>
                </a:lnTo>
                <a:cubicBezTo>
                  <a:pt x="0" y="16605"/>
                  <a:pt x="16605" y="0"/>
                  <a:pt x="37058" y="0"/>
                </a:cubicBezTo>
                <a:close/>
              </a:path>
            </a:pathLst>
          </a:custGeom>
          <a:solidFill>
            <a:srgbClr val="8D99AE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083726" y="3603866"/>
            <a:ext cx="833799" cy="222347"/>
          </a:xfrm>
          <a:prstGeom prst="rect">
            <a:avLst/>
          </a:prstGeom>
          <a:noFill/>
          <a:ln/>
        </p:spPr>
        <p:txBody>
          <a:bodyPr wrap="square" lIns="74116" tIns="37058" rIns="74116" bIns="37058" rtlCol="0" anchor="ctr"/>
          <a:lstStyle/>
          <a:p>
            <a:pPr>
              <a:lnSpc>
                <a:spcPct val="110000"/>
              </a:lnSpc>
            </a:pPr>
            <a:r>
              <a:rPr lang="en-US" sz="87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QA Protocols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75210" y="4247745"/>
            <a:ext cx="5623514" cy="2603307"/>
          </a:xfrm>
          <a:custGeom>
            <a:avLst/>
            <a:gdLst/>
            <a:ahLst/>
            <a:cxnLst/>
            <a:rect l="l" t="t" r="r" b="b"/>
            <a:pathLst>
              <a:path w="5623514" h="2603307">
                <a:moveTo>
                  <a:pt x="74116" y="0"/>
                </a:moveTo>
                <a:lnTo>
                  <a:pt x="5549398" y="0"/>
                </a:lnTo>
                <a:cubicBezTo>
                  <a:pt x="5590331" y="0"/>
                  <a:pt x="5623514" y="33183"/>
                  <a:pt x="5623514" y="74116"/>
                </a:cubicBezTo>
                <a:lnTo>
                  <a:pt x="5623514" y="2529191"/>
                </a:lnTo>
                <a:cubicBezTo>
                  <a:pt x="5623514" y="2570124"/>
                  <a:pt x="5590331" y="2603307"/>
                  <a:pt x="5549398" y="2603307"/>
                </a:cubicBezTo>
                <a:lnTo>
                  <a:pt x="74116" y="2603307"/>
                </a:lnTo>
                <a:cubicBezTo>
                  <a:pt x="33183" y="2603307"/>
                  <a:pt x="0" y="2570124"/>
                  <a:pt x="0" y="2529191"/>
                </a:cubicBezTo>
                <a:lnTo>
                  <a:pt x="0" y="74116"/>
                </a:lnTo>
                <a:cubicBezTo>
                  <a:pt x="0" y="33210"/>
                  <a:pt x="33210" y="0"/>
                  <a:pt x="74116" y="0"/>
                </a:cubicBezTo>
                <a:close/>
              </a:path>
            </a:pathLst>
          </a:custGeom>
          <a:solidFill>
            <a:srgbClr val="2B2D42">
              <a:alpha val="40000"/>
            </a:srgbClr>
          </a:solidFill>
          <a:ln w="12700">
            <a:solidFill>
              <a:srgbClr val="E07A5F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28073" y="4400608"/>
            <a:ext cx="5401167" cy="2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3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Advisors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28073" y="4771185"/>
            <a:ext cx="5317787" cy="926444"/>
          </a:xfrm>
          <a:custGeom>
            <a:avLst/>
            <a:gdLst/>
            <a:ahLst/>
            <a:cxnLst/>
            <a:rect l="l" t="t" r="r" b="b"/>
            <a:pathLst>
              <a:path w="5317787" h="926444">
                <a:moveTo>
                  <a:pt x="37058" y="0"/>
                </a:moveTo>
                <a:lnTo>
                  <a:pt x="5280729" y="0"/>
                </a:lnTo>
                <a:cubicBezTo>
                  <a:pt x="5301196" y="0"/>
                  <a:pt x="5317787" y="16591"/>
                  <a:pt x="5317787" y="37058"/>
                </a:cubicBezTo>
                <a:lnTo>
                  <a:pt x="5317787" y="889386"/>
                </a:lnTo>
                <a:cubicBezTo>
                  <a:pt x="5317787" y="909852"/>
                  <a:pt x="5301196" y="926444"/>
                  <a:pt x="5280729" y="926444"/>
                </a:cubicBezTo>
                <a:lnTo>
                  <a:pt x="37058" y="926444"/>
                </a:lnTo>
                <a:cubicBezTo>
                  <a:pt x="16591" y="926444"/>
                  <a:pt x="0" y="909852"/>
                  <a:pt x="0" y="889386"/>
                </a:cubicBezTo>
                <a:lnTo>
                  <a:pt x="0" y="37058"/>
                </a:lnTo>
                <a:cubicBezTo>
                  <a:pt x="0" y="16591"/>
                  <a:pt x="16591" y="0"/>
                  <a:pt x="37058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39246" y="4882359"/>
            <a:ext cx="5169556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Dr. Ali Nasiri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39246" y="5104705"/>
            <a:ext cx="5151027" cy="148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5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Technical Advisor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39246" y="5252936"/>
            <a:ext cx="5151027" cy="148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Canada Research Chair, Ocean Engineering, Dalhousie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39246" y="5438225"/>
            <a:ext cx="5151027" cy="148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5" dirty="0">
                <a:solidFill>
                  <a:srgbClr val="4A6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AM certification expert • Equinor/ExxonMobil connections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8073" y="5771745"/>
            <a:ext cx="5317787" cy="926444"/>
          </a:xfrm>
          <a:custGeom>
            <a:avLst/>
            <a:gdLst/>
            <a:ahLst/>
            <a:cxnLst/>
            <a:rect l="l" t="t" r="r" b="b"/>
            <a:pathLst>
              <a:path w="5317787" h="926444">
                <a:moveTo>
                  <a:pt x="37058" y="0"/>
                </a:moveTo>
                <a:lnTo>
                  <a:pt x="5280729" y="0"/>
                </a:lnTo>
                <a:cubicBezTo>
                  <a:pt x="5301196" y="0"/>
                  <a:pt x="5317787" y="16591"/>
                  <a:pt x="5317787" y="37058"/>
                </a:cubicBezTo>
                <a:lnTo>
                  <a:pt x="5317787" y="889386"/>
                </a:lnTo>
                <a:cubicBezTo>
                  <a:pt x="5317787" y="909852"/>
                  <a:pt x="5301196" y="926444"/>
                  <a:pt x="5280729" y="926444"/>
                </a:cubicBezTo>
                <a:lnTo>
                  <a:pt x="37058" y="926444"/>
                </a:lnTo>
                <a:cubicBezTo>
                  <a:pt x="16591" y="926444"/>
                  <a:pt x="0" y="909852"/>
                  <a:pt x="0" y="889386"/>
                </a:cubicBezTo>
                <a:lnTo>
                  <a:pt x="0" y="37058"/>
                </a:lnTo>
                <a:cubicBezTo>
                  <a:pt x="0" y="16591"/>
                  <a:pt x="16591" y="0"/>
                  <a:pt x="37058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39246" y="5882918"/>
            <a:ext cx="5169556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Harsimran Malhi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39246" y="6105264"/>
            <a:ext cx="5151027" cy="148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5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Business Advisor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39246" y="6253495"/>
            <a:ext cx="5151027" cy="148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 years O&amp;G • MBA, Oxford Saïd Business School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39246" y="6438784"/>
            <a:ext cx="5151027" cy="148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5" dirty="0">
                <a:solidFill>
                  <a:srgbClr val="4A6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Industry credibility • Deal structuring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191269" y="1153422"/>
            <a:ext cx="5623514" cy="2844182"/>
          </a:xfrm>
          <a:custGeom>
            <a:avLst/>
            <a:gdLst/>
            <a:ahLst/>
            <a:cxnLst/>
            <a:rect l="l" t="t" r="r" b="b"/>
            <a:pathLst>
              <a:path w="5623514" h="2844182">
                <a:moveTo>
                  <a:pt x="74119" y="0"/>
                </a:moveTo>
                <a:lnTo>
                  <a:pt x="5549394" y="0"/>
                </a:lnTo>
                <a:cubicBezTo>
                  <a:pt x="5590329" y="0"/>
                  <a:pt x="5623514" y="33184"/>
                  <a:pt x="5623514" y="74119"/>
                </a:cubicBezTo>
                <a:lnTo>
                  <a:pt x="5623514" y="2770063"/>
                </a:lnTo>
                <a:cubicBezTo>
                  <a:pt x="5623514" y="2810998"/>
                  <a:pt x="5590329" y="2844182"/>
                  <a:pt x="5549394" y="2844182"/>
                </a:cubicBezTo>
                <a:lnTo>
                  <a:pt x="74119" y="2844182"/>
                </a:lnTo>
                <a:cubicBezTo>
                  <a:pt x="33184" y="2844182"/>
                  <a:pt x="0" y="2810998"/>
                  <a:pt x="0" y="2770063"/>
                </a:cubicBezTo>
                <a:lnTo>
                  <a:pt x="0" y="74119"/>
                </a:lnTo>
                <a:cubicBezTo>
                  <a:pt x="0" y="33212"/>
                  <a:pt x="33212" y="0"/>
                  <a:pt x="74119" y="0"/>
                </a:cubicBezTo>
                <a:close/>
              </a:path>
            </a:pathLst>
          </a:custGeom>
          <a:solidFill>
            <a:srgbClr val="2B2D42">
              <a:alpha val="40000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344132" y="1306286"/>
            <a:ext cx="5401167" cy="2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3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Strategic Partners (In Discussion)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348765" y="1681495"/>
            <a:ext cx="5308523" cy="787477"/>
          </a:xfrm>
          <a:custGeom>
            <a:avLst/>
            <a:gdLst/>
            <a:ahLst/>
            <a:cxnLst/>
            <a:rect l="l" t="t" r="r" b="b"/>
            <a:pathLst>
              <a:path w="5308523" h="787477">
                <a:moveTo>
                  <a:pt x="37059" y="0"/>
                </a:moveTo>
                <a:lnTo>
                  <a:pt x="5271464" y="0"/>
                </a:lnTo>
                <a:cubicBezTo>
                  <a:pt x="5291931" y="0"/>
                  <a:pt x="5308523" y="16592"/>
                  <a:pt x="5308523" y="37059"/>
                </a:cubicBezTo>
                <a:lnTo>
                  <a:pt x="5308523" y="750419"/>
                </a:lnTo>
                <a:cubicBezTo>
                  <a:pt x="5308523" y="770885"/>
                  <a:pt x="5291931" y="787477"/>
                  <a:pt x="5271464" y="787477"/>
                </a:cubicBezTo>
                <a:lnTo>
                  <a:pt x="37059" y="787477"/>
                </a:lnTo>
                <a:cubicBezTo>
                  <a:pt x="16592" y="787477"/>
                  <a:pt x="0" y="770885"/>
                  <a:pt x="0" y="750419"/>
                </a:cubicBezTo>
                <a:lnTo>
                  <a:pt x="0" y="37059"/>
                </a:lnTo>
                <a:cubicBezTo>
                  <a:pt x="0" y="16605"/>
                  <a:pt x="16605" y="0"/>
                  <a:pt x="37059" y="0"/>
                </a:cubicBezTo>
                <a:close/>
              </a:path>
            </a:pathLst>
          </a:custGeom>
          <a:solidFill>
            <a:srgbClr val="E07A5F">
              <a:alpha val="10196"/>
            </a:srgbClr>
          </a:solidFill>
          <a:ln w="12700">
            <a:solidFill>
              <a:srgbClr val="E07A5F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464570" y="1797301"/>
            <a:ext cx="5151027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Shawn Sooley — Shield Group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464570" y="2019647"/>
            <a:ext cx="5132498" cy="148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CEO, active AM practitioner • Multi-sector exposure • Class society expertise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464570" y="2204936"/>
            <a:ext cx="5132498" cy="148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5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"They're never going to do certification. I WILL do that."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348765" y="2552353"/>
            <a:ext cx="5308523" cy="602188"/>
          </a:xfrm>
          <a:custGeom>
            <a:avLst/>
            <a:gdLst/>
            <a:ahLst/>
            <a:cxnLst/>
            <a:rect l="l" t="t" r="r" b="b"/>
            <a:pathLst>
              <a:path w="5308523" h="602188">
                <a:moveTo>
                  <a:pt x="37059" y="0"/>
                </a:moveTo>
                <a:lnTo>
                  <a:pt x="5271464" y="0"/>
                </a:lnTo>
                <a:cubicBezTo>
                  <a:pt x="5291931" y="0"/>
                  <a:pt x="5308523" y="16592"/>
                  <a:pt x="5308523" y="37059"/>
                </a:cubicBezTo>
                <a:lnTo>
                  <a:pt x="5308523" y="565130"/>
                </a:lnTo>
                <a:cubicBezTo>
                  <a:pt x="5308523" y="585597"/>
                  <a:pt x="5291931" y="602188"/>
                  <a:pt x="5271464" y="602188"/>
                </a:cubicBezTo>
                <a:lnTo>
                  <a:pt x="37059" y="602188"/>
                </a:lnTo>
                <a:cubicBezTo>
                  <a:pt x="16592" y="602188"/>
                  <a:pt x="0" y="585597"/>
                  <a:pt x="0" y="565130"/>
                </a:cubicBezTo>
                <a:lnTo>
                  <a:pt x="0" y="37059"/>
                </a:lnTo>
                <a:cubicBezTo>
                  <a:pt x="0" y="16605"/>
                  <a:pt x="16605" y="0"/>
                  <a:pt x="37059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464570" y="2668158"/>
            <a:ext cx="5151027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Adam Chubbs — Engineered Intelligence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464570" y="2890505"/>
            <a:ext cx="5132498" cy="148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CEO, AI asset intelligence • Utilities &amp; Arctic expertise • Digital twin integration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348765" y="3237921"/>
            <a:ext cx="5308523" cy="602188"/>
          </a:xfrm>
          <a:custGeom>
            <a:avLst/>
            <a:gdLst/>
            <a:ahLst/>
            <a:cxnLst/>
            <a:rect l="l" t="t" r="r" b="b"/>
            <a:pathLst>
              <a:path w="5308523" h="602188">
                <a:moveTo>
                  <a:pt x="37059" y="0"/>
                </a:moveTo>
                <a:lnTo>
                  <a:pt x="5271464" y="0"/>
                </a:lnTo>
                <a:cubicBezTo>
                  <a:pt x="5291931" y="0"/>
                  <a:pt x="5308523" y="16592"/>
                  <a:pt x="5308523" y="37059"/>
                </a:cubicBezTo>
                <a:lnTo>
                  <a:pt x="5308523" y="565130"/>
                </a:lnTo>
                <a:cubicBezTo>
                  <a:pt x="5308523" y="585597"/>
                  <a:pt x="5291931" y="602188"/>
                  <a:pt x="5271464" y="602188"/>
                </a:cubicBezTo>
                <a:lnTo>
                  <a:pt x="37059" y="602188"/>
                </a:lnTo>
                <a:cubicBezTo>
                  <a:pt x="16592" y="602188"/>
                  <a:pt x="0" y="585597"/>
                  <a:pt x="0" y="565130"/>
                </a:cubicBezTo>
                <a:lnTo>
                  <a:pt x="0" y="37059"/>
                </a:lnTo>
                <a:cubicBezTo>
                  <a:pt x="0" y="16605"/>
                  <a:pt x="16605" y="0"/>
                  <a:pt x="37059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6464570" y="3353726"/>
            <a:ext cx="5151027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C-CORE / Memorial SMART Lab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464570" y="3576073"/>
            <a:ext cx="5132498" cy="148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Testing infrastructure • $17.5M ExxonMobil investment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191269" y="4155100"/>
            <a:ext cx="5623514" cy="1380401"/>
          </a:xfrm>
          <a:custGeom>
            <a:avLst/>
            <a:gdLst/>
            <a:ahLst/>
            <a:cxnLst/>
            <a:rect l="l" t="t" r="r" b="b"/>
            <a:pathLst>
              <a:path w="5623514" h="1380401">
                <a:moveTo>
                  <a:pt x="74114" y="0"/>
                </a:moveTo>
                <a:lnTo>
                  <a:pt x="5549400" y="0"/>
                </a:lnTo>
                <a:cubicBezTo>
                  <a:pt x="5590332" y="0"/>
                  <a:pt x="5623514" y="33182"/>
                  <a:pt x="5623514" y="74114"/>
                </a:cubicBezTo>
                <a:lnTo>
                  <a:pt x="5623514" y="1306287"/>
                </a:lnTo>
                <a:cubicBezTo>
                  <a:pt x="5623514" y="1347219"/>
                  <a:pt x="5590332" y="1380401"/>
                  <a:pt x="5549400" y="1380401"/>
                </a:cubicBezTo>
                <a:lnTo>
                  <a:pt x="74114" y="1380401"/>
                </a:lnTo>
                <a:cubicBezTo>
                  <a:pt x="33182" y="1380401"/>
                  <a:pt x="0" y="1347219"/>
                  <a:pt x="0" y="1306287"/>
                </a:cubicBezTo>
                <a:lnTo>
                  <a:pt x="0" y="74114"/>
                </a:lnTo>
                <a:cubicBezTo>
                  <a:pt x="0" y="33209"/>
                  <a:pt x="33209" y="0"/>
                  <a:pt x="74114" y="0"/>
                </a:cubicBezTo>
                <a:close/>
              </a:path>
            </a:pathLst>
          </a:custGeom>
          <a:solidFill>
            <a:srgbClr val="2B2D42">
              <a:alpha val="40000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6344132" y="4307964"/>
            <a:ext cx="5401167" cy="2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3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This Team Wins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362661" y="4706334"/>
            <a:ext cx="129702" cy="129702"/>
          </a:xfrm>
          <a:custGeom>
            <a:avLst/>
            <a:gdLst/>
            <a:ahLst/>
            <a:cxnLst/>
            <a:rect l="l" t="t" r="r" b="b"/>
            <a:pathLst>
              <a:path w="129702" h="129702">
                <a:moveTo>
                  <a:pt x="64851" y="129702"/>
                </a:moveTo>
                <a:cubicBezTo>
                  <a:pt x="100643" y="129702"/>
                  <a:pt x="129702" y="100643"/>
                  <a:pt x="129702" y="64851"/>
                </a:cubicBezTo>
                <a:cubicBezTo>
                  <a:pt x="129702" y="29059"/>
                  <a:pt x="100643" y="0"/>
                  <a:pt x="64851" y="0"/>
                </a:cubicBezTo>
                <a:cubicBezTo>
                  <a:pt x="29059" y="0"/>
                  <a:pt x="0" y="29059"/>
                  <a:pt x="0" y="64851"/>
                </a:cubicBezTo>
                <a:cubicBezTo>
                  <a:pt x="0" y="100643"/>
                  <a:pt x="29059" y="129702"/>
                  <a:pt x="64851" y="129702"/>
                </a:cubicBezTo>
                <a:close/>
                <a:moveTo>
                  <a:pt x="86232" y="53882"/>
                </a:moveTo>
                <a:lnTo>
                  <a:pt x="65966" y="86308"/>
                </a:lnTo>
                <a:cubicBezTo>
                  <a:pt x="64902" y="88005"/>
                  <a:pt x="63078" y="89069"/>
                  <a:pt x="61077" y="89170"/>
                </a:cubicBezTo>
                <a:cubicBezTo>
                  <a:pt x="59075" y="89272"/>
                  <a:pt x="57150" y="88360"/>
                  <a:pt x="55959" y="86738"/>
                </a:cubicBezTo>
                <a:lnTo>
                  <a:pt x="43800" y="70526"/>
                </a:lnTo>
                <a:cubicBezTo>
                  <a:pt x="41773" y="67840"/>
                  <a:pt x="42331" y="64040"/>
                  <a:pt x="45016" y="62014"/>
                </a:cubicBezTo>
                <a:cubicBezTo>
                  <a:pt x="47701" y="59987"/>
                  <a:pt x="51501" y="60545"/>
                  <a:pt x="53527" y="63230"/>
                </a:cubicBezTo>
                <a:lnTo>
                  <a:pt x="60367" y="72349"/>
                </a:lnTo>
                <a:lnTo>
                  <a:pt x="75921" y="47448"/>
                </a:lnTo>
                <a:cubicBezTo>
                  <a:pt x="77695" y="44610"/>
                  <a:pt x="81444" y="43724"/>
                  <a:pt x="84306" y="45522"/>
                </a:cubicBezTo>
                <a:cubicBezTo>
                  <a:pt x="87169" y="47321"/>
                  <a:pt x="88030" y="51045"/>
                  <a:pt x="86232" y="53907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6580376" y="4678541"/>
            <a:ext cx="1473046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Deep Technical Expertise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9057686" y="4706334"/>
            <a:ext cx="129702" cy="129702"/>
          </a:xfrm>
          <a:custGeom>
            <a:avLst/>
            <a:gdLst/>
            <a:ahLst/>
            <a:cxnLst/>
            <a:rect l="l" t="t" r="r" b="b"/>
            <a:pathLst>
              <a:path w="129702" h="129702">
                <a:moveTo>
                  <a:pt x="64851" y="129702"/>
                </a:moveTo>
                <a:cubicBezTo>
                  <a:pt x="100643" y="129702"/>
                  <a:pt x="129702" y="100643"/>
                  <a:pt x="129702" y="64851"/>
                </a:cubicBezTo>
                <a:cubicBezTo>
                  <a:pt x="129702" y="29059"/>
                  <a:pt x="100643" y="0"/>
                  <a:pt x="64851" y="0"/>
                </a:cubicBezTo>
                <a:cubicBezTo>
                  <a:pt x="29059" y="0"/>
                  <a:pt x="0" y="29059"/>
                  <a:pt x="0" y="64851"/>
                </a:cubicBezTo>
                <a:cubicBezTo>
                  <a:pt x="0" y="100643"/>
                  <a:pt x="29059" y="129702"/>
                  <a:pt x="64851" y="129702"/>
                </a:cubicBezTo>
                <a:close/>
                <a:moveTo>
                  <a:pt x="86232" y="53882"/>
                </a:moveTo>
                <a:lnTo>
                  <a:pt x="65966" y="86308"/>
                </a:lnTo>
                <a:cubicBezTo>
                  <a:pt x="64902" y="88005"/>
                  <a:pt x="63078" y="89069"/>
                  <a:pt x="61077" y="89170"/>
                </a:cubicBezTo>
                <a:cubicBezTo>
                  <a:pt x="59075" y="89272"/>
                  <a:pt x="57150" y="88360"/>
                  <a:pt x="55959" y="86738"/>
                </a:cubicBezTo>
                <a:lnTo>
                  <a:pt x="43800" y="70526"/>
                </a:lnTo>
                <a:cubicBezTo>
                  <a:pt x="41773" y="67840"/>
                  <a:pt x="42331" y="64040"/>
                  <a:pt x="45016" y="62014"/>
                </a:cubicBezTo>
                <a:cubicBezTo>
                  <a:pt x="47701" y="59987"/>
                  <a:pt x="51501" y="60545"/>
                  <a:pt x="53527" y="63230"/>
                </a:cubicBezTo>
                <a:lnTo>
                  <a:pt x="60367" y="72349"/>
                </a:lnTo>
                <a:lnTo>
                  <a:pt x="75921" y="47448"/>
                </a:lnTo>
                <a:cubicBezTo>
                  <a:pt x="77695" y="44610"/>
                  <a:pt x="81444" y="43724"/>
                  <a:pt x="84306" y="45522"/>
                </a:cubicBezTo>
                <a:cubicBezTo>
                  <a:pt x="87169" y="47321"/>
                  <a:pt x="88030" y="51045"/>
                  <a:pt x="86232" y="53907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9275401" y="4678541"/>
            <a:ext cx="1120997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Industry Validation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6362661" y="4965739"/>
            <a:ext cx="129702" cy="129702"/>
          </a:xfrm>
          <a:custGeom>
            <a:avLst/>
            <a:gdLst/>
            <a:ahLst/>
            <a:cxnLst/>
            <a:rect l="l" t="t" r="r" b="b"/>
            <a:pathLst>
              <a:path w="129702" h="129702">
                <a:moveTo>
                  <a:pt x="64851" y="129702"/>
                </a:moveTo>
                <a:cubicBezTo>
                  <a:pt x="100643" y="129702"/>
                  <a:pt x="129702" y="100643"/>
                  <a:pt x="129702" y="64851"/>
                </a:cubicBezTo>
                <a:cubicBezTo>
                  <a:pt x="129702" y="29059"/>
                  <a:pt x="100643" y="0"/>
                  <a:pt x="64851" y="0"/>
                </a:cubicBezTo>
                <a:cubicBezTo>
                  <a:pt x="29059" y="0"/>
                  <a:pt x="0" y="29059"/>
                  <a:pt x="0" y="64851"/>
                </a:cubicBezTo>
                <a:cubicBezTo>
                  <a:pt x="0" y="100643"/>
                  <a:pt x="29059" y="129702"/>
                  <a:pt x="64851" y="129702"/>
                </a:cubicBezTo>
                <a:close/>
                <a:moveTo>
                  <a:pt x="86232" y="53882"/>
                </a:moveTo>
                <a:lnTo>
                  <a:pt x="65966" y="86308"/>
                </a:lnTo>
                <a:cubicBezTo>
                  <a:pt x="64902" y="88005"/>
                  <a:pt x="63078" y="89069"/>
                  <a:pt x="61077" y="89170"/>
                </a:cubicBezTo>
                <a:cubicBezTo>
                  <a:pt x="59075" y="89272"/>
                  <a:pt x="57150" y="88360"/>
                  <a:pt x="55959" y="86738"/>
                </a:cubicBezTo>
                <a:lnTo>
                  <a:pt x="43800" y="70526"/>
                </a:lnTo>
                <a:cubicBezTo>
                  <a:pt x="41773" y="67840"/>
                  <a:pt x="42331" y="64040"/>
                  <a:pt x="45016" y="62014"/>
                </a:cubicBezTo>
                <a:cubicBezTo>
                  <a:pt x="47701" y="59987"/>
                  <a:pt x="51501" y="60545"/>
                  <a:pt x="53527" y="63230"/>
                </a:cubicBezTo>
                <a:lnTo>
                  <a:pt x="60367" y="72349"/>
                </a:lnTo>
                <a:lnTo>
                  <a:pt x="75921" y="47448"/>
                </a:lnTo>
                <a:cubicBezTo>
                  <a:pt x="77695" y="44610"/>
                  <a:pt x="81444" y="43724"/>
                  <a:pt x="84306" y="45522"/>
                </a:cubicBezTo>
                <a:cubicBezTo>
                  <a:pt x="87169" y="47321"/>
                  <a:pt x="88030" y="51045"/>
                  <a:pt x="86232" y="53907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6580376" y="4937945"/>
            <a:ext cx="1315550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Ecosystem Embedded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9057686" y="4965739"/>
            <a:ext cx="129702" cy="129702"/>
          </a:xfrm>
          <a:custGeom>
            <a:avLst/>
            <a:gdLst/>
            <a:ahLst/>
            <a:cxnLst/>
            <a:rect l="l" t="t" r="r" b="b"/>
            <a:pathLst>
              <a:path w="129702" h="129702">
                <a:moveTo>
                  <a:pt x="64851" y="129702"/>
                </a:moveTo>
                <a:cubicBezTo>
                  <a:pt x="100643" y="129702"/>
                  <a:pt x="129702" y="100643"/>
                  <a:pt x="129702" y="64851"/>
                </a:cubicBezTo>
                <a:cubicBezTo>
                  <a:pt x="129702" y="29059"/>
                  <a:pt x="100643" y="0"/>
                  <a:pt x="64851" y="0"/>
                </a:cubicBezTo>
                <a:cubicBezTo>
                  <a:pt x="29059" y="0"/>
                  <a:pt x="0" y="29059"/>
                  <a:pt x="0" y="64851"/>
                </a:cubicBezTo>
                <a:cubicBezTo>
                  <a:pt x="0" y="100643"/>
                  <a:pt x="29059" y="129702"/>
                  <a:pt x="64851" y="129702"/>
                </a:cubicBezTo>
                <a:close/>
                <a:moveTo>
                  <a:pt x="86232" y="53882"/>
                </a:moveTo>
                <a:lnTo>
                  <a:pt x="65966" y="86308"/>
                </a:lnTo>
                <a:cubicBezTo>
                  <a:pt x="64902" y="88005"/>
                  <a:pt x="63078" y="89069"/>
                  <a:pt x="61077" y="89170"/>
                </a:cubicBezTo>
                <a:cubicBezTo>
                  <a:pt x="59075" y="89272"/>
                  <a:pt x="57150" y="88360"/>
                  <a:pt x="55959" y="86738"/>
                </a:cubicBezTo>
                <a:lnTo>
                  <a:pt x="43800" y="70526"/>
                </a:lnTo>
                <a:cubicBezTo>
                  <a:pt x="41773" y="67840"/>
                  <a:pt x="42331" y="64040"/>
                  <a:pt x="45016" y="62014"/>
                </a:cubicBezTo>
                <a:cubicBezTo>
                  <a:pt x="47701" y="59987"/>
                  <a:pt x="51501" y="60545"/>
                  <a:pt x="53527" y="63230"/>
                </a:cubicBezTo>
                <a:lnTo>
                  <a:pt x="60367" y="72349"/>
                </a:lnTo>
                <a:lnTo>
                  <a:pt x="75921" y="47448"/>
                </a:lnTo>
                <a:cubicBezTo>
                  <a:pt x="77695" y="44610"/>
                  <a:pt x="81444" y="43724"/>
                  <a:pt x="84306" y="45522"/>
                </a:cubicBezTo>
                <a:cubicBezTo>
                  <a:pt x="87169" y="47321"/>
                  <a:pt x="88030" y="51045"/>
                  <a:pt x="86232" y="53907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9275401" y="4937945"/>
            <a:ext cx="1278492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Strategic Partnerships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6362661" y="5225143"/>
            <a:ext cx="129702" cy="129702"/>
          </a:xfrm>
          <a:custGeom>
            <a:avLst/>
            <a:gdLst/>
            <a:ahLst/>
            <a:cxnLst/>
            <a:rect l="l" t="t" r="r" b="b"/>
            <a:pathLst>
              <a:path w="129702" h="129702">
                <a:moveTo>
                  <a:pt x="64851" y="129702"/>
                </a:moveTo>
                <a:cubicBezTo>
                  <a:pt x="100643" y="129702"/>
                  <a:pt x="129702" y="100643"/>
                  <a:pt x="129702" y="64851"/>
                </a:cubicBezTo>
                <a:cubicBezTo>
                  <a:pt x="129702" y="29059"/>
                  <a:pt x="100643" y="0"/>
                  <a:pt x="64851" y="0"/>
                </a:cubicBezTo>
                <a:cubicBezTo>
                  <a:pt x="29059" y="0"/>
                  <a:pt x="0" y="29059"/>
                  <a:pt x="0" y="64851"/>
                </a:cubicBezTo>
                <a:cubicBezTo>
                  <a:pt x="0" y="100643"/>
                  <a:pt x="29059" y="129702"/>
                  <a:pt x="64851" y="129702"/>
                </a:cubicBezTo>
                <a:close/>
                <a:moveTo>
                  <a:pt x="86232" y="53882"/>
                </a:moveTo>
                <a:lnTo>
                  <a:pt x="65966" y="86308"/>
                </a:lnTo>
                <a:cubicBezTo>
                  <a:pt x="64902" y="88005"/>
                  <a:pt x="63078" y="89069"/>
                  <a:pt x="61077" y="89170"/>
                </a:cubicBezTo>
                <a:cubicBezTo>
                  <a:pt x="59075" y="89272"/>
                  <a:pt x="57150" y="88360"/>
                  <a:pt x="55959" y="86738"/>
                </a:cubicBezTo>
                <a:lnTo>
                  <a:pt x="43800" y="70526"/>
                </a:lnTo>
                <a:cubicBezTo>
                  <a:pt x="41773" y="67840"/>
                  <a:pt x="42331" y="64040"/>
                  <a:pt x="45016" y="62014"/>
                </a:cubicBezTo>
                <a:cubicBezTo>
                  <a:pt x="47701" y="59987"/>
                  <a:pt x="51501" y="60545"/>
                  <a:pt x="53527" y="63230"/>
                </a:cubicBezTo>
                <a:lnTo>
                  <a:pt x="60367" y="72349"/>
                </a:lnTo>
                <a:lnTo>
                  <a:pt x="75921" y="47448"/>
                </a:lnTo>
                <a:cubicBezTo>
                  <a:pt x="77695" y="44610"/>
                  <a:pt x="81444" y="43724"/>
                  <a:pt x="84306" y="45522"/>
                </a:cubicBezTo>
                <a:cubicBezTo>
                  <a:pt x="87169" y="47321"/>
                  <a:pt x="88030" y="51045"/>
                  <a:pt x="86232" y="53907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6580376" y="5197350"/>
            <a:ext cx="1037617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Customer Access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6191269" y="5692997"/>
            <a:ext cx="5623514" cy="416900"/>
          </a:xfrm>
          <a:custGeom>
            <a:avLst/>
            <a:gdLst/>
            <a:ahLst/>
            <a:cxnLst/>
            <a:rect l="l" t="t" r="r" b="b"/>
            <a:pathLst>
              <a:path w="5623514" h="416900">
                <a:moveTo>
                  <a:pt x="74116" y="0"/>
                </a:moveTo>
                <a:lnTo>
                  <a:pt x="5549397" y="0"/>
                </a:lnTo>
                <a:cubicBezTo>
                  <a:pt x="5590331" y="0"/>
                  <a:pt x="5623514" y="33183"/>
                  <a:pt x="5623514" y="74116"/>
                </a:cubicBezTo>
                <a:lnTo>
                  <a:pt x="5623514" y="342783"/>
                </a:lnTo>
                <a:cubicBezTo>
                  <a:pt x="5623514" y="383717"/>
                  <a:pt x="5590331" y="416900"/>
                  <a:pt x="5549397" y="416900"/>
                </a:cubicBezTo>
                <a:lnTo>
                  <a:pt x="74116" y="416900"/>
                </a:lnTo>
                <a:cubicBezTo>
                  <a:pt x="33183" y="416900"/>
                  <a:pt x="0" y="383717"/>
                  <a:pt x="0" y="342783"/>
                </a:cubicBezTo>
                <a:lnTo>
                  <a:pt x="0" y="74116"/>
                </a:lnTo>
                <a:cubicBezTo>
                  <a:pt x="0" y="33183"/>
                  <a:pt x="33183" y="0"/>
                  <a:pt x="74116" y="0"/>
                </a:cubicBezTo>
                <a:close/>
              </a:path>
            </a:pathLst>
          </a:custGeom>
          <a:solidFill>
            <a:srgbClr val="E07A5F">
              <a:alpha val="10196"/>
            </a:srgbClr>
          </a:solidFill>
          <a:ln w="12700">
            <a:solidFill>
              <a:srgbClr val="E07A5F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6307075" y="5808802"/>
            <a:ext cx="5456754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What We Still Need:</a:t>
            </a:r>
            <a:r>
              <a:rPr lang="en-US" sz="102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Certification Expert (full-time), Operations Lead, Sales/BD Lead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3dnatives.com/8063e97e5f55724f8b3e04c36ae325329cd3051a.jpg"/>
          <p:cNvPicPr>
            <a:picLocks noChangeAspect="1"/>
          </p:cNvPicPr>
          <p:nvPr/>
        </p:nvPicPr>
        <p:blipFill>
          <a:blip r:embed="rId3">
            <a:alphaModFix amt="20000"/>
          </a:blip>
          <a:srcRect t="781" b="781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90000"/>
                </a:srgbClr>
              </a:gs>
              <a:gs pos="100000">
                <a:srgbClr val="1A1D21">
                  <a:alpha val="8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324255" y="324255"/>
            <a:ext cx="11600234" cy="162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4" b="1" kern="0" spc="45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Ask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24255" y="551234"/>
            <a:ext cx="11689404" cy="324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98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We're Raising $2M to Validate Arctic Beachhead → Scale to Oil &amp; Gas + Defense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28309" y="1009245"/>
            <a:ext cx="5115128" cy="2642681"/>
          </a:xfrm>
          <a:custGeom>
            <a:avLst/>
            <a:gdLst/>
            <a:ahLst/>
            <a:cxnLst/>
            <a:rect l="l" t="t" r="r" b="b"/>
            <a:pathLst>
              <a:path w="5115128" h="2642681">
                <a:moveTo>
                  <a:pt x="64851" y="0"/>
                </a:moveTo>
                <a:lnTo>
                  <a:pt x="5050276" y="0"/>
                </a:lnTo>
                <a:cubicBezTo>
                  <a:pt x="5086093" y="0"/>
                  <a:pt x="5115128" y="29035"/>
                  <a:pt x="5115128" y="64851"/>
                </a:cubicBezTo>
                <a:lnTo>
                  <a:pt x="5115128" y="2577829"/>
                </a:lnTo>
                <a:cubicBezTo>
                  <a:pt x="5115128" y="2613646"/>
                  <a:pt x="5086093" y="2642681"/>
                  <a:pt x="5050276" y="2642681"/>
                </a:cubicBezTo>
                <a:lnTo>
                  <a:pt x="64851" y="2642681"/>
                </a:lnTo>
                <a:cubicBezTo>
                  <a:pt x="29035" y="2642681"/>
                  <a:pt x="0" y="2613646"/>
                  <a:pt x="0" y="2577829"/>
                </a:cubicBezTo>
                <a:lnTo>
                  <a:pt x="0" y="64851"/>
                </a:lnTo>
                <a:cubicBezTo>
                  <a:pt x="0" y="29059"/>
                  <a:pt x="29059" y="0"/>
                  <a:pt x="64851" y="0"/>
                </a:cubicBezTo>
                <a:close/>
              </a:path>
            </a:pathLst>
          </a:custGeom>
          <a:solidFill>
            <a:srgbClr val="2B2D42">
              <a:alpha val="60000"/>
            </a:srgbClr>
          </a:solidFill>
          <a:ln w="12700">
            <a:solidFill>
              <a:srgbClr val="4A6C8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62064" y="1143000"/>
            <a:ext cx="4920574" cy="226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9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 of Funds (18-Month Runway)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62064" y="1730713"/>
            <a:ext cx="4847617" cy="8106"/>
          </a:xfrm>
          <a:custGeom>
            <a:avLst/>
            <a:gdLst/>
            <a:ahLst/>
            <a:cxnLst/>
            <a:rect l="l" t="t" r="r" b="b"/>
            <a:pathLst>
              <a:path w="4847617" h="8106">
                <a:moveTo>
                  <a:pt x="0" y="0"/>
                </a:moveTo>
                <a:lnTo>
                  <a:pt x="4847617" y="0"/>
                </a:lnTo>
                <a:lnTo>
                  <a:pt x="4847617" y="8106"/>
                </a:lnTo>
                <a:lnTo>
                  <a:pt x="0" y="8106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70170" y="1532106"/>
            <a:ext cx="145915" cy="129702"/>
          </a:xfrm>
          <a:custGeom>
            <a:avLst/>
            <a:gdLst/>
            <a:ahLst/>
            <a:cxnLst/>
            <a:rect l="l" t="t" r="r" b="b"/>
            <a:pathLst>
              <a:path w="145915" h="129702">
                <a:moveTo>
                  <a:pt x="60595" y="-2027"/>
                </a:moveTo>
                <a:cubicBezTo>
                  <a:pt x="59050" y="-3597"/>
                  <a:pt x="56795" y="-4231"/>
                  <a:pt x="54667" y="-3648"/>
                </a:cubicBezTo>
                <a:cubicBezTo>
                  <a:pt x="52539" y="-3065"/>
                  <a:pt x="50893" y="-1419"/>
                  <a:pt x="50361" y="709"/>
                </a:cubicBezTo>
                <a:lnTo>
                  <a:pt x="46485" y="15959"/>
                </a:lnTo>
                <a:cubicBezTo>
                  <a:pt x="46206" y="17074"/>
                  <a:pt x="45066" y="17733"/>
                  <a:pt x="43977" y="17403"/>
                </a:cubicBezTo>
                <a:lnTo>
                  <a:pt x="28828" y="13148"/>
                </a:lnTo>
                <a:cubicBezTo>
                  <a:pt x="26700" y="12540"/>
                  <a:pt x="24420" y="13148"/>
                  <a:pt x="22875" y="14693"/>
                </a:cubicBezTo>
                <a:cubicBezTo>
                  <a:pt x="21330" y="16238"/>
                  <a:pt x="20722" y="18518"/>
                  <a:pt x="21330" y="20646"/>
                </a:cubicBezTo>
                <a:lnTo>
                  <a:pt x="25611" y="35795"/>
                </a:lnTo>
                <a:cubicBezTo>
                  <a:pt x="25915" y="36884"/>
                  <a:pt x="25256" y="38024"/>
                  <a:pt x="24167" y="38303"/>
                </a:cubicBezTo>
                <a:lnTo>
                  <a:pt x="8892" y="42179"/>
                </a:lnTo>
                <a:cubicBezTo>
                  <a:pt x="6764" y="42711"/>
                  <a:pt x="5092" y="44382"/>
                  <a:pt x="4509" y="46510"/>
                </a:cubicBezTo>
                <a:cubicBezTo>
                  <a:pt x="3927" y="48638"/>
                  <a:pt x="4560" y="50893"/>
                  <a:pt x="6130" y="52438"/>
                </a:cubicBezTo>
                <a:lnTo>
                  <a:pt x="17403" y="63407"/>
                </a:lnTo>
                <a:cubicBezTo>
                  <a:pt x="18214" y="64192"/>
                  <a:pt x="18214" y="65510"/>
                  <a:pt x="17403" y="66320"/>
                </a:cubicBezTo>
                <a:lnTo>
                  <a:pt x="6156" y="77289"/>
                </a:lnTo>
                <a:cubicBezTo>
                  <a:pt x="4585" y="78835"/>
                  <a:pt x="3952" y="81089"/>
                  <a:pt x="4535" y="83217"/>
                </a:cubicBezTo>
                <a:cubicBezTo>
                  <a:pt x="5117" y="85345"/>
                  <a:pt x="6789" y="86992"/>
                  <a:pt x="8917" y="87549"/>
                </a:cubicBezTo>
                <a:lnTo>
                  <a:pt x="24167" y="91425"/>
                </a:lnTo>
                <a:cubicBezTo>
                  <a:pt x="25282" y="91703"/>
                  <a:pt x="25940" y="92843"/>
                  <a:pt x="25611" y="93933"/>
                </a:cubicBezTo>
                <a:lnTo>
                  <a:pt x="21330" y="109056"/>
                </a:lnTo>
                <a:cubicBezTo>
                  <a:pt x="20722" y="111184"/>
                  <a:pt x="21330" y="113464"/>
                  <a:pt x="22875" y="115009"/>
                </a:cubicBezTo>
                <a:cubicBezTo>
                  <a:pt x="24420" y="116555"/>
                  <a:pt x="26700" y="117163"/>
                  <a:pt x="28828" y="116555"/>
                </a:cubicBezTo>
                <a:lnTo>
                  <a:pt x="43977" y="112273"/>
                </a:lnTo>
                <a:cubicBezTo>
                  <a:pt x="45066" y="111969"/>
                  <a:pt x="46206" y="112628"/>
                  <a:pt x="46485" y="113717"/>
                </a:cubicBezTo>
                <a:lnTo>
                  <a:pt x="50361" y="128967"/>
                </a:lnTo>
                <a:cubicBezTo>
                  <a:pt x="50893" y="131095"/>
                  <a:pt x="52565" y="132767"/>
                  <a:pt x="54693" y="133350"/>
                </a:cubicBezTo>
                <a:cubicBezTo>
                  <a:pt x="56821" y="133933"/>
                  <a:pt x="59075" y="133299"/>
                  <a:pt x="60621" y="131729"/>
                </a:cubicBezTo>
                <a:lnTo>
                  <a:pt x="71589" y="120456"/>
                </a:lnTo>
                <a:cubicBezTo>
                  <a:pt x="72375" y="119645"/>
                  <a:pt x="73692" y="119645"/>
                  <a:pt x="74503" y="120456"/>
                </a:cubicBezTo>
                <a:lnTo>
                  <a:pt x="85446" y="131729"/>
                </a:lnTo>
                <a:cubicBezTo>
                  <a:pt x="86992" y="133299"/>
                  <a:pt x="89246" y="133933"/>
                  <a:pt x="91374" y="133350"/>
                </a:cubicBezTo>
                <a:cubicBezTo>
                  <a:pt x="93502" y="132767"/>
                  <a:pt x="95149" y="131095"/>
                  <a:pt x="95706" y="128967"/>
                </a:cubicBezTo>
                <a:lnTo>
                  <a:pt x="99582" y="113743"/>
                </a:lnTo>
                <a:cubicBezTo>
                  <a:pt x="99861" y="112628"/>
                  <a:pt x="101000" y="111969"/>
                  <a:pt x="102090" y="112299"/>
                </a:cubicBezTo>
                <a:lnTo>
                  <a:pt x="117239" y="116580"/>
                </a:lnTo>
                <a:cubicBezTo>
                  <a:pt x="119366" y="117188"/>
                  <a:pt x="121646" y="116580"/>
                  <a:pt x="123192" y="115035"/>
                </a:cubicBezTo>
                <a:cubicBezTo>
                  <a:pt x="124737" y="113489"/>
                  <a:pt x="125345" y="111209"/>
                  <a:pt x="124737" y="109082"/>
                </a:cubicBezTo>
                <a:lnTo>
                  <a:pt x="120456" y="93933"/>
                </a:lnTo>
                <a:cubicBezTo>
                  <a:pt x="120152" y="92843"/>
                  <a:pt x="120810" y="91703"/>
                  <a:pt x="121900" y="91425"/>
                </a:cubicBezTo>
                <a:lnTo>
                  <a:pt x="137150" y="87549"/>
                </a:lnTo>
                <a:cubicBezTo>
                  <a:pt x="139278" y="87017"/>
                  <a:pt x="140950" y="85345"/>
                  <a:pt x="141532" y="83217"/>
                </a:cubicBezTo>
                <a:cubicBezTo>
                  <a:pt x="142115" y="81089"/>
                  <a:pt x="141482" y="78809"/>
                  <a:pt x="139911" y="77289"/>
                </a:cubicBezTo>
                <a:lnTo>
                  <a:pt x="128638" y="66320"/>
                </a:lnTo>
                <a:cubicBezTo>
                  <a:pt x="127828" y="65535"/>
                  <a:pt x="127828" y="64218"/>
                  <a:pt x="128638" y="63407"/>
                </a:cubicBezTo>
                <a:lnTo>
                  <a:pt x="139911" y="52438"/>
                </a:lnTo>
                <a:cubicBezTo>
                  <a:pt x="141482" y="50893"/>
                  <a:pt x="142115" y="48638"/>
                  <a:pt x="141532" y="46510"/>
                </a:cubicBezTo>
                <a:cubicBezTo>
                  <a:pt x="140950" y="44382"/>
                  <a:pt x="139278" y="42736"/>
                  <a:pt x="137150" y="42179"/>
                </a:cubicBezTo>
                <a:lnTo>
                  <a:pt x="121900" y="38303"/>
                </a:lnTo>
                <a:cubicBezTo>
                  <a:pt x="120785" y="38024"/>
                  <a:pt x="120126" y="36884"/>
                  <a:pt x="120456" y="35795"/>
                </a:cubicBezTo>
                <a:lnTo>
                  <a:pt x="124737" y="20646"/>
                </a:lnTo>
                <a:cubicBezTo>
                  <a:pt x="125345" y="18518"/>
                  <a:pt x="124737" y="16238"/>
                  <a:pt x="123192" y="14693"/>
                </a:cubicBezTo>
                <a:cubicBezTo>
                  <a:pt x="121646" y="13148"/>
                  <a:pt x="119366" y="12540"/>
                  <a:pt x="117239" y="13148"/>
                </a:cubicBezTo>
                <a:lnTo>
                  <a:pt x="102090" y="17429"/>
                </a:lnTo>
                <a:cubicBezTo>
                  <a:pt x="101000" y="17733"/>
                  <a:pt x="99861" y="17074"/>
                  <a:pt x="99582" y="15985"/>
                </a:cubicBezTo>
                <a:lnTo>
                  <a:pt x="95706" y="709"/>
                </a:lnTo>
                <a:cubicBezTo>
                  <a:pt x="95174" y="-1419"/>
                  <a:pt x="93502" y="-3091"/>
                  <a:pt x="91374" y="-3673"/>
                </a:cubicBezTo>
                <a:cubicBezTo>
                  <a:pt x="89246" y="-4256"/>
                  <a:pt x="86992" y="-3623"/>
                  <a:pt x="85446" y="-2052"/>
                </a:cubicBezTo>
                <a:lnTo>
                  <a:pt x="74477" y="9246"/>
                </a:lnTo>
                <a:cubicBezTo>
                  <a:pt x="73692" y="10057"/>
                  <a:pt x="72375" y="10057"/>
                  <a:pt x="71564" y="9246"/>
                </a:cubicBezTo>
                <a:lnTo>
                  <a:pt x="60595" y="-2027"/>
                </a:ln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89043" y="1515894"/>
            <a:ext cx="1280809" cy="162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4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Certification Partnerships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908280" y="1499681"/>
            <a:ext cx="462064" cy="1945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1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$500K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62064" y="2063074"/>
            <a:ext cx="4847617" cy="8106"/>
          </a:xfrm>
          <a:custGeom>
            <a:avLst/>
            <a:gdLst/>
            <a:ahLst/>
            <a:cxnLst/>
            <a:rect l="l" t="t" r="r" b="b"/>
            <a:pathLst>
              <a:path w="4847617" h="8106">
                <a:moveTo>
                  <a:pt x="0" y="0"/>
                </a:moveTo>
                <a:lnTo>
                  <a:pt x="4847617" y="0"/>
                </a:lnTo>
                <a:lnTo>
                  <a:pt x="4847617" y="8106"/>
                </a:lnTo>
                <a:lnTo>
                  <a:pt x="0" y="8106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62064" y="1864468"/>
            <a:ext cx="162128" cy="129702"/>
          </a:xfrm>
          <a:custGeom>
            <a:avLst/>
            <a:gdLst/>
            <a:ahLst/>
            <a:cxnLst/>
            <a:rect l="l" t="t" r="r" b="b"/>
            <a:pathLst>
              <a:path w="162128" h="129702">
                <a:moveTo>
                  <a:pt x="81064" y="4053"/>
                </a:moveTo>
                <a:cubicBezTo>
                  <a:pt x="95604" y="4053"/>
                  <a:pt x="107410" y="15858"/>
                  <a:pt x="107410" y="30399"/>
                </a:cubicBezTo>
                <a:cubicBezTo>
                  <a:pt x="107410" y="44940"/>
                  <a:pt x="95604" y="56745"/>
                  <a:pt x="81064" y="56745"/>
                </a:cubicBezTo>
                <a:cubicBezTo>
                  <a:pt x="66523" y="56745"/>
                  <a:pt x="54718" y="44940"/>
                  <a:pt x="54718" y="30399"/>
                </a:cubicBezTo>
                <a:cubicBezTo>
                  <a:pt x="54718" y="15858"/>
                  <a:pt x="66523" y="4053"/>
                  <a:pt x="81064" y="4053"/>
                </a:cubicBezTo>
                <a:close/>
                <a:moveTo>
                  <a:pt x="24319" y="22293"/>
                </a:moveTo>
                <a:cubicBezTo>
                  <a:pt x="34386" y="22293"/>
                  <a:pt x="42559" y="30465"/>
                  <a:pt x="42559" y="40532"/>
                </a:cubicBezTo>
                <a:cubicBezTo>
                  <a:pt x="42559" y="50598"/>
                  <a:pt x="34386" y="58771"/>
                  <a:pt x="24319" y="58771"/>
                </a:cubicBezTo>
                <a:cubicBezTo>
                  <a:pt x="14253" y="58771"/>
                  <a:pt x="6080" y="50598"/>
                  <a:pt x="6080" y="40532"/>
                </a:cubicBezTo>
                <a:cubicBezTo>
                  <a:pt x="6080" y="30465"/>
                  <a:pt x="14253" y="22293"/>
                  <a:pt x="24319" y="22293"/>
                </a:cubicBezTo>
                <a:close/>
                <a:moveTo>
                  <a:pt x="0" y="105383"/>
                </a:moveTo>
                <a:cubicBezTo>
                  <a:pt x="0" y="87473"/>
                  <a:pt x="14515" y="72957"/>
                  <a:pt x="32426" y="72957"/>
                </a:cubicBezTo>
                <a:cubicBezTo>
                  <a:pt x="35668" y="72957"/>
                  <a:pt x="38809" y="73439"/>
                  <a:pt x="41773" y="74325"/>
                </a:cubicBezTo>
                <a:cubicBezTo>
                  <a:pt x="33439" y="83648"/>
                  <a:pt x="28372" y="95959"/>
                  <a:pt x="28372" y="109436"/>
                </a:cubicBezTo>
                <a:lnTo>
                  <a:pt x="28372" y="113489"/>
                </a:lnTo>
                <a:cubicBezTo>
                  <a:pt x="28372" y="116377"/>
                  <a:pt x="28980" y="119113"/>
                  <a:pt x="30070" y="121596"/>
                </a:cubicBezTo>
                <a:lnTo>
                  <a:pt x="8106" y="121596"/>
                </a:lnTo>
                <a:cubicBezTo>
                  <a:pt x="3623" y="121596"/>
                  <a:pt x="0" y="117973"/>
                  <a:pt x="0" y="113489"/>
                </a:cubicBezTo>
                <a:lnTo>
                  <a:pt x="0" y="105383"/>
                </a:lnTo>
                <a:close/>
                <a:moveTo>
                  <a:pt x="132058" y="121596"/>
                </a:moveTo>
                <a:cubicBezTo>
                  <a:pt x="133147" y="119113"/>
                  <a:pt x="133755" y="116377"/>
                  <a:pt x="133755" y="113489"/>
                </a:cubicBezTo>
                <a:lnTo>
                  <a:pt x="133755" y="109436"/>
                </a:lnTo>
                <a:cubicBezTo>
                  <a:pt x="133755" y="95959"/>
                  <a:pt x="128689" y="83648"/>
                  <a:pt x="120354" y="74325"/>
                </a:cubicBezTo>
                <a:cubicBezTo>
                  <a:pt x="123318" y="73439"/>
                  <a:pt x="126460" y="72957"/>
                  <a:pt x="129702" y="72957"/>
                </a:cubicBezTo>
                <a:cubicBezTo>
                  <a:pt x="147612" y="72957"/>
                  <a:pt x="162128" y="87473"/>
                  <a:pt x="162128" y="105383"/>
                </a:cubicBezTo>
                <a:lnTo>
                  <a:pt x="162128" y="113489"/>
                </a:lnTo>
                <a:cubicBezTo>
                  <a:pt x="162128" y="117973"/>
                  <a:pt x="158505" y="121596"/>
                  <a:pt x="154021" y="121596"/>
                </a:cubicBezTo>
                <a:lnTo>
                  <a:pt x="132058" y="121596"/>
                </a:lnTo>
                <a:close/>
                <a:moveTo>
                  <a:pt x="119569" y="40532"/>
                </a:moveTo>
                <a:cubicBezTo>
                  <a:pt x="119569" y="30465"/>
                  <a:pt x="127742" y="22293"/>
                  <a:pt x="137809" y="22293"/>
                </a:cubicBezTo>
                <a:cubicBezTo>
                  <a:pt x="147875" y="22293"/>
                  <a:pt x="156048" y="30465"/>
                  <a:pt x="156048" y="40532"/>
                </a:cubicBezTo>
                <a:cubicBezTo>
                  <a:pt x="156048" y="50598"/>
                  <a:pt x="147875" y="58771"/>
                  <a:pt x="137809" y="58771"/>
                </a:cubicBezTo>
                <a:cubicBezTo>
                  <a:pt x="127742" y="58771"/>
                  <a:pt x="119569" y="50598"/>
                  <a:pt x="119569" y="40532"/>
                </a:cubicBezTo>
                <a:close/>
                <a:moveTo>
                  <a:pt x="40532" y="109436"/>
                </a:moveTo>
                <a:cubicBezTo>
                  <a:pt x="40532" y="87042"/>
                  <a:pt x="58670" y="68904"/>
                  <a:pt x="81064" y="68904"/>
                </a:cubicBezTo>
                <a:cubicBezTo>
                  <a:pt x="103458" y="68904"/>
                  <a:pt x="121596" y="87042"/>
                  <a:pt x="121596" y="109436"/>
                </a:cubicBezTo>
                <a:lnTo>
                  <a:pt x="121596" y="113489"/>
                </a:lnTo>
                <a:cubicBezTo>
                  <a:pt x="121596" y="117973"/>
                  <a:pt x="117973" y="121596"/>
                  <a:pt x="113489" y="121596"/>
                </a:cubicBezTo>
                <a:lnTo>
                  <a:pt x="48638" y="121596"/>
                </a:lnTo>
                <a:cubicBezTo>
                  <a:pt x="44154" y="121596"/>
                  <a:pt x="40532" y="117973"/>
                  <a:pt x="40532" y="113489"/>
                </a:cubicBezTo>
                <a:lnTo>
                  <a:pt x="40532" y="109436"/>
                </a:ln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89043" y="1848255"/>
            <a:ext cx="1280809" cy="162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4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Team Expansion (3 hires)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906523" y="1832043"/>
            <a:ext cx="470170" cy="1945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1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$600K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462064" y="2395436"/>
            <a:ext cx="4847617" cy="8106"/>
          </a:xfrm>
          <a:custGeom>
            <a:avLst/>
            <a:gdLst/>
            <a:ahLst/>
            <a:cxnLst/>
            <a:rect l="l" t="t" r="r" b="b"/>
            <a:pathLst>
              <a:path w="4847617" h="8106">
                <a:moveTo>
                  <a:pt x="0" y="0"/>
                </a:moveTo>
                <a:lnTo>
                  <a:pt x="4847617" y="0"/>
                </a:lnTo>
                <a:lnTo>
                  <a:pt x="4847617" y="8106"/>
                </a:lnTo>
                <a:lnTo>
                  <a:pt x="0" y="8106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478277" y="2196830"/>
            <a:ext cx="129702" cy="129702"/>
          </a:xfrm>
          <a:custGeom>
            <a:avLst/>
            <a:gdLst/>
            <a:ahLst/>
            <a:cxnLst/>
            <a:rect l="l" t="t" r="r" b="b"/>
            <a:pathLst>
              <a:path w="129702" h="129702">
                <a:moveTo>
                  <a:pt x="32426" y="81064"/>
                </a:moveTo>
                <a:lnTo>
                  <a:pt x="6206" y="81064"/>
                </a:lnTo>
                <a:cubicBezTo>
                  <a:pt x="-101" y="81064"/>
                  <a:pt x="-3977" y="74199"/>
                  <a:pt x="-735" y="68778"/>
                </a:cubicBezTo>
                <a:lnTo>
                  <a:pt x="12666" y="46434"/>
                </a:lnTo>
                <a:cubicBezTo>
                  <a:pt x="14870" y="42761"/>
                  <a:pt x="18822" y="40532"/>
                  <a:pt x="23103" y="40532"/>
                </a:cubicBezTo>
                <a:lnTo>
                  <a:pt x="47169" y="40532"/>
                </a:lnTo>
                <a:cubicBezTo>
                  <a:pt x="66447" y="7878"/>
                  <a:pt x="95199" y="6232"/>
                  <a:pt x="114427" y="9044"/>
                </a:cubicBezTo>
                <a:cubicBezTo>
                  <a:pt x="117669" y="9525"/>
                  <a:pt x="120202" y="12058"/>
                  <a:pt x="120658" y="15275"/>
                </a:cubicBezTo>
                <a:cubicBezTo>
                  <a:pt x="123470" y="34503"/>
                  <a:pt x="121824" y="63255"/>
                  <a:pt x="89170" y="82533"/>
                </a:cubicBezTo>
                <a:lnTo>
                  <a:pt x="89170" y="106599"/>
                </a:lnTo>
                <a:cubicBezTo>
                  <a:pt x="89170" y="110880"/>
                  <a:pt x="86941" y="114832"/>
                  <a:pt x="83268" y="117036"/>
                </a:cubicBezTo>
                <a:lnTo>
                  <a:pt x="60925" y="130437"/>
                </a:lnTo>
                <a:cubicBezTo>
                  <a:pt x="55529" y="133679"/>
                  <a:pt x="48638" y="129778"/>
                  <a:pt x="48638" y="123496"/>
                </a:cubicBezTo>
                <a:lnTo>
                  <a:pt x="48638" y="97277"/>
                </a:lnTo>
                <a:cubicBezTo>
                  <a:pt x="48638" y="88334"/>
                  <a:pt x="41368" y="81064"/>
                  <a:pt x="32426" y="81064"/>
                </a:cubicBezTo>
                <a:lnTo>
                  <a:pt x="32400" y="81064"/>
                </a:lnTo>
                <a:close/>
                <a:moveTo>
                  <a:pt x="101330" y="40532"/>
                </a:moveTo>
                <a:cubicBezTo>
                  <a:pt x="101330" y="33821"/>
                  <a:pt x="95881" y="28372"/>
                  <a:pt x="89170" y="28372"/>
                </a:cubicBezTo>
                <a:cubicBezTo>
                  <a:pt x="82459" y="28372"/>
                  <a:pt x="77011" y="33821"/>
                  <a:pt x="77011" y="40532"/>
                </a:cubicBezTo>
                <a:cubicBezTo>
                  <a:pt x="77011" y="47243"/>
                  <a:pt x="82459" y="52691"/>
                  <a:pt x="89170" y="52691"/>
                </a:cubicBezTo>
                <a:cubicBezTo>
                  <a:pt x="95881" y="52691"/>
                  <a:pt x="101330" y="47243"/>
                  <a:pt x="101330" y="40532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89043" y="2180617"/>
            <a:ext cx="1232170" cy="162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4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Pilot Customers (3 sites)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4912063" y="2164404"/>
            <a:ext cx="462064" cy="1945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1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$400K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462064" y="2727798"/>
            <a:ext cx="4847617" cy="8106"/>
          </a:xfrm>
          <a:custGeom>
            <a:avLst/>
            <a:gdLst/>
            <a:ahLst/>
            <a:cxnLst/>
            <a:rect l="l" t="t" r="r" b="b"/>
            <a:pathLst>
              <a:path w="4847617" h="8106">
                <a:moveTo>
                  <a:pt x="0" y="0"/>
                </a:moveTo>
                <a:lnTo>
                  <a:pt x="4847617" y="0"/>
                </a:lnTo>
                <a:lnTo>
                  <a:pt x="4847617" y="8106"/>
                </a:lnTo>
                <a:lnTo>
                  <a:pt x="0" y="8106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486383" y="2529191"/>
            <a:ext cx="113489" cy="129702"/>
          </a:xfrm>
          <a:custGeom>
            <a:avLst/>
            <a:gdLst/>
            <a:ahLst/>
            <a:cxnLst/>
            <a:rect l="l" t="t" r="r" b="b"/>
            <a:pathLst>
              <a:path w="113489" h="129702">
                <a:moveTo>
                  <a:pt x="72957" y="0"/>
                </a:moveTo>
                <a:lnTo>
                  <a:pt x="32426" y="0"/>
                </a:lnTo>
                <a:cubicBezTo>
                  <a:pt x="27942" y="0"/>
                  <a:pt x="24319" y="3623"/>
                  <a:pt x="24319" y="8106"/>
                </a:cubicBezTo>
                <a:cubicBezTo>
                  <a:pt x="24319" y="12590"/>
                  <a:pt x="27942" y="16213"/>
                  <a:pt x="32426" y="16213"/>
                </a:cubicBezTo>
                <a:lnTo>
                  <a:pt x="32426" y="54591"/>
                </a:lnTo>
                <a:lnTo>
                  <a:pt x="1900" y="107992"/>
                </a:lnTo>
                <a:cubicBezTo>
                  <a:pt x="659" y="110196"/>
                  <a:pt x="0" y="112653"/>
                  <a:pt x="0" y="115187"/>
                </a:cubicBezTo>
                <a:cubicBezTo>
                  <a:pt x="0" y="123217"/>
                  <a:pt x="6485" y="129702"/>
                  <a:pt x="14515" y="129702"/>
                </a:cubicBezTo>
                <a:lnTo>
                  <a:pt x="98974" y="129702"/>
                </a:lnTo>
                <a:cubicBezTo>
                  <a:pt x="106979" y="129702"/>
                  <a:pt x="113489" y="123217"/>
                  <a:pt x="113489" y="115187"/>
                </a:cubicBezTo>
                <a:cubicBezTo>
                  <a:pt x="113489" y="112653"/>
                  <a:pt x="112831" y="110171"/>
                  <a:pt x="111589" y="107992"/>
                </a:cubicBezTo>
                <a:lnTo>
                  <a:pt x="81064" y="54591"/>
                </a:lnTo>
                <a:lnTo>
                  <a:pt x="81064" y="16213"/>
                </a:lnTo>
                <a:cubicBezTo>
                  <a:pt x="85548" y="16213"/>
                  <a:pt x="89170" y="12590"/>
                  <a:pt x="89170" y="8106"/>
                </a:cubicBezTo>
                <a:cubicBezTo>
                  <a:pt x="89170" y="3623"/>
                  <a:pt x="85548" y="0"/>
                  <a:pt x="81064" y="0"/>
                </a:cubicBezTo>
                <a:lnTo>
                  <a:pt x="72957" y="0"/>
                </a:lnTo>
                <a:close/>
                <a:moveTo>
                  <a:pt x="48638" y="54591"/>
                </a:moveTo>
                <a:lnTo>
                  <a:pt x="48638" y="16213"/>
                </a:lnTo>
                <a:lnTo>
                  <a:pt x="64851" y="16213"/>
                </a:lnTo>
                <a:lnTo>
                  <a:pt x="64851" y="54591"/>
                </a:lnTo>
                <a:cubicBezTo>
                  <a:pt x="64851" y="57403"/>
                  <a:pt x="65586" y="60190"/>
                  <a:pt x="66979" y="62647"/>
                </a:cubicBezTo>
                <a:lnTo>
                  <a:pt x="77517" y="81064"/>
                </a:lnTo>
                <a:lnTo>
                  <a:pt x="35972" y="81064"/>
                </a:lnTo>
                <a:lnTo>
                  <a:pt x="46510" y="62647"/>
                </a:lnTo>
                <a:cubicBezTo>
                  <a:pt x="47904" y="60190"/>
                  <a:pt x="48638" y="57429"/>
                  <a:pt x="48638" y="54591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689043" y="2512979"/>
            <a:ext cx="1321340" cy="162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4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Technology Development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4908550" y="2496766"/>
            <a:ext cx="462064" cy="1945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1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$300K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462064" y="3060160"/>
            <a:ext cx="4847617" cy="8106"/>
          </a:xfrm>
          <a:custGeom>
            <a:avLst/>
            <a:gdLst/>
            <a:ahLst/>
            <a:cxnLst/>
            <a:rect l="l" t="t" r="r" b="b"/>
            <a:pathLst>
              <a:path w="4847617" h="8106">
                <a:moveTo>
                  <a:pt x="0" y="0"/>
                </a:moveTo>
                <a:lnTo>
                  <a:pt x="4847617" y="0"/>
                </a:lnTo>
                <a:lnTo>
                  <a:pt x="4847617" y="8106"/>
                </a:lnTo>
                <a:lnTo>
                  <a:pt x="0" y="8106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494489" y="2861553"/>
            <a:ext cx="97277" cy="129702"/>
          </a:xfrm>
          <a:custGeom>
            <a:avLst/>
            <a:gdLst/>
            <a:ahLst/>
            <a:cxnLst/>
            <a:rect l="l" t="t" r="r" b="b"/>
            <a:pathLst>
              <a:path w="97277" h="129702">
                <a:moveTo>
                  <a:pt x="16213" y="0"/>
                </a:moveTo>
                <a:cubicBezTo>
                  <a:pt x="7270" y="0"/>
                  <a:pt x="0" y="7270"/>
                  <a:pt x="0" y="16213"/>
                </a:cubicBezTo>
                <a:lnTo>
                  <a:pt x="0" y="113489"/>
                </a:lnTo>
                <a:cubicBezTo>
                  <a:pt x="0" y="122432"/>
                  <a:pt x="7270" y="129702"/>
                  <a:pt x="16213" y="129702"/>
                </a:cubicBezTo>
                <a:lnTo>
                  <a:pt x="81064" y="129702"/>
                </a:lnTo>
                <a:cubicBezTo>
                  <a:pt x="90006" y="129702"/>
                  <a:pt x="97277" y="122432"/>
                  <a:pt x="97277" y="113489"/>
                </a:cubicBezTo>
                <a:lnTo>
                  <a:pt x="97277" y="16213"/>
                </a:lnTo>
                <a:cubicBezTo>
                  <a:pt x="97277" y="7270"/>
                  <a:pt x="90006" y="0"/>
                  <a:pt x="81064" y="0"/>
                </a:cubicBezTo>
                <a:lnTo>
                  <a:pt x="16213" y="0"/>
                </a:lnTo>
                <a:close/>
                <a:moveTo>
                  <a:pt x="44585" y="89170"/>
                </a:moveTo>
                <a:lnTo>
                  <a:pt x="52691" y="89170"/>
                </a:lnTo>
                <a:cubicBezTo>
                  <a:pt x="57175" y="89170"/>
                  <a:pt x="60798" y="92793"/>
                  <a:pt x="60798" y="97277"/>
                </a:cubicBezTo>
                <a:lnTo>
                  <a:pt x="60798" y="117543"/>
                </a:lnTo>
                <a:lnTo>
                  <a:pt x="36479" y="117543"/>
                </a:lnTo>
                <a:lnTo>
                  <a:pt x="36479" y="97277"/>
                </a:lnTo>
                <a:cubicBezTo>
                  <a:pt x="36479" y="92793"/>
                  <a:pt x="40101" y="89170"/>
                  <a:pt x="44585" y="89170"/>
                </a:cubicBezTo>
                <a:close/>
                <a:moveTo>
                  <a:pt x="24319" y="28372"/>
                </a:moveTo>
                <a:cubicBezTo>
                  <a:pt x="24319" y="26143"/>
                  <a:pt x="26143" y="24319"/>
                  <a:pt x="28372" y="24319"/>
                </a:cubicBezTo>
                <a:lnTo>
                  <a:pt x="36479" y="24319"/>
                </a:lnTo>
                <a:cubicBezTo>
                  <a:pt x="38708" y="24319"/>
                  <a:pt x="40532" y="26143"/>
                  <a:pt x="40532" y="28372"/>
                </a:cubicBezTo>
                <a:lnTo>
                  <a:pt x="40532" y="36479"/>
                </a:lnTo>
                <a:cubicBezTo>
                  <a:pt x="40532" y="38708"/>
                  <a:pt x="38708" y="40532"/>
                  <a:pt x="36479" y="40532"/>
                </a:cubicBezTo>
                <a:lnTo>
                  <a:pt x="28372" y="40532"/>
                </a:lnTo>
                <a:cubicBezTo>
                  <a:pt x="26143" y="40532"/>
                  <a:pt x="24319" y="38708"/>
                  <a:pt x="24319" y="36479"/>
                </a:cubicBezTo>
                <a:lnTo>
                  <a:pt x="24319" y="28372"/>
                </a:lnTo>
                <a:close/>
                <a:moveTo>
                  <a:pt x="60798" y="24319"/>
                </a:moveTo>
                <a:lnTo>
                  <a:pt x="68904" y="24319"/>
                </a:lnTo>
                <a:cubicBezTo>
                  <a:pt x="71134" y="24319"/>
                  <a:pt x="72957" y="26143"/>
                  <a:pt x="72957" y="28372"/>
                </a:cubicBezTo>
                <a:lnTo>
                  <a:pt x="72957" y="36479"/>
                </a:lnTo>
                <a:cubicBezTo>
                  <a:pt x="72957" y="38708"/>
                  <a:pt x="71134" y="40532"/>
                  <a:pt x="68904" y="40532"/>
                </a:cubicBezTo>
                <a:lnTo>
                  <a:pt x="60798" y="40532"/>
                </a:lnTo>
                <a:cubicBezTo>
                  <a:pt x="58569" y="40532"/>
                  <a:pt x="56745" y="38708"/>
                  <a:pt x="56745" y="36479"/>
                </a:cubicBezTo>
                <a:lnTo>
                  <a:pt x="56745" y="28372"/>
                </a:lnTo>
                <a:cubicBezTo>
                  <a:pt x="56745" y="26143"/>
                  <a:pt x="58569" y="24319"/>
                  <a:pt x="60798" y="24319"/>
                </a:cubicBezTo>
                <a:close/>
                <a:moveTo>
                  <a:pt x="24319" y="60798"/>
                </a:moveTo>
                <a:cubicBezTo>
                  <a:pt x="24319" y="58569"/>
                  <a:pt x="26143" y="56745"/>
                  <a:pt x="28372" y="56745"/>
                </a:cubicBezTo>
                <a:lnTo>
                  <a:pt x="36479" y="56745"/>
                </a:lnTo>
                <a:cubicBezTo>
                  <a:pt x="38708" y="56745"/>
                  <a:pt x="40532" y="58569"/>
                  <a:pt x="40532" y="60798"/>
                </a:cubicBezTo>
                <a:lnTo>
                  <a:pt x="40532" y="68904"/>
                </a:lnTo>
                <a:cubicBezTo>
                  <a:pt x="40532" y="71134"/>
                  <a:pt x="38708" y="72957"/>
                  <a:pt x="36479" y="72957"/>
                </a:cubicBezTo>
                <a:lnTo>
                  <a:pt x="28372" y="72957"/>
                </a:lnTo>
                <a:cubicBezTo>
                  <a:pt x="26143" y="72957"/>
                  <a:pt x="24319" y="71134"/>
                  <a:pt x="24319" y="68904"/>
                </a:cubicBezTo>
                <a:lnTo>
                  <a:pt x="24319" y="60798"/>
                </a:lnTo>
                <a:close/>
                <a:moveTo>
                  <a:pt x="60798" y="56745"/>
                </a:moveTo>
                <a:lnTo>
                  <a:pt x="68904" y="56745"/>
                </a:lnTo>
                <a:cubicBezTo>
                  <a:pt x="71134" y="56745"/>
                  <a:pt x="72957" y="58569"/>
                  <a:pt x="72957" y="60798"/>
                </a:cubicBezTo>
                <a:lnTo>
                  <a:pt x="72957" y="68904"/>
                </a:lnTo>
                <a:cubicBezTo>
                  <a:pt x="72957" y="71134"/>
                  <a:pt x="71134" y="72957"/>
                  <a:pt x="68904" y="72957"/>
                </a:cubicBezTo>
                <a:lnTo>
                  <a:pt x="60798" y="72957"/>
                </a:lnTo>
                <a:cubicBezTo>
                  <a:pt x="58569" y="72957"/>
                  <a:pt x="56745" y="71134"/>
                  <a:pt x="56745" y="68904"/>
                </a:cubicBezTo>
                <a:lnTo>
                  <a:pt x="56745" y="60798"/>
                </a:lnTo>
                <a:cubicBezTo>
                  <a:pt x="56745" y="58569"/>
                  <a:pt x="58569" y="56745"/>
                  <a:pt x="60798" y="56745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689043" y="2845340"/>
            <a:ext cx="1224064" cy="162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4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Operations &amp; Overhead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4911928" y="2829128"/>
            <a:ext cx="462064" cy="1945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1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$200K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462064" y="3129064"/>
            <a:ext cx="4847617" cy="389106"/>
          </a:xfrm>
          <a:custGeom>
            <a:avLst/>
            <a:gdLst/>
            <a:ahLst/>
            <a:cxnLst/>
            <a:rect l="l" t="t" r="r" b="b"/>
            <a:pathLst>
              <a:path w="4847617" h="389106">
                <a:moveTo>
                  <a:pt x="32424" y="0"/>
                </a:moveTo>
                <a:lnTo>
                  <a:pt x="4815193" y="0"/>
                </a:lnTo>
                <a:cubicBezTo>
                  <a:pt x="4833100" y="0"/>
                  <a:pt x="4847617" y="14517"/>
                  <a:pt x="4847617" y="32424"/>
                </a:cubicBezTo>
                <a:lnTo>
                  <a:pt x="4847617" y="356682"/>
                </a:lnTo>
                <a:cubicBezTo>
                  <a:pt x="4847617" y="374590"/>
                  <a:pt x="4833100" y="389106"/>
                  <a:pt x="4815193" y="389106"/>
                </a:cubicBezTo>
                <a:lnTo>
                  <a:pt x="32424" y="389106"/>
                </a:lnTo>
                <a:cubicBezTo>
                  <a:pt x="14529" y="389106"/>
                  <a:pt x="0" y="374578"/>
                  <a:pt x="0" y="356682"/>
                </a:cubicBezTo>
                <a:lnTo>
                  <a:pt x="0" y="32424"/>
                </a:lnTo>
                <a:cubicBezTo>
                  <a:pt x="0" y="14529"/>
                  <a:pt x="14529" y="0"/>
                  <a:pt x="32424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526915" y="3226340"/>
            <a:ext cx="462064" cy="1945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1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4865046" y="3193915"/>
            <a:ext cx="478277" cy="2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32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$2M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328309" y="3789734"/>
            <a:ext cx="5115128" cy="1207851"/>
          </a:xfrm>
          <a:custGeom>
            <a:avLst/>
            <a:gdLst/>
            <a:ahLst/>
            <a:cxnLst/>
            <a:rect l="l" t="t" r="r" b="b"/>
            <a:pathLst>
              <a:path w="5115128" h="1207851">
                <a:moveTo>
                  <a:pt x="64850" y="0"/>
                </a:moveTo>
                <a:lnTo>
                  <a:pt x="5050278" y="0"/>
                </a:lnTo>
                <a:cubicBezTo>
                  <a:pt x="5086094" y="0"/>
                  <a:pt x="5115128" y="29034"/>
                  <a:pt x="5115128" y="64850"/>
                </a:cubicBezTo>
                <a:lnTo>
                  <a:pt x="5115128" y="1143002"/>
                </a:lnTo>
                <a:cubicBezTo>
                  <a:pt x="5115128" y="1178817"/>
                  <a:pt x="5086094" y="1207851"/>
                  <a:pt x="5050278" y="1207851"/>
                </a:cubicBezTo>
                <a:lnTo>
                  <a:pt x="64850" y="1207851"/>
                </a:lnTo>
                <a:cubicBezTo>
                  <a:pt x="29034" y="1207851"/>
                  <a:pt x="0" y="1178817"/>
                  <a:pt x="0" y="1143002"/>
                </a:cubicBezTo>
                <a:lnTo>
                  <a:pt x="0" y="64850"/>
                </a:lnTo>
                <a:cubicBezTo>
                  <a:pt x="0" y="29034"/>
                  <a:pt x="29034" y="0"/>
                  <a:pt x="64850" y="0"/>
                </a:cubicBezTo>
                <a:close/>
              </a:path>
            </a:pathLst>
          </a:custGeom>
          <a:solidFill>
            <a:srgbClr val="2B2D42">
              <a:alpha val="60000"/>
            </a:srgbClr>
          </a:solidFill>
          <a:ln w="12700">
            <a:solidFill>
              <a:srgbClr val="E07A5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462064" y="3923489"/>
            <a:ext cx="4920574" cy="226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9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We're Offering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492463" y="4272064"/>
            <a:ext cx="85117" cy="113489"/>
          </a:xfrm>
          <a:custGeom>
            <a:avLst/>
            <a:gdLst/>
            <a:ahLst/>
            <a:cxnLst/>
            <a:rect l="l" t="t" r="r" b="b"/>
            <a:pathLst>
              <a:path w="85117" h="113489">
                <a:moveTo>
                  <a:pt x="0" y="14186"/>
                </a:moveTo>
                <a:cubicBezTo>
                  <a:pt x="0" y="6362"/>
                  <a:pt x="6362" y="0"/>
                  <a:pt x="14186" y="0"/>
                </a:cubicBezTo>
                <a:lnTo>
                  <a:pt x="47324" y="0"/>
                </a:lnTo>
                <a:cubicBezTo>
                  <a:pt x="51092" y="0"/>
                  <a:pt x="54705" y="1485"/>
                  <a:pt x="57365" y="4145"/>
                </a:cubicBezTo>
                <a:lnTo>
                  <a:pt x="80972" y="27774"/>
                </a:lnTo>
                <a:cubicBezTo>
                  <a:pt x="83632" y="30434"/>
                  <a:pt x="85117" y="34047"/>
                  <a:pt x="85117" y="37815"/>
                </a:cubicBezTo>
                <a:lnTo>
                  <a:pt x="85117" y="99303"/>
                </a:lnTo>
                <a:cubicBezTo>
                  <a:pt x="85117" y="107128"/>
                  <a:pt x="78755" y="113489"/>
                  <a:pt x="70931" y="113489"/>
                </a:cubicBezTo>
                <a:lnTo>
                  <a:pt x="14186" y="113489"/>
                </a:lnTo>
                <a:cubicBezTo>
                  <a:pt x="6362" y="113489"/>
                  <a:pt x="0" y="107128"/>
                  <a:pt x="0" y="99303"/>
                </a:cubicBezTo>
                <a:lnTo>
                  <a:pt x="0" y="14186"/>
                </a:lnTo>
                <a:close/>
                <a:moveTo>
                  <a:pt x="46105" y="12967"/>
                </a:moveTo>
                <a:lnTo>
                  <a:pt x="46105" y="33692"/>
                </a:lnTo>
                <a:cubicBezTo>
                  <a:pt x="46105" y="36640"/>
                  <a:pt x="48477" y="39012"/>
                  <a:pt x="51425" y="39012"/>
                </a:cubicBezTo>
                <a:lnTo>
                  <a:pt x="72150" y="39012"/>
                </a:lnTo>
                <a:lnTo>
                  <a:pt x="46105" y="12967"/>
                </a:lnTo>
                <a:close/>
                <a:moveTo>
                  <a:pt x="19506" y="14186"/>
                </a:moveTo>
                <a:cubicBezTo>
                  <a:pt x="16558" y="14186"/>
                  <a:pt x="14186" y="16558"/>
                  <a:pt x="14186" y="19506"/>
                </a:cubicBezTo>
                <a:cubicBezTo>
                  <a:pt x="14186" y="22454"/>
                  <a:pt x="16558" y="24826"/>
                  <a:pt x="19506" y="24826"/>
                </a:cubicBezTo>
                <a:lnTo>
                  <a:pt x="30146" y="24826"/>
                </a:lnTo>
                <a:cubicBezTo>
                  <a:pt x="33094" y="24826"/>
                  <a:pt x="35465" y="22454"/>
                  <a:pt x="35465" y="19506"/>
                </a:cubicBezTo>
                <a:cubicBezTo>
                  <a:pt x="35465" y="16558"/>
                  <a:pt x="33094" y="14186"/>
                  <a:pt x="30146" y="14186"/>
                </a:cubicBezTo>
                <a:lnTo>
                  <a:pt x="19506" y="14186"/>
                </a:lnTo>
                <a:close/>
                <a:moveTo>
                  <a:pt x="19506" y="35465"/>
                </a:moveTo>
                <a:cubicBezTo>
                  <a:pt x="16558" y="35465"/>
                  <a:pt x="14186" y="37837"/>
                  <a:pt x="14186" y="40785"/>
                </a:cubicBezTo>
                <a:cubicBezTo>
                  <a:pt x="14186" y="43733"/>
                  <a:pt x="16558" y="46105"/>
                  <a:pt x="19506" y="46105"/>
                </a:cubicBezTo>
                <a:lnTo>
                  <a:pt x="30146" y="46105"/>
                </a:lnTo>
                <a:cubicBezTo>
                  <a:pt x="33094" y="46105"/>
                  <a:pt x="35465" y="43733"/>
                  <a:pt x="35465" y="40785"/>
                </a:cubicBezTo>
                <a:cubicBezTo>
                  <a:pt x="35465" y="37837"/>
                  <a:pt x="33094" y="35465"/>
                  <a:pt x="30146" y="35465"/>
                </a:cubicBezTo>
                <a:lnTo>
                  <a:pt x="19506" y="35465"/>
                </a:lnTo>
                <a:close/>
                <a:moveTo>
                  <a:pt x="35089" y="70931"/>
                </a:moveTo>
                <a:cubicBezTo>
                  <a:pt x="32584" y="70931"/>
                  <a:pt x="30234" y="72061"/>
                  <a:pt x="28683" y="74012"/>
                </a:cubicBezTo>
                <a:lnTo>
                  <a:pt x="15361" y="90658"/>
                </a:lnTo>
                <a:cubicBezTo>
                  <a:pt x="13521" y="92942"/>
                  <a:pt x="13898" y="96311"/>
                  <a:pt x="16181" y="98128"/>
                </a:cubicBezTo>
                <a:cubicBezTo>
                  <a:pt x="18464" y="99946"/>
                  <a:pt x="21833" y="99591"/>
                  <a:pt x="23651" y="97286"/>
                </a:cubicBezTo>
                <a:lnTo>
                  <a:pt x="34091" y="84253"/>
                </a:lnTo>
                <a:lnTo>
                  <a:pt x="37460" y="95491"/>
                </a:lnTo>
                <a:cubicBezTo>
                  <a:pt x="38125" y="97752"/>
                  <a:pt x="40209" y="99281"/>
                  <a:pt x="42559" y="99281"/>
                </a:cubicBezTo>
                <a:lnTo>
                  <a:pt x="65611" y="99281"/>
                </a:lnTo>
                <a:cubicBezTo>
                  <a:pt x="68559" y="99281"/>
                  <a:pt x="70931" y="96909"/>
                  <a:pt x="70931" y="93961"/>
                </a:cubicBezTo>
                <a:cubicBezTo>
                  <a:pt x="70931" y="91013"/>
                  <a:pt x="68559" y="88641"/>
                  <a:pt x="65611" y="88641"/>
                </a:cubicBezTo>
                <a:lnTo>
                  <a:pt x="46526" y="88641"/>
                </a:lnTo>
                <a:lnTo>
                  <a:pt x="42957" y="76760"/>
                </a:lnTo>
                <a:cubicBezTo>
                  <a:pt x="41916" y="73280"/>
                  <a:pt x="38724" y="70909"/>
                  <a:pt x="35089" y="70909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668777" y="4247745"/>
            <a:ext cx="1653702" cy="162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4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Structure:</a:t>
            </a:r>
            <a:r>
              <a:rPr lang="en-US" sz="894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SAFE or Priced Round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478277" y="4499043"/>
            <a:ext cx="113489" cy="113489"/>
          </a:xfrm>
          <a:custGeom>
            <a:avLst/>
            <a:gdLst/>
            <a:ahLst/>
            <a:cxnLst/>
            <a:rect l="l" t="t" r="r" b="b"/>
            <a:pathLst>
              <a:path w="113489" h="113489">
                <a:moveTo>
                  <a:pt x="7204" y="21279"/>
                </a:moveTo>
                <a:lnTo>
                  <a:pt x="7204" y="54417"/>
                </a:lnTo>
                <a:cubicBezTo>
                  <a:pt x="7204" y="58185"/>
                  <a:pt x="8689" y="61799"/>
                  <a:pt x="11349" y="64458"/>
                </a:cubicBezTo>
                <a:lnTo>
                  <a:pt x="53907" y="107017"/>
                </a:lnTo>
                <a:cubicBezTo>
                  <a:pt x="59449" y="112558"/>
                  <a:pt x="68426" y="112558"/>
                  <a:pt x="73968" y="107017"/>
                </a:cubicBezTo>
                <a:lnTo>
                  <a:pt x="107106" y="73879"/>
                </a:lnTo>
                <a:cubicBezTo>
                  <a:pt x="112647" y="68337"/>
                  <a:pt x="112647" y="59360"/>
                  <a:pt x="107106" y="53819"/>
                </a:cubicBezTo>
                <a:lnTo>
                  <a:pt x="64547" y="11260"/>
                </a:lnTo>
                <a:cubicBezTo>
                  <a:pt x="61887" y="8578"/>
                  <a:pt x="58296" y="7093"/>
                  <a:pt x="54528" y="7093"/>
                </a:cubicBezTo>
                <a:lnTo>
                  <a:pt x="21390" y="7093"/>
                </a:lnTo>
                <a:cubicBezTo>
                  <a:pt x="13566" y="7093"/>
                  <a:pt x="7204" y="13455"/>
                  <a:pt x="7204" y="21279"/>
                </a:cubicBezTo>
                <a:close/>
                <a:moveTo>
                  <a:pt x="32030" y="24826"/>
                </a:moveTo>
                <a:cubicBezTo>
                  <a:pt x="35944" y="24826"/>
                  <a:pt x="39123" y="28004"/>
                  <a:pt x="39123" y="31919"/>
                </a:cubicBezTo>
                <a:cubicBezTo>
                  <a:pt x="39123" y="35834"/>
                  <a:pt x="35944" y="39012"/>
                  <a:pt x="32030" y="39012"/>
                </a:cubicBezTo>
                <a:cubicBezTo>
                  <a:pt x="28115" y="39012"/>
                  <a:pt x="24937" y="35834"/>
                  <a:pt x="24937" y="31919"/>
                </a:cubicBezTo>
                <a:cubicBezTo>
                  <a:pt x="24937" y="28004"/>
                  <a:pt x="28115" y="24826"/>
                  <a:pt x="32030" y="24826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668777" y="4474723"/>
            <a:ext cx="1929319" cy="162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4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Target Valuation:</a:t>
            </a:r>
            <a:r>
              <a:rPr lang="en-US" sz="894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$8-10M pre-money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478277" y="4726021"/>
            <a:ext cx="113489" cy="113489"/>
          </a:xfrm>
          <a:custGeom>
            <a:avLst/>
            <a:gdLst/>
            <a:ahLst/>
            <a:cxnLst/>
            <a:rect l="l" t="t" r="r" b="b"/>
            <a:pathLst>
              <a:path w="113489" h="113489">
                <a:moveTo>
                  <a:pt x="14186" y="14186"/>
                </a:moveTo>
                <a:cubicBezTo>
                  <a:pt x="14186" y="10263"/>
                  <a:pt x="11016" y="7093"/>
                  <a:pt x="7093" y="7093"/>
                </a:cubicBezTo>
                <a:cubicBezTo>
                  <a:pt x="3170" y="7093"/>
                  <a:pt x="0" y="10263"/>
                  <a:pt x="0" y="14186"/>
                </a:cubicBezTo>
                <a:lnTo>
                  <a:pt x="0" y="88664"/>
                </a:lnTo>
                <a:cubicBezTo>
                  <a:pt x="0" y="98461"/>
                  <a:pt x="7935" y="106396"/>
                  <a:pt x="17733" y="106396"/>
                </a:cubicBezTo>
                <a:lnTo>
                  <a:pt x="106396" y="106396"/>
                </a:lnTo>
                <a:cubicBezTo>
                  <a:pt x="110320" y="106396"/>
                  <a:pt x="113489" y="103227"/>
                  <a:pt x="113489" y="99303"/>
                </a:cubicBezTo>
                <a:cubicBezTo>
                  <a:pt x="113489" y="95380"/>
                  <a:pt x="110320" y="92210"/>
                  <a:pt x="106396" y="92210"/>
                </a:cubicBezTo>
                <a:lnTo>
                  <a:pt x="17733" y="92210"/>
                </a:lnTo>
                <a:cubicBezTo>
                  <a:pt x="15782" y="92210"/>
                  <a:pt x="14186" y="90614"/>
                  <a:pt x="14186" y="88664"/>
                </a:cubicBezTo>
                <a:lnTo>
                  <a:pt x="14186" y="14186"/>
                </a:lnTo>
                <a:close/>
                <a:moveTo>
                  <a:pt x="104313" y="33382"/>
                </a:moveTo>
                <a:cubicBezTo>
                  <a:pt x="107083" y="30611"/>
                  <a:pt x="107083" y="26111"/>
                  <a:pt x="104313" y="23341"/>
                </a:cubicBezTo>
                <a:cubicBezTo>
                  <a:pt x="101542" y="20570"/>
                  <a:pt x="97042" y="20570"/>
                  <a:pt x="94272" y="23341"/>
                </a:cubicBezTo>
                <a:lnTo>
                  <a:pt x="70931" y="46704"/>
                </a:lnTo>
                <a:lnTo>
                  <a:pt x="58208" y="34002"/>
                </a:lnTo>
                <a:cubicBezTo>
                  <a:pt x="55437" y="31232"/>
                  <a:pt x="50937" y="31232"/>
                  <a:pt x="48166" y="34002"/>
                </a:cubicBezTo>
                <a:lnTo>
                  <a:pt x="26887" y="55282"/>
                </a:lnTo>
                <a:cubicBezTo>
                  <a:pt x="24116" y="58052"/>
                  <a:pt x="24116" y="62552"/>
                  <a:pt x="26887" y="65323"/>
                </a:cubicBezTo>
                <a:cubicBezTo>
                  <a:pt x="29658" y="68094"/>
                  <a:pt x="34158" y="68094"/>
                  <a:pt x="36928" y="65323"/>
                </a:cubicBezTo>
                <a:lnTo>
                  <a:pt x="53198" y="49053"/>
                </a:lnTo>
                <a:lnTo>
                  <a:pt x="65921" y="61776"/>
                </a:lnTo>
                <a:cubicBezTo>
                  <a:pt x="68692" y="64547"/>
                  <a:pt x="73192" y="64547"/>
                  <a:pt x="75963" y="61776"/>
                </a:cubicBezTo>
                <a:lnTo>
                  <a:pt x="104335" y="33404"/>
                </a:ln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668777" y="4701702"/>
            <a:ext cx="2804809" cy="162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4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Goal:</a:t>
            </a:r>
            <a:r>
              <a:rPr lang="en-US" sz="894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Scale beachhead → prove model → raise Series A</a:t>
            </a:r>
            <a:endParaRPr lang="en-US" sz="1600" dirty="0"/>
          </a:p>
        </p:txBody>
      </p:sp>
      <p:sp>
        <p:nvSpPr>
          <p:cNvPr id="39" name="Shape 36"/>
          <p:cNvSpPr/>
          <p:nvPr/>
        </p:nvSpPr>
        <p:spPr>
          <a:xfrm>
            <a:off x="5612049" y="1009245"/>
            <a:ext cx="6250021" cy="2958830"/>
          </a:xfrm>
          <a:custGeom>
            <a:avLst/>
            <a:gdLst/>
            <a:ahLst/>
            <a:cxnLst/>
            <a:rect l="l" t="t" r="r" b="b"/>
            <a:pathLst>
              <a:path w="6250021" h="2958830">
                <a:moveTo>
                  <a:pt x="64858" y="0"/>
                </a:moveTo>
                <a:lnTo>
                  <a:pt x="6185164" y="0"/>
                </a:lnTo>
                <a:cubicBezTo>
                  <a:pt x="6220984" y="0"/>
                  <a:pt x="6250021" y="29038"/>
                  <a:pt x="6250021" y="64858"/>
                </a:cubicBezTo>
                <a:lnTo>
                  <a:pt x="6250021" y="2893972"/>
                </a:lnTo>
                <a:cubicBezTo>
                  <a:pt x="6250021" y="2929792"/>
                  <a:pt x="6220984" y="2958830"/>
                  <a:pt x="6185164" y="2958830"/>
                </a:cubicBezTo>
                <a:lnTo>
                  <a:pt x="64858" y="2958830"/>
                </a:lnTo>
                <a:cubicBezTo>
                  <a:pt x="29038" y="2958830"/>
                  <a:pt x="0" y="2929792"/>
                  <a:pt x="0" y="2893972"/>
                </a:cubicBezTo>
                <a:lnTo>
                  <a:pt x="0" y="64858"/>
                </a:lnTo>
                <a:cubicBezTo>
                  <a:pt x="0" y="29062"/>
                  <a:pt x="29062" y="0"/>
                  <a:pt x="64858" y="0"/>
                </a:cubicBezTo>
                <a:close/>
              </a:path>
            </a:pathLst>
          </a:custGeom>
          <a:solidFill>
            <a:srgbClr val="2B2D42">
              <a:alpha val="60000"/>
            </a:srgbClr>
          </a:solidFill>
          <a:ln w="12700">
            <a:solidFill>
              <a:srgbClr val="4A6C8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5745804" y="1143000"/>
            <a:ext cx="6055468" cy="226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9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18-Month Milestones</a:t>
            </a:r>
            <a:endParaRPr lang="en-US" sz="1600" dirty="0"/>
          </a:p>
        </p:txBody>
      </p:sp>
      <p:sp>
        <p:nvSpPr>
          <p:cNvPr id="41" name="Shape 38"/>
          <p:cNvSpPr/>
          <p:nvPr/>
        </p:nvSpPr>
        <p:spPr>
          <a:xfrm>
            <a:off x="5745804" y="1467255"/>
            <a:ext cx="5982511" cy="745787"/>
          </a:xfrm>
          <a:custGeom>
            <a:avLst/>
            <a:gdLst/>
            <a:ahLst/>
            <a:cxnLst/>
            <a:rect l="l" t="t" r="r" b="b"/>
            <a:pathLst>
              <a:path w="5982511" h="745787">
                <a:moveTo>
                  <a:pt x="32427" y="0"/>
                </a:moveTo>
                <a:lnTo>
                  <a:pt x="5950084" y="0"/>
                </a:lnTo>
                <a:cubicBezTo>
                  <a:pt x="5967993" y="0"/>
                  <a:pt x="5982511" y="14518"/>
                  <a:pt x="5982511" y="32427"/>
                </a:cubicBezTo>
                <a:lnTo>
                  <a:pt x="5982511" y="713360"/>
                </a:lnTo>
                <a:cubicBezTo>
                  <a:pt x="5982511" y="731269"/>
                  <a:pt x="5967993" y="745787"/>
                  <a:pt x="5950084" y="745787"/>
                </a:cubicBezTo>
                <a:lnTo>
                  <a:pt x="32427" y="745787"/>
                </a:lnTo>
                <a:cubicBezTo>
                  <a:pt x="14518" y="745787"/>
                  <a:pt x="0" y="731269"/>
                  <a:pt x="0" y="713360"/>
                </a:cubicBezTo>
                <a:lnTo>
                  <a:pt x="0" y="32427"/>
                </a:lnTo>
                <a:cubicBezTo>
                  <a:pt x="0" y="14518"/>
                  <a:pt x="14518" y="0"/>
                  <a:pt x="32427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39"/>
          <p:cNvSpPr/>
          <p:nvPr/>
        </p:nvSpPr>
        <p:spPr>
          <a:xfrm>
            <a:off x="5843081" y="1564532"/>
            <a:ext cx="356681" cy="194553"/>
          </a:xfrm>
          <a:custGeom>
            <a:avLst/>
            <a:gdLst/>
            <a:ahLst/>
            <a:cxnLst/>
            <a:rect l="l" t="t" r="r" b="b"/>
            <a:pathLst>
              <a:path w="356681" h="194553">
                <a:moveTo>
                  <a:pt x="32426" y="0"/>
                </a:moveTo>
                <a:lnTo>
                  <a:pt x="324255" y="0"/>
                </a:lnTo>
                <a:cubicBezTo>
                  <a:pt x="342163" y="0"/>
                  <a:pt x="356681" y="14518"/>
                  <a:pt x="356681" y="32426"/>
                </a:cubicBezTo>
                <a:lnTo>
                  <a:pt x="356681" y="162127"/>
                </a:lnTo>
                <a:cubicBezTo>
                  <a:pt x="356681" y="180035"/>
                  <a:pt x="342163" y="194553"/>
                  <a:pt x="324255" y="194553"/>
                </a:cubicBezTo>
                <a:lnTo>
                  <a:pt x="32426" y="194553"/>
                </a:lnTo>
                <a:cubicBezTo>
                  <a:pt x="14518" y="194553"/>
                  <a:pt x="0" y="180035"/>
                  <a:pt x="0" y="162127"/>
                </a:cubicBezTo>
                <a:lnTo>
                  <a:pt x="0" y="32426"/>
                </a:lnTo>
                <a:cubicBezTo>
                  <a:pt x="0" y="14530"/>
                  <a:pt x="14530" y="0"/>
                  <a:pt x="32426" y="0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/>
          <p:nvPr/>
        </p:nvSpPr>
        <p:spPr>
          <a:xfrm>
            <a:off x="5843081" y="1564532"/>
            <a:ext cx="405319" cy="194553"/>
          </a:xfrm>
          <a:prstGeom prst="rect">
            <a:avLst/>
          </a:prstGeom>
          <a:noFill/>
          <a:ln/>
        </p:spPr>
        <p:txBody>
          <a:bodyPr wrap="square" lIns="64851" tIns="32426" rIns="64851" bIns="32426" rtlCol="0" anchor="ctr"/>
          <a:lstStyle/>
          <a:p>
            <a:pPr>
              <a:lnSpc>
                <a:spcPct val="110000"/>
              </a:lnSpc>
            </a:pPr>
            <a:r>
              <a:rPr lang="en-US" sz="766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M1-6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6261641" y="1564532"/>
            <a:ext cx="721468" cy="1945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1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Foundation</a:t>
            </a:r>
            <a:endParaRPr lang="en-US" sz="1600" dirty="0"/>
          </a:p>
        </p:txBody>
      </p:sp>
      <p:sp>
        <p:nvSpPr>
          <p:cNvPr id="45" name="Text 42"/>
          <p:cNvSpPr/>
          <p:nvPr/>
        </p:nvSpPr>
        <p:spPr>
          <a:xfrm>
            <a:off x="5843081" y="1823936"/>
            <a:ext cx="2926404" cy="129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66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 3 pilot customers</a:t>
            </a:r>
            <a:endParaRPr lang="en-US" sz="1600" dirty="0"/>
          </a:p>
        </p:txBody>
      </p:sp>
      <p:sp>
        <p:nvSpPr>
          <p:cNvPr id="46" name="Text 43"/>
          <p:cNvSpPr/>
          <p:nvPr/>
        </p:nvSpPr>
        <p:spPr>
          <a:xfrm>
            <a:off x="8754083" y="1823936"/>
            <a:ext cx="2926404" cy="129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66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 DNV/Lloyd's MOU</a:t>
            </a:r>
            <a:endParaRPr lang="en-US" sz="1600" dirty="0"/>
          </a:p>
        </p:txBody>
      </p:sp>
      <p:sp>
        <p:nvSpPr>
          <p:cNvPr id="47" name="Text 44"/>
          <p:cNvSpPr/>
          <p:nvPr/>
        </p:nvSpPr>
        <p:spPr>
          <a:xfrm>
            <a:off x="5843081" y="1986064"/>
            <a:ext cx="2926404" cy="129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66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 20-part library</a:t>
            </a:r>
            <a:endParaRPr lang="en-US" sz="1600" dirty="0"/>
          </a:p>
        </p:txBody>
      </p:sp>
      <p:sp>
        <p:nvSpPr>
          <p:cNvPr id="48" name="Text 45"/>
          <p:cNvSpPr/>
          <p:nvPr/>
        </p:nvSpPr>
        <p:spPr>
          <a:xfrm>
            <a:off x="8754083" y="1986064"/>
            <a:ext cx="2926404" cy="129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66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 Platform beta</a:t>
            </a:r>
            <a:endParaRPr lang="en-US" sz="1600" dirty="0"/>
          </a:p>
        </p:txBody>
      </p:sp>
      <p:sp>
        <p:nvSpPr>
          <p:cNvPr id="49" name="Shape 46"/>
          <p:cNvSpPr/>
          <p:nvPr/>
        </p:nvSpPr>
        <p:spPr>
          <a:xfrm>
            <a:off x="5745804" y="2277894"/>
            <a:ext cx="5982511" cy="745787"/>
          </a:xfrm>
          <a:custGeom>
            <a:avLst/>
            <a:gdLst/>
            <a:ahLst/>
            <a:cxnLst/>
            <a:rect l="l" t="t" r="r" b="b"/>
            <a:pathLst>
              <a:path w="5982511" h="745787">
                <a:moveTo>
                  <a:pt x="32427" y="0"/>
                </a:moveTo>
                <a:lnTo>
                  <a:pt x="5950084" y="0"/>
                </a:lnTo>
                <a:cubicBezTo>
                  <a:pt x="5967993" y="0"/>
                  <a:pt x="5982511" y="14518"/>
                  <a:pt x="5982511" y="32427"/>
                </a:cubicBezTo>
                <a:lnTo>
                  <a:pt x="5982511" y="713360"/>
                </a:lnTo>
                <a:cubicBezTo>
                  <a:pt x="5982511" y="731269"/>
                  <a:pt x="5967993" y="745787"/>
                  <a:pt x="5950084" y="745787"/>
                </a:cubicBezTo>
                <a:lnTo>
                  <a:pt x="32427" y="745787"/>
                </a:lnTo>
                <a:cubicBezTo>
                  <a:pt x="14518" y="745787"/>
                  <a:pt x="0" y="731269"/>
                  <a:pt x="0" y="713360"/>
                </a:cubicBezTo>
                <a:lnTo>
                  <a:pt x="0" y="32427"/>
                </a:lnTo>
                <a:cubicBezTo>
                  <a:pt x="0" y="14518"/>
                  <a:pt x="14518" y="0"/>
                  <a:pt x="32427" y="0"/>
                </a:cubicBezTo>
                <a:close/>
              </a:path>
            </a:pathLst>
          </a:custGeom>
          <a:solidFill>
            <a:srgbClr val="8D99AE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47"/>
          <p:cNvSpPr/>
          <p:nvPr/>
        </p:nvSpPr>
        <p:spPr>
          <a:xfrm>
            <a:off x="5843081" y="2375170"/>
            <a:ext cx="397213" cy="194553"/>
          </a:xfrm>
          <a:custGeom>
            <a:avLst/>
            <a:gdLst/>
            <a:ahLst/>
            <a:cxnLst/>
            <a:rect l="l" t="t" r="r" b="b"/>
            <a:pathLst>
              <a:path w="397213" h="194553">
                <a:moveTo>
                  <a:pt x="32426" y="0"/>
                </a:moveTo>
                <a:lnTo>
                  <a:pt x="364787" y="0"/>
                </a:lnTo>
                <a:cubicBezTo>
                  <a:pt x="382695" y="0"/>
                  <a:pt x="397213" y="14518"/>
                  <a:pt x="397213" y="32426"/>
                </a:cubicBezTo>
                <a:lnTo>
                  <a:pt x="397213" y="162127"/>
                </a:lnTo>
                <a:cubicBezTo>
                  <a:pt x="397213" y="180035"/>
                  <a:pt x="382695" y="194553"/>
                  <a:pt x="364787" y="194553"/>
                </a:cubicBezTo>
                <a:lnTo>
                  <a:pt x="32426" y="194553"/>
                </a:lnTo>
                <a:cubicBezTo>
                  <a:pt x="14518" y="194553"/>
                  <a:pt x="0" y="180035"/>
                  <a:pt x="0" y="162127"/>
                </a:cubicBezTo>
                <a:lnTo>
                  <a:pt x="0" y="32426"/>
                </a:lnTo>
                <a:cubicBezTo>
                  <a:pt x="0" y="14530"/>
                  <a:pt x="14530" y="0"/>
                  <a:pt x="32426" y="0"/>
                </a:cubicBezTo>
                <a:close/>
              </a:path>
            </a:pathLst>
          </a:custGeom>
          <a:solidFill>
            <a:srgbClr val="8D99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8"/>
          <p:cNvSpPr/>
          <p:nvPr/>
        </p:nvSpPr>
        <p:spPr>
          <a:xfrm>
            <a:off x="5843081" y="2375170"/>
            <a:ext cx="445851" cy="194553"/>
          </a:xfrm>
          <a:prstGeom prst="rect">
            <a:avLst/>
          </a:prstGeom>
          <a:noFill/>
          <a:ln/>
        </p:spPr>
        <p:txBody>
          <a:bodyPr wrap="square" lIns="64851" tIns="32426" rIns="64851" bIns="32426" rtlCol="0" anchor="ctr"/>
          <a:lstStyle/>
          <a:p>
            <a:pPr>
              <a:lnSpc>
                <a:spcPct val="110000"/>
              </a:lnSpc>
            </a:pPr>
            <a:r>
              <a:rPr lang="en-US" sz="766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M7-12</a:t>
            </a:r>
            <a:endParaRPr lang="en-US" sz="1600" dirty="0"/>
          </a:p>
        </p:txBody>
      </p:sp>
      <p:sp>
        <p:nvSpPr>
          <p:cNvPr id="52" name="Text 49"/>
          <p:cNvSpPr/>
          <p:nvPr/>
        </p:nvSpPr>
        <p:spPr>
          <a:xfrm>
            <a:off x="6304469" y="2375170"/>
            <a:ext cx="656617" cy="1945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1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Validation</a:t>
            </a:r>
            <a:endParaRPr lang="en-US" sz="1600" dirty="0"/>
          </a:p>
        </p:txBody>
      </p:sp>
      <p:sp>
        <p:nvSpPr>
          <p:cNvPr id="53" name="Text 50"/>
          <p:cNvSpPr/>
          <p:nvPr/>
        </p:nvSpPr>
        <p:spPr>
          <a:xfrm>
            <a:off x="5843081" y="2634574"/>
            <a:ext cx="2926404" cy="129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66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 Deploy 3 pilots</a:t>
            </a:r>
            <a:endParaRPr lang="en-US" sz="1600" dirty="0"/>
          </a:p>
        </p:txBody>
      </p:sp>
      <p:sp>
        <p:nvSpPr>
          <p:cNvPr id="54" name="Text 51"/>
          <p:cNvSpPr/>
          <p:nvPr/>
        </p:nvSpPr>
        <p:spPr>
          <a:xfrm>
            <a:off x="8754083" y="2634574"/>
            <a:ext cx="2926404" cy="129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66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 Aerospace cert start</a:t>
            </a:r>
            <a:endParaRPr lang="en-US" sz="1600" dirty="0"/>
          </a:p>
        </p:txBody>
      </p:sp>
      <p:sp>
        <p:nvSpPr>
          <p:cNvPr id="55" name="Text 52"/>
          <p:cNvSpPr/>
          <p:nvPr/>
        </p:nvSpPr>
        <p:spPr>
          <a:xfrm>
            <a:off x="5843081" y="2796702"/>
            <a:ext cx="2926404" cy="129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66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 $500K non-dilutive</a:t>
            </a:r>
            <a:endParaRPr lang="en-US" sz="1600" dirty="0"/>
          </a:p>
        </p:txBody>
      </p:sp>
      <p:sp>
        <p:nvSpPr>
          <p:cNvPr id="56" name="Text 53"/>
          <p:cNvSpPr/>
          <p:nvPr/>
        </p:nvSpPr>
        <p:spPr>
          <a:xfrm>
            <a:off x="8754083" y="2796702"/>
            <a:ext cx="2926404" cy="129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66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 Case study publish</a:t>
            </a:r>
            <a:endParaRPr lang="en-US" sz="1600" dirty="0"/>
          </a:p>
        </p:txBody>
      </p:sp>
      <p:sp>
        <p:nvSpPr>
          <p:cNvPr id="57" name="Shape 54"/>
          <p:cNvSpPr/>
          <p:nvPr/>
        </p:nvSpPr>
        <p:spPr>
          <a:xfrm>
            <a:off x="5745804" y="3088532"/>
            <a:ext cx="5982511" cy="745787"/>
          </a:xfrm>
          <a:custGeom>
            <a:avLst/>
            <a:gdLst/>
            <a:ahLst/>
            <a:cxnLst/>
            <a:rect l="l" t="t" r="r" b="b"/>
            <a:pathLst>
              <a:path w="5982511" h="745787">
                <a:moveTo>
                  <a:pt x="32427" y="0"/>
                </a:moveTo>
                <a:lnTo>
                  <a:pt x="5950084" y="0"/>
                </a:lnTo>
                <a:cubicBezTo>
                  <a:pt x="5967993" y="0"/>
                  <a:pt x="5982511" y="14518"/>
                  <a:pt x="5982511" y="32427"/>
                </a:cubicBezTo>
                <a:lnTo>
                  <a:pt x="5982511" y="713360"/>
                </a:lnTo>
                <a:cubicBezTo>
                  <a:pt x="5982511" y="731269"/>
                  <a:pt x="5967993" y="745787"/>
                  <a:pt x="5950084" y="745787"/>
                </a:cubicBezTo>
                <a:lnTo>
                  <a:pt x="32427" y="745787"/>
                </a:lnTo>
                <a:cubicBezTo>
                  <a:pt x="14518" y="745787"/>
                  <a:pt x="0" y="731269"/>
                  <a:pt x="0" y="713360"/>
                </a:cubicBezTo>
                <a:lnTo>
                  <a:pt x="0" y="32427"/>
                </a:lnTo>
                <a:cubicBezTo>
                  <a:pt x="0" y="14518"/>
                  <a:pt x="14518" y="0"/>
                  <a:pt x="32427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Shape 55"/>
          <p:cNvSpPr/>
          <p:nvPr/>
        </p:nvSpPr>
        <p:spPr>
          <a:xfrm>
            <a:off x="5843081" y="3185809"/>
            <a:ext cx="445851" cy="194553"/>
          </a:xfrm>
          <a:custGeom>
            <a:avLst/>
            <a:gdLst/>
            <a:ahLst/>
            <a:cxnLst/>
            <a:rect l="l" t="t" r="r" b="b"/>
            <a:pathLst>
              <a:path w="445851" h="194553">
                <a:moveTo>
                  <a:pt x="32426" y="0"/>
                </a:moveTo>
                <a:lnTo>
                  <a:pt x="413425" y="0"/>
                </a:lnTo>
                <a:cubicBezTo>
                  <a:pt x="431333" y="0"/>
                  <a:pt x="445851" y="14518"/>
                  <a:pt x="445851" y="32426"/>
                </a:cubicBezTo>
                <a:lnTo>
                  <a:pt x="445851" y="162127"/>
                </a:lnTo>
                <a:cubicBezTo>
                  <a:pt x="445851" y="180035"/>
                  <a:pt x="431333" y="194553"/>
                  <a:pt x="413425" y="194553"/>
                </a:cubicBezTo>
                <a:lnTo>
                  <a:pt x="32426" y="194553"/>
                </a:lnTo>
                <a:cubicBezTo>
                  <a:pt x="14518" y="194553"/>
                  <a:pt x="0" y="180035"/>
                  <a:pt x="0" y="162127"/>
                </a:cubicBezTo>
                <a:lnTo>
                  <a:pt x="0" y="32426"/>
                </a:lnTo>
                <a:cubicBezTo>
                  <a:pt x="0" y="14530"/>
                  <a:pt x="14530" y="0"/>
                  <a:pt x="32426" y="0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6"/>
          <p:cNvSpPr/>
          <p:nvPr/>
        </p:nvSpPr>
        <p:spPr>
          <a:xfrm>
            <a:off x="5843081" y="3185809"/>
            <a:ext cx="494489" cy="194553"/>
          </a:xfrm>
          <a:prstGeom prst="rect">
            <a:avLst/>
          </a:prstGeom>
          <a:noFill/>
          <a:ln/>
        </p:spPr>
        <p:txBody>
          <a:bodyPr wrap="square" lIns="64851" tIns="32426" rIns="64851" bIns="32426" rtlCol="0" anchor="ctr"/>
          <a:lstStyle/>
          <a:p>
            <a:pPr>
              <a:lnSpc>
                <a:spcPct val="110000"/>
              </a:lnSpc>
            </a:pPr>
            <a:r>
              <a:rPr lang="en-US" sz="766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M13-18</a:t>
            </a:r>
            <a:endParaRPr lang="en-US" sz="1600" dirty="0"/>
          </a:p>
        </p:txBody>
      </p:sp>
      <p:sp>
        <p:nvSpPr>
          <p:cNvPr id="60" name="Text 57"/>
          <p:cNvSpPr/>
          <p:nvPr/>
        </p:nvSpPr>
        <p:spPr>
          <a:xfrm>
            <a:off x="6350270" y="3185809"/>
            <a:ext cx="381000" cy="1945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1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Scale</a:t>
            </a:r>
            <a:endParaRPr lang="en-US" sz="1600" dirty="0"/>
          </a:p>
        </p:txBody>
      </p:sp>
      <p:sp>
        <p:nvSpPr>
          <p:cNvPr id="61" name="Text 58"/>
          <p:cNvSpPr/>
          <p:nvPr/>
        </p:nvSpPr>
        <p:spPr>
          <a:xfrm>
            <a:off x="5843081" y="3445213"/>
            <a:ext cx="2926404" cy="129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66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 10 customers</a:t>
            </a:r>
            <a:endParaRPr lang="en-US" sz="1600" dirty="0"/>
          </a:p>
        </p:txBody>
      </p:sp>
      <p:sp>
        <p:nvSpPr>
          <p:cNvPr id="62" name="Text 59"/>
          <p:cNvSpPr/>
          <p:nvPr/>
        </p:nvSpPr>
        <p:spPr>
          <a:xfrm>
            <a:off x="8754083" y="3445213"/>
            <a:ext cx="2926404" cy="129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66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 First aerospace cert</a:t>
            </a:r>
            <a:endParaRPr lang="en-US" sz="1600" dirty="0"/>
          </a:p>
        </p:txBody>
      </p:sp>
      <p:sp>
        <p:nvSpPr>
          <p:cNvPr id="63" name="Text 60"/>
          <p:cNvSpPr/>
          <p:nvPr/>
        </p:nvSpPr>
        <p:spPr>
          <a:xfrm>
            <a:off x="5843081" y="3607340"/>
            <a:ext cx="2926404" cy="129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66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 Equinor/Exxon LOI</a:t>
            </a:r>
            <a:endParaRPr lang="en-US" sz="1600" dirty="0"/>
          </a:p>
        </p:txBody>
      </p:sp>
      <p:sp>
        <p:nvSpPr>
          <p:cNvPr id="64" name="Text 61"/>
          <p:cNvSpPr/>
          <p:nvPr/>
        </p:nvSpPr>
        <p:spPr>
          <a:xfrm>
            <a:off x="8754083" y="3607340"/>
            <a:ext cx="2926404" cy="129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66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 $2M ARR, Series A</a:t>
            </a:r>
            <a:endParaRPr lang="en-US" sz="1600" dirty="0"/>
          </a:p>
        </p:txBody>
      </p:sp>
      <p:sp>
        <p:nvSpPr>
          <p:cNvPr id="65" name="Shape 62"/>
          <p:cNvSpPr/>
          <p:nvPr/>
        </p:nvSpPr>
        <p:spPr>
          <a:xfrm>
            <a:off x="5612049" y="4105883"/>
            <a:ext cx="6250021" cy="1596957"/>
          </a:xfrm>
          <a:custGeom>
            <a:avLst/>
            <a:gdLst/>
            <a:ahLst/>
            <a:cxnLst/>
            <a:rect l="l" t="t" r="r" b="b"/>
            <a:pathLst>
              <a:path w="6250021" h="1596957">
                <a:moveTo>
                  <a:pt x="64852" y="0"/>
                </a:moveTo>
                <a:lnTo>
                  <a:pt x="6185169" y="0"/>
                </a:lnTo>
                <a:cubicBezTo>
                  <a:pt x="6220986" y="0"/>
                  <a:pt x="6250021" y="29035"/>
                  <a:pt x="6250021" y="64852"/>
                </a:cubicBezTo>
                <a:lnTo>
                  <a:pt x="6250021" y="1532105"/>
                </a:lnTo>
                <a:cubicBezTo>
                  <a:pt x="6250021" y="1567922"/>
                  <a:pt x="6220986" y="1596957"/>
                  <a:pt x="6185169" y="1596957"/>
                </a:cubicBezTo>
                <a:lnTo>
                  <a:pt x="64852" y="1596957"/>
                </a:lnTo>
                <a:cubicBezTo>
                  <a:pt x="29035" y="1596957"/>
                  <a:pt x="0" y="1567922"/>
                  <a:pt x="0" y="1532105"/>
                </a:cubicBezTo>
                <a:lnTo>
                  <a:pt x="0" y="64852"/>
                </a:lnTo>
                <a:cubicBezTo>
                  <a:pt x="0" y="29059"/>
                  <a:pt x="29059" y="0"/>
                  <a:pt x="64852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C8C">
                  <a:alpha val="30000"/>
                </a:srgbClr>
              </a:gs>
              <a:gs pos="100000">
                <a:srgbClr val="E07A5F">
                  <a:alpha val="30000"/>
                </a:srgbClr>
              </a:gs>
            </a:gsLst>
            <a:lin ang="0" scaled="1"/>
          </a:gradFill>
          <a:ln w="12700">
            <a:solidFill>
              <a:srgbClr val="4A6C8C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3"/>
          <p:cNvSpPr/>
          <p:nvPr/>
        </p:nvSpPr>
        <p:spPr>
          <a:xfrm>
            <a:off x="5745804" y="4239638"/>
            <a:ext cx="6055468" cy="226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9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 Have / We Need</a:t>
            </a:r>
            <a:endParaRPr lang="en-US" sz="1600" dirty="0"/>
          </a:p>
        </p:txBody>
      </p:sp>
      <p:sp>
        <p:nvSpPr>
          <p:cNvPr id="67" name="Text 64"/>
          <p:cNvSpPr/>
          <p:nvPr/>
        </p:nvSpPr>
        <p:spPr>
          <a:xfrm>
            <a:off x="5745804" y="4563894"/>
            <a:ext cx="2983149" cy="162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4" b="1" dirty="0">
                <a:solidFill>
                  <a:srgbClr val="4A6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 HAVE:</a:t>
            </a:r>
            <a:endParaRPr lang="en-US" sz="1600" dirty="0"/>
          </a:p>
        </p:txBody>
      </p:sp>
      <p:sp>
        <p:nvSpPr>
          <p:cNvPr id="68" name="Text 65"/>
          <p:cNvSpPr/>
          <p:nvPr/>
        </p:nvSpPr>
        <p:spPr>
          <a:xfrm>
            <a:off x="5745804" y="4790872"/>
            <a:ext cx="2975043" cy="129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66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 Validated pain ($4.5B, $88M)</a:t>
            </a:r>
            <a:endParaRPr lang="en-US" sz="1600" dirty="0"/>
          </a:p>
        </p:txBody>
      </p:sp>
      <p:sp>
        <p:nvSpPr>
          <p:cNvPr id="69" name="Text 66"/>
          <p:cNvSpPr/>
          <p:nvPr/>
        </p:nvSpPr>
        <p:spPr>
          <a:xfrm>
            <a:off x="5745804" y="4953000"/>
            <a:ext cx="2975043" cy="129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66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 Proven solution (Equinor/Siemens)</a:t>
            </a:r>
            <a:endParaRPr lang="en-US" sz="1600" dirty="0"/>
          </a:p>
        </p:txBody>
      </p:sp>
      <p:sp>
        <p:nvSpPr>
          <p:cNvPr id="70" name="Text 67"/>
          <p:cNvSpPr/>
          <p:nvPr/>
        </p:nvSpPr>
        <p:spPr>
          <a:xfrm>
            <a:off x="5745804" y="5115128"/>
            <a:ext cx="2975043" cy="129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66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 Identified barrier (certification)</a:t>
            </a:r>
            <a:endParaRPr lang="en-US" sz="1600" dirty="0"/>
          </a:p>
        </p:txBody>
      </p:sp>
      <p:sp>
        <p:nvSpPr>
          <p:cNvPr id="71" name="Text 68"/>
          <p:cNvSpPr/>
          <p:nvPr/>
        </p:nvSpPr>
        <p:spPr>
          <a:xfrm>
            <a:off x="5745804" y="5277255"/>
            <a:ext cx="2975043" cy="129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66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 Warm intros (Equinor, ExxonMobil)</a:t>
            </a:r>
            <a:endParaRPr lang="en-US" sz="1600" dirty="0"/>
          </a:p>
        </p:txBody>
      </p:sp>
      <p:sp>
        <p:nvSpPr>
          <p:cNvPr id="72" name="Text 69"/>
          <p:cNvSpPr/>
          <p:nvPr/>
        </p:nvSpPr>
        <p:spPr>
          <a:xfrm>
            <a:off x="5745804" y="5439383"/>
            <a:ext cx="2975043" cy="129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66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 De-risked beachhead (Arctic)</a:t>
            </a:r>
            <a:endParaRPr lang="en-US" sz="1600" dirty="0"/>
          </a:p>
        </p:txBody>
      </p:sp>
      <p:sp>
        <p:nvSpPr>
          <p:cNvPr id="73" name="Text 70"/>
          <p:cNvSpPr/>
          <p:nvPr/>
        </p:nvSpPr>
        <p:spPr>
          <a:xfrm>
            <a:off x="8802721" y="4563894"/>
            <a:ext cx="2983149" cy="162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4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 NEED:</a:t>
            </a:r>
            <a:endParaRPr lang="en-US" sz="1600" dirty="0"/>
          </a:p>
        </p:txBody>
      </p:sp>
      <p:sp>
        <p:nvSpPr>
          <p:cNvPr id="74" name="Text 71"/>
          <p:cNvSpPr/>
          <p:nvPr/>
        </p:nvSpPr>
        <p:spPr>
          <a:xfrm>
            <a:off x="8802721" y="4790872"/>
            <a:ext cx="2975043" cy="129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66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⏳ $2M to execute 18-month plan</a:t>
            </a:r>
            <a:endParaRPr lang="en-US" sz="1600" dirty="0"/>
          </a:p>
        </p:txBody>
      </p:sp>
      <p:sp>
        <p:nvSpPr>
          <p:cNvPr id="75" name="Text 72"/>
          <p:cNvSpPr/>
          <p:nvPr/>
        </p:nvSpPr>
        <p:spPr>
          <a:xfrm>
            <a:off x="8802721" y="4953000"/>
            <a:ext cx="2975043" cy="129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66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⏳ Strategic investors (O&amp;G/defense)</a:t>
            </a:r>
            <a:endParaRPr lang="en-US" sz="1600" dirty="0"/>
          </a:p>
        </p:txBody>
      </p:sp>
      <p:sp>
        <p:nvSpPr>
          <p:cNvPr id="76" name="Text 73"/>
          <p:cNvSpPr/>
          <p:nvPr/>
        </p:nvSpPr>
        <p:spPr>
          <a:xfrm>
            <a:off x="8802721" y="5115128"/>
            <a:ext cx="2975043" cy="129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66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⏳ Non-dilutive partners (ERINL, NGen)</a:t>
            </a:r>
            <a:endParaRPr lang="en-US" sz="1600" dirty="0"/>
          </a:p>
        </p:txBody>
      </p:sp>
      <p:sp>
        <p:nvSpPr>
          <p:cNvPr id="77" name="Shape 74"/>
          <p:cNvSpPr/>
          <p:nvPr/>
        </p:nvSpPr>
        <p:spPr>
          <a:xfrm>
            <a:off x="328309" y="5840649"/>
            <a:ext cx="11535383" cy="689043"/>
          </a:xfrm>
          <a:custGeom>
            <a:avLst/>
            <a:gdLst/>
            <a:ahLst/>
            <a:cxnLst/>
            <a:rect l="l" t="t" r="r" b="b"/>
            <a:pathLst>
              <a:path w="11535383" h="689043">
                <a:moveTo>
                  <a:pt x="64853" y="0"/>
                </a:moveTo>
                <a:lnTo>
                  <a:pt x="11470530" y="0"/>
                </a:lnTo>
                <a:cubicBezTo>
                  <a:pt x="11506347" y="0"/>
                  <a:pt x="11535383" y="29036"/>
                  <a:pt x="11535383" y="64853"/>
                </a:cubicBezTo>
                <a:lnTo>
                  <a:pt x="11535383" y="624190"/>
                </a:lnTo>
                <a:cubicBezTo>
                  <a:pt x="11535383" y="660007"/>
                  <a:pt x="11506347" y="689043"/>
                  <a:pt x="11470530" y="689043"/>
                </a:cubicBezTo>
                <a:lnTo>
                  <a:pt x="64853" y="689043"/>
                </a:lnTo>
                <a:cubicBezTo>
                  <a:pt x="29036" y="689043"/>
                  <a:pt x="0" y="660007"/>
                  <a:pt x="0" y="624190"/>
                </a:cubicBezTo>
                <a:lnTo>
                  <a:pt x="0" y="64853"/>
                </a:lnTo>
                <a:cubicBezTo>
                  <a:pt x="0" y="29036"/>
                  <a:pt x="29036" y="0"/>
                  <a:pt x="64853" y="0"/>
                </a:cubicBezTo>
                <a:close/>
              </a:path>
            </a:pathLst>
          </a:custGeom>
          <a:solidFill>
            <a:srgbClr val="2B2D42">
              <a:alpha val="60000"/>
            </a:srgbClr>
          </a:solidFill>
          <a:ln w="12700">
            <a:solidFill>
              <a:srgbClr val="4A6C8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75"/>
          <p:cNvSpPr/>
          <p:nvPr/>
        </p:nvSpPr>
        <p:spPr>
          <a:xfrm>
            <a:off x="429638" y="5941979"/>
            <a:ext cx="3048000" cy="162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4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Contact</a:t>
            </a:r>
            <a:endParaRPr lang="en-US" sz="1600" dirty="0"/>
          </a:p>
        </p:txBody>
      </p:sp>
      <p:sp>
        <p:nvSpPr>
          <p:cNvPr id="79" name="Text 76"/>
          <p:cNvSpPr/>
          <p:nvPr/>
        </p:nvSpPr>
        <p:spPr>
          <a:xfrm>
            <a:off x="429637" y="6104106"/>
            <a:ext cx="3376309" cy="202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1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Alireza Vahedi Nemani, CEO • Mahmoud Kiasari, Researcher</a:t>
            </a:r>
            <a:endParaRPr lang="en-US" sz="1600" dirty="0"/>
          </a:p>
        </p:txBody>
      </p:sp>
      <p:sp>
        <p:nvSpPr>
          <p:cNvPr id="80" name="Text 77"/>
          <p:cNvSpPr/>
          <p:nvPr/>
        </p:nvSpPr>
        <p:spPr>
          <a:xfrm>
            <a:off x="429638" y="6298660"/>
            <a:ext cx="3039894" cy="129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66" dirty="0">
                <a:solidFill>
                  <a:srgbClr val="4A6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Alma-Tech Inc. • Dalhousie University</a:t>
            </a:r>
            <a:endParaRPr lang="en-US" sz="1600" dirty="0"/>
          </a:p>
        </p:txBody>
      </p:sp>
      <p:sp>
        <p:nvSpPr>
          <p:cNvPr id="81" name="Text 78"/>
          <p:cNvSpPr/>
          <p:nvPr/>
        </p:nvSpPr>
        <p:spPr>
          <a:xfrm>
            <a:off x="11156950" y="5990617"/>
            <a:ext cx="607979" cy="2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1532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$2M</a:t>
            </a:r>
            <a:endParaRPr lang="en-US" sz="1600" dirty="0"/>
          </a:p>
        </p:txBody>
      </p:sp>
      <p:sp>
        <p:nvSpPr>
          <p:cNvPr id="82" name="Text 79"/>
          <p:cNvSpPr/>
          <p:nvPr/>
        </p:nvSpPr>
        <p:spPr>
          <a:xfrm>
            <a:off x="11205588" y="6250021"/>
            <a:ext cx="559340" cy="129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766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Seed Round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1956</Words>
  <Application>Microsoft Macintosh PowerPoint</Application>
  <PresentationFormat>Widescreen</PresentationFormat>
  <Paragraphs>408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Quattrocento Sans</vt:lpstr>
      <vt:lpstr>微软雅黑</vt:lpstr>
      <vt:lpstr>Liter</vt:lpstr>
      <vt:lpstr>Arial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Alma-Tech: Ending the War on Inventory</dc:title>
  <dc:subject>Alma-Tech: Ending the War on Inventory</dc:subject>
  <dc:creator>Kimi</dc:creator>
  <cp:lastModifiedBy>Mahmoud Kiasari</cp:lastModifiedBy>
  <cp:revision>3</cp:revision>
  <dcterms:created xsi:type="dcterms:W3CDTF">2026-02-18T00:25:59Z</dcterms:created>
  <dcterms:modified xsi:type="dcterms:W3CDTF">2026-02-18T11:06:54Z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{"Label":"Alma-Tech: Ending the War on Inventory","ContentProducer":"001191110108MACG2KBH8F10000","ProduceID":"19c6e20f-a7c2-881e-8000-000061023f39","ReservedCode1":"","ContentPropagator":"001191110108MACG2KBH8F20000","PropagateID":"19c6e20f-a7c2-881e-8000-000061023f39","ReservedCode2":""}</vt:lpwstr>
  </property>
</Properties>
</file>